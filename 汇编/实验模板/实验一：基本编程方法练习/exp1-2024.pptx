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24"/>
  </p:notesMasterIdLst>
  <p:handoutMasterIdLst>
    <p:handoutMasterId r:id="rId25"/>
  </p:handoutMasterIdLst>
  <p:sldIdLst>
    <p:sldId id="350" r:id="rId5"/>
    <p:sldId id="533" r:id="rId6"/>
    <p:sldId id="534" r:id="rId7"/>
    <p:sldId id="535" r:id="rId8"/>
    <p:sldId id="536" r:id="rId9"/>
    <p:sldId id="537" r:id="rId10"/>
    <p:sldId id="538" r:id="rId11"/>
    <p:sldId id="438" r:id="rId12"/>
    <p:sldId id="547" r:id="rId13"/>
    <p:sldId id="558" r:id="rId14"/>
    <p:sldId id="559" r:id="rId15"/>
    <p:sldId id="560" r:id="rId16"/>
    <p:sldId id="561" r:id="rId17"/>
    <p:sldId id="562" r:id="rId18"/>
    <p:sldId id="563" r:id="rId19"/>
    <p:sldId id="564" r:id="rId20"/>
    <p:sldId id="565" r:id="rId21"/>
    <p:sldId id="566" r:id="rId22"/>
    <p:sldId id="376" r:id="rId23"/>
  </p:sldIdLst>
  <p:sldSz cx="9144000" cy="6858000" type="screen4x3"/>
  <p:notesSz cx="6858000" cy="9144000"/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作者" initials="A" lastIdx="0" clrIdx="2"/>
  <p:cmAuthor id="4" name="Shu Gavin" initials="SG" lastIdx="1" clrIdx="3">
    <p:extLst>
      <p:ext uri="{19B8F6BF-5375-455C-9EA6-DF929625EA0E}">
        <p15:presenceInfo xmlns:p15="http://schemas.microsoft.com/office/powerpoint/2012/main" userId="4a08d0a9c143c99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2EFC"/>
    <a:srgbClr val="7BA654"/>
    <a:srgbClr val="B0D8DE"/>
    <a:srgbClr val="FF6600"/>
    <a:srgbClr val="E5EDDD"/>
    <a:srgbClr val="A9D4DB"/>
    <a:srgbClr val="7CA655"/>
    <a:srgbClr val="DDEEF1"/>
    <a:srgbClr val="4495A2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中度样式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EB344D84-9AFB-497E-A393-DC336BA19D2E}" styleName="中度样式 3 - 强调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92" autoAdjust="0"/>
    <p:restoredTop sz="96357" autoAdjust="0"/>
  </p:normalViewPr>
  <p:slideViewPr>
    <p:cSldViewPr snapToGrid="0">
      <p:cViewPr varScale="1">
        <p:scale>
          <a:sx n="82" d="100"/>
          <a:sy n="82" d="100"/>
        </p:scale>
        <p:origin x="1326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-23070"/>
    </p:cViewPr>
  </p:sorterViewPr>
  <p:notesViewPr>
    <p:cSldViewPr snapToGrid="0" showGuides="1">
      <p:cViewPr varScale="1">
        <p:scale>
          <a:sx n="96" d="100"/>
          <a:sy n="96" d="100"/>
        </p:scale>
        <p:origin x="289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395B66E5-15AA-4745-8A67-3CE257BEE39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C844A45-21B3-834A-A491-E4E4B9DC117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C039FDB-18A0-074D-8BA3-A4C3DE896AF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E6D13E5-4CEC-3A4A-8E5D-AFCEE7512EEC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‹#›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  <p:hf sldNum="0"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BAF33185-96C5-40F1-AF05-4E87E69D6235}" type="datetime5">
              <a:rPr lang="zh-CN" altLang="en-US" smtClean="0"/>
              <a:t>2024/10/23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A89C7E07-3C67-C64C-8DA0-0404F6303970}" type="slidenum">
              <a:rPr lang="en-US" altLang="zh-CN" smtClean="0"/>
              <a:pPr/>
              <a:t>‹#›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hf sldNum="0"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3FB62A3-876D-4AE7-92FC-7D715007F8A6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1AA22C1-D23F-4E95-A23F-136BBD4E416C}" type="datetime5">
              <a:rPr lang="zh-CN" altLang="en-US" smtClean="0"/>
              <a:t>2024/10/23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316277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07AB451-45A0-4F59-B3F9-54C05A606B1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49F0C89-AC6F-443F-BB03-0D7E33082A28}" type="datetime5">
              <a:rPr lang="zh-CN" altLang="en-US" smtClean="0"/>
              <a:t>2024/10/23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559569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07AB451-45A0-4F59-B3F9-54C05A606B1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49F0C89-AC6F-443F-BB03-0D7E33082A28}" type="datetime5">
              <a:rPr lang="zh-CN" altLang="en-US" smtClean="0"/>
              <a:t>2024/10/23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556297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07AB451-45A0-4F59-B3F9-54C05A606B1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49F0C89-AC6F-443F-BB03-0D7E33082A28}" type="datetime5">
              <a:rPr lang="zh-CN" altLang="en-US" smtClean="0"/>
              <a:t>2024/10/23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22445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07AB451-45A0-4F59-B3F9-54C05A606B1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49F0C89-AC6F-443F-BB03-0D7E33082A28}" type="datetime5">
              <a:rPr lang="zh-CN" altLang="en-US" smtClean="0"/>
              <a:t>2024/10/23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658565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07AB451-45A0-4F59-B3F9-54C05A606B1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49F0C89-AC6F-443F-BB03-0D7E33082A28}" type="datetime5">
              <a:rPr lang="zh-CN" altLang="en-US" smtClean="0"/>
              <a:t>2024/10/23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855338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07AB451-45A0-4F59-B3F9-54C05A606B1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49F0C89-AC6F-443F-BB03-0D7E33082A28}" type="datetime5">
              <a:rPr lang="zh-CN" altLang="en-US" smtClean="0"/>
              <a:t>2024/10/23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433017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07AB451-45A0-4F59-B3F9-54C05A606B1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49F0C89-AC6F-443F-BB03-0D7E33082A28}" type="datetime5">
              <a:rPr lang="zh-CN" altLang="en-US" smtClean="0"/>
              <a:t>2024/10/23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836150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07AB451-45A0-4F59-B3F9-54C05A606B1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49F0C89-AC6F-443F-BB03-0D7E33082A28}" type="datetime5">
              <a:rPr lang="zh-CN" altLang="en-US" smtClean="0"/>
              <a:t>2024/10/23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676231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07AB451-45A0-4F59-B3F9-54C05A606B1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49F0C89-AC6F-443F-BB03-0D7E33082A28}" type="datetime5">
              <a:rPr lang="zh-CN" altLang="en-US" smtClean="0"/>
              <a:t>2024/10/23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365328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07AB451-45A0-4F59-B3F9-54C05A606B1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49F0C89-AC6F-443F-BB03-0D7E33082A28}" type="datetime5">
              <a:rPr lang="zh-CN" altLang="en-US" smtClean="0"/>
              <a:t>2024/10/23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413484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07AB451-45A0-4F59-B3F9-54C05A606B1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49F0C89-AC6F-443F-BB03-0D7E33082A28}" type="datetime5">
              <a:rPr lang="zh-CN" altLang="en-US" smtClean="0"/>
              <a:t>2024/10/23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874942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07AB451-45A0-4F59-B3F9-54C05A606B1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49F0C89-AC6F-443F-BB03-0D7E33082A28}" type="datetime5">
              <a:rPr lang="zh-CN" altLang="en-US" smtClean="0"/>
              <a:t>2024/10/23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170046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07AB451-45A0-4F59-B3F9-54C05A606B1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49F0C89-AC6F-443F-BB03-0D7E33082A28}" type="datetime5">
              <a:rPr lang="zh-CN" altLang="en-US" smtClean="0"/>
              <a:t>2024/10/23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580752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07AB451-45A0-4F59-B3F9-54C05A606B1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49F0C89-AC6F-443F-BB03-0D7E33082A28}" type="datetime5">
              <a:rPr lang="zh-CN" altLang="en-US" smtClean="0"/>
              <a:t>2024/10/23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540125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07AB451-45A0-4F59-B3F9-54C05A606B1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49F0C89-AC6F-443F-BB03-0D7E33082A28}" type="datetime5">
              <a:rPr lang="zh-CN" altLang="en-US" smtClean="0"/>
              <a:t>2024/10/23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474886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07AB451-45A0-4F59-B3F9-54C05A606B1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49F0C89-AC6F-443F-BB03-0D7E33082A28}" type="datetime5">
              <a:rPr lang="zh-CN" altLang="en-US" smtClean="0"/>
              <a:t>2024/10/23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57332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07AB451-45A0-4F59-B3F9-54C05A606B1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49F0C89-AC6F-443F-BB03-0D7E33082A28}" type="datetime5">
              <a:rPr lang="zh-CN" altLang="en-US" smtClean="0"/>
              <a:t>2024/10/23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4381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2209A11-7F86-431F-912B-610647EA1CBC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A1DF1DE0-D9F3-4E20-9572-F488B7E02BD5}" type="datetime5">
              <a:rPr lang="zh-CN" altLang="en-US" smtClean="0"/>
              <a:t>2024/10/23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760783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8801" y="1088968"/>
            <a:ext cx="7030376" cy="1704244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defRPr sz="6000" b="1" i="0" spc="100" baseline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 dirty="0"/>
              <a:t>单击此处编辑母版标题样式</a:t>
            </a:r>
          </a:p>
        </p:txBody>
      </p:sp>
      <p:grpSp>
        <p:nvGrpSpPr>
          <p:cNvPr id="9" name="组 8">
            <a:extLst>
              <a:ext uri="{FF2B5EF4-FFF2-40B4-BE49-F238E27FC236}">
                <a16:creationId xmlns:a16="http://schemas.microsoft.com/office/drawing/2014/main" id="{C26C18C3-ED25-DD4B-BA72-24932D54DE37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1844110"/>
            <a:ext cx="5630788" cy="5013890"/>
            <a:chOff x="0" y="12289"/>
            <a:chExt cx="3550" cy="3551"/>
          </a:xfrm>
        </p:grpSpPr>
        <p:sp>
          <p:nvSpPr>
            <p:cNvPr id="10" name="任意多边形(F)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zh-CN" altLang="en-US" sz="1800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1" name="任意多边形(F)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zh-CN" altLang="en-US" sz="1800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2" name="任意多边形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zh-CN" altLang="en-US" sz="1800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sp>
        <p:nvSpPr>
          <p:cNvPr id="18" name="文本占位符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43413" y="3528585"/>
            <a:ext cx="4118678" cy="953337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800" b="0" i="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zh-CN" altLang="en-US" noProof="0" dirty="0"/>
              <a:t>单击此处编辑母版文本样式</a:t>
            </a:r>
          </a:p>
        </p:txBody>
      </p:sp>
      <p:cxnSp>
        <p:nvCxnSpPr>
          <p:cNvPr id="13" name="直接连接符​​(S) 12">
            <a:extLst>
              <a:ext uri="{FF2B5EF4-FFF2-40B4-BE49-F238E27FC236}">
                <a16:creationId xmlns:a16="http://schemas.microsoft.com/office/drawing/2014/main" id="{A69706A2-3726-FE4E-B923-E75D48597816}"/>
              </a:ext>
            </a:extLst>
          </p:cNvPr>
          <p:cNvCxnSpPr>
            <a:cxnSpLocks/>
          </p:cNvCxnSpPr>
          <p:nvPr userDrawn="1"/>
        </p:nvCxnSpPr>
        <p:spPr>
          <a:xfrm>
            <a:off x="4343413" y="3166971"/>
            <a:ext cx="16002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51D32C69-3D6C-4A0A-82A5-5A51E1B2243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duotone>
              <a:prstClr val="black"/>
              <a:srgbClr val="4495A2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060" y="80112"/>
            <a:ext cx="2266950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摘要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标题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018" y="879072"/>
            <a:ext cx="6982880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 dirty="0"/>
              <a:t>单击此处编辑母版标题样式</a:t>
            </a:r>
          </a:p>
        </p:txBody>
      </p:sp>
      <p:cxnSp>
        <p:nvCxnSpPr>
          <p:cNvPr id="33" name="直接连接符​​(S)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714375" y="1749799"/>
            <a:ext cx="16002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F85D552-3AFC-4D21-A944-9D41E128A96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69897" y="2286009"/>
            <a:ext cx="3629025" cy="389820"/>
          </a:xfrm>
        </p:spPr>
        <p:txBody>
          <a:bodyPr rtlCol="0">
            <a:noAutofit/>
          </a:bodyPr>
          <a:lstStyle>
            <a:lvl1pPr>
              <a:buNone/>
              <a:defRPr sz="2400" b="1" spc="0" baseline="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zh-CN" altLang="en-US" noProof="0" dirty="0"/>
              <a:t>单击以编辑</a:t>
            </a:r>
          </a:p>
        </p:txBody>
      </p:sp>
      <p:sp>
        <p:nvSpPr>
          <p:cNvPr id="22" name="文本占位符 3">
            <a:extLst>
              <a:ext uri="{FF2B5EF4-FFF2-40B4-BE49-F238E27FC236}">
                <a16:creationId xmlns:a16="http://schemas.microsoft.com/office/drawing/2014/main" id="{EE50320A-D017-45C6-9986-94BC43911E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70761" y="2789842"/>
            <a:ext cx="3629025" cy="389820"/>
          </a:xfrm>
        </p:spPr>
        <p:txBody>
          <a:bodyPr rtlCol="0">
            <a:noAutofit/>
          </a:bodyPr>
          <a:lstStyle>
            <a:lvl1pPr>
              <a:buNone/>
              <a:defRPr sz="2400" b="1" spc="0" baseline="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zh-CN" altLang="en-US" noProof="0" dirty="0"/>
              <a:t>单击以编辑</a:t>
            </a:r>
          </a:p>
        </p:txBody>
      </p:sp>
      <p:sp>
        <p:nvSpPr>
          <p:cNvPr id="24" name="文本占位符 3">
            <a:extLst>
              <a:ext uri="{FF2B5EF4-FFF2-40B4-BE49-F238E27FC236}">
                <a16:creationId xmlns:a16="http://schemas.microsoft.com/office/drawing/2014/main" id="{1F528150-326B-4BB3-AC38-7FC805DB6BA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969897" y="4273620"/>
            <a:ext cx="3629025" cy="389820"/>
          </a:xfrm>
        </p:spPr>
        <p:txBody>
          <a:bodyPr rtlCol="0">
            <a:noAutofit/>
          </a:bodyPr>
          <a:lstStyle>
            <a:lvl1pPr>
              <a:buNone/>
              <a:defRPr sz="2400" b="1" spc="0" baseline="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zh-CN" altLang="en-US" noProof="0" dirty="0"/>
              <a:t>单击以编辑</a:t>
            </a:r>
          </a:p>
        </p:txBody>
      </p:sp>
      <p:sp>
        <p:nvSpPr>
          <p:cNvPr id="26" name="文本占位符 3">
            <a:extLst>
              <a:ext uri="{FF2B5EF4-FFF2-40B4-BE49-F238E27FC236}">
                <a16:creationId xmlns:a16="http://schemas.microsoft.com/office/drawing/2014/main" id="{29E4D063-8666-4D7A-B8C8-2B9383F798E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969895" y="3265954"/>
            <a:ext cx="3629025" cy="389820"/>
          </a:xfrm>
        </p:spPr>
        <p:txBody>
          <a:bodyPr rtlCol="0">
            <a:noAutofit/>
          </a:bodyPr>
          <a:lstStyle>
            <a:lvl1pPr>
              <a:buNone/>
              <a:defRPr sz="2400" b="1" spc="0" baseline="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zh-CN" altLang="en-US" noProof="0" dirty="0"/>
              <a:t>单击以编辑</a:t>
            </a:r>
          </a:p>
        </p:txBody>
      </p:sp>
      <p:sp>
        <p:nvSpPr>
          <p:cNvPr id="28" name="文本占位符 3">
            <a:extLst>
              <a:ext uri="{FF2B5EF4-FFF2-40B4-BE49-F238E27FC236}">
                <a16:creationId xmlns:a16="http://schemas.microsoft.com/office/drawing/2014/main" id="{2CF285B7-A950-4326-A4D5-F5D542D2D6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69895" y="3769787"/>
            <a:ext cx="3629025" cy="389820"/>
          </a:xfrm>
        </p:spPr>
        <p:txBody>
          <a:bodyPr rtlCol="0">
            <a:noAutofit/>
          </a:bodyPr>
          <a:lstStyle>
            <a:lvl1pPr>
              <a:buNone/>
              <a:defRPr sz="2400" b="1" spc="0" baseline="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zh-CN" altLang="en-US" noProof="0" dirty="0"/>
              <a:t>单击以编辑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C45E38A-5516-4C3E-88FC-0DCBD876054B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8159113" y="6610349"/>
            <a:ext cx="984885" cy="247651"/>
          </a:xfrm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6D6391CC-FD99-450E-91E0-5212718826BC}" type="datetime5">
              <a:rPr lang="zh-CN" altLang="en-US" smtClean="0"/>
              <a:t>2024/10/23</a:t>
            </a:fld>
            <a:endParaRPr lang="zh-CN" altLang="en-US" dirty="0"/>
          </a:p>
        </p:txBody>
      </p:sp>
      <p:grpSp>
        <p:nvGrpSpPr>
          <p:cNvPr id="35" name="组 8">
            <a:extLst>
              <a:ext uri="{FF2B5EF4-FFF2-40B4-BE49-F238E27FC236}">
                <a16:creationId xmlns:a16="http://schemas.microsoft.com/office/drawing/2014/main" id="{8C1F6FDC-00AE-4417-AF76-384D40B9A9A8}"/>
              </a:ext>
            </a:extLst>
          </p:cNvPr>
          <p:cNvGrpSpPr>
            <a:grpSpLocks/>
          </p:cNvGrpSpPr>
          <p:nvPr userDrawn="1"/>
        </p:nvGrpSpPr>
        <p:grpSpPr bwMode="auto">
          <a:xfrm rot="5400000" flipV="1">
            <a:off x="6476050" y="41998"/>
            <a:ext cx="2709948" cy="2625953"/>
            <a:chOff x="0" y="12289"/>
            <a:chExt cx="3550" cy="3551"/>
          </a:xfrm>
        </p:grpSpPr>
        <p:sp>
          <p:nvSpPr>
            <p:cNvPr id="36" name="任意多边形(F) 9">
              <a:extLst>
                <a:ext uri="{FF2B5EF4-FFF2-40B4-BE49-F238E27FC236}">
                  <a16:creationId xmlns:a16="http://schemas.microsoft.com/office/drawing/2014/main" id="{9F55D973-02AC-4EA2-97FE-B9F0C6098AB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zh-CN" altLang="en-US" sz="1800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7" name="任意多边形(F) 10">
              <a:extLst>
                <a:ext uri="{FF2B5EF4-FFF2-40B4-BE49-F238E27FC236}">
                  <a16:creationId xmlns:a16="http://schemas.microsoft.com/office/drawing/2014/main" id="{F2FA2998-3A91-480C-977D-59B0BF0C3C96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zh-CN" altLang="en-US" sz="1800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8" name="任意多边形 11">
              <a:extLst>
                <a:ext uri="{FF2B5EF4-FFF2-40B4-BE49-F238E27FC236}">
                  <a16:creationId xmlns:a16="http://schemas.microsoft.com/office/drawing/2014/main" id="{C5F4F4E8-C72E-46B0-99FD-EBC6AF2D6C0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zh-CN" altLang="en-US" sz="1800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grpSp>
        <p:nvGrpSpPr>
          <p:cNvPr id="29" name="组 8">
            <a:extLst>
              <a:ext uri="{FF2B5EF4-FFF2-40B4-BE49-F238E27FC236}">
                <a16:creationId xmlns:a16="http://schemas.microsoft.com/office/drawing/2014/main" id="{3696B84C-13CD-4FC5-8948-CE254B70689D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" y="4444948"/>
            <a:ext cx="2709948" cy="2413052"/>
            <a:chOff x="0" y="12289"/>
            <a:chExt cx="3550" cy="3551"/>
          </a:xfrm>
        </p:grpSpPr>
        <p:sp>
          <p:nvSpPr>
            <p:cNvPr id="30" name="任意多边形(F) 9">
              <a:extLst>
                <a:ext uri="{FF2B5EF4-FFF2-40B4-BE49-F238E27FC236}">
                  <a16:creationId xmlns:a16="http://schemas.microsoft.com/office/drawing/2014/main" id="{B46A553D-C016-46E0-9C70-BD733010E3EB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zh-CN" altLang="en-US" sz="1800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1" name="任意多边形(F) 10">
              <a:extLst>
                <a:ext uri="{FF2B5EF4-FFF2-40B4-BE49-F238E27FC236}">
                  <a16:creationId xmlns:a16="http://schemas.microsoft.com/office/drawing/2014/main" id="{7D82B289-71A7-4BEB-9CF8-A66E8460BE9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zh-CN" altLang="en-US" sz="1800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4" name="任意多边形 11">
              <a:extLst>
                <a:ext uri="{FF2B5EF4-FFF2-40B4-BE49-F238E27FC236}">
                  <a16:creationId xmlns:a16="http://schemas.microsoft.com/office/drawing/2014/main" id="{EC9D530F-C9DA-41BE-BB5C-6BC9E29502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zh-CN" altLang="en-US" sz="1800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1180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450">
          <p15:clr>
            <a:srgbClr val="FBAE40"/>
          </p15:clr>
        </p15:guide>
        <p15:guide id="2" pos="5310">
          <p15:clr>
            <a:srgbClr val="FBAE40"/>
          </p15:clr>
        </p15:guide>
        <p15:guide id="3" pos="1728">
          <p15:clr>
            <a:srgbClr val="FBAE40"/>
          </p15:clr>
        </p15:guide>
        <p15:guide id="4" pos="4302">
          <p15:clr>
            <a:srgbClr val="FBAE40"/>
          </p15:clr>
        </p15:guide>
        <p15:guide id="5" pos="1458">
          <p15:clr>
            <a:srgbClr val="FBAE40"/>
          </p15:clr>
        </p15:guide>
        <p15:guide id="6" pos="3006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4014">
          <p15:clr>
            <a:srgbClr val="FBAE40"/>
          </p15:clr>
        </p15:guide>
        <p15:guide id="11" pos="273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简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图片占位符 2">
            <a:extLst>
              <a:ext uri="{FF2B5EF4-FFF2-40B4-BE49-F238E27FC236}">
                <a16:creationId xmlns:a16="http://schemas.microsoft.com/office/drawing/2014/main" id="{F0C4E8C2-3240-594A-9D5E-1BCD1AF44C5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0" y="1371596"/>
            <a:ext cx="4572000" cy="5508947"/>
          </a:xfrm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 dirty="0"/>
              <a:t>单击图标添加图片</a:t>
            </a:r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A5C37098-CEB2-1E45-989B-3DD92F3B1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1234" y="278120"/>
            <a:ext cx="7258932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 dirty="0"/>
              <a:t>单击此处编辑母版标题样式</a:t>
            </a:r>
          </a:p>
        </p:txBody>
      </p:sp>
      <p:cxnSp>
        <p:nvCxnSpPr>
          <p:cNvPr id="17" name="直接连接符​​(S) 16">
            <a:extLst>
              <a:ext uri="{FF2B5EF4-FFF2-40B4-BE49-F238E27FC236}">
                <a16:creationId xmlns:a16="http://schemas.microsoft.com/office/drawing/2014/main" id="{1D23F761-57FC-3649-AE84-0C3EF95EF561}"/>
              </a:ext>
            </a:extLst>
          </p:cNvPr>
          <p:cNvCxnSpPr>
            <a:cxnSpLocks/>
          </p:cNvCxnSpPr>
          <p:nvPr userDrawn="1"/>
        </p:nvCxnSpPr>
        <p:spPr>
          <a:xfrm>
            <a:off x="308693" y="963604"/>
            <a:ext cx="8527736" cy="0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文本占位符 29">
            <a:extLst>
              <a:ext uri="{FF2B5EF4-FFF2-40B4-BE49-F238E27FC236}">
                <a16:creationId xmlns:a16="http://schemas.microsoft.com/office/drawing/2014/main" id="{E66F2BC9-2F8A-1543-9AFD-9BAB0E75B3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92035" y="1371596"/>
            <a:ext cx="3429001" cy="27952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2400" b="0" i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zh-CN" altLang="en-US" noProof="0" dirty="0"/>
              <a:t>单击此处编辑母版文本样式</a:t>
            </a:r>
          </a:p>
        </p:txBody>
      </p:sp>
      <p:cxnSp>
        <p:nvCxnSpPr>
          <p:cNvPr id="24" name="直接连接符​​(S) 20">
            <a:extLst>
              <a:ext uri="{FF2B5EF4-FFF2-40B4-BE49-F238E27FC236}">
                <a16:creationId xmlns:a16="http://schemas.microsoft.com/office/drawing/2014/main" id="{1C33D278-C9B4-43D1-91E6-FBBAE44E06E6}"/>
              </a:ext>
            </a:extLst>
          </p:cNvPr>
          <p:cNvCxnSpPr>
            <a:cxnSpLocks/>
          </p:cNvCxnSpPr>
          <p:nvPr userDrawn="1"/>
        </p:nvCxnSpPr>
        <p:spPr>
          <a:xfrm>
            <a:off x="1141976" y="157971"/>
            <a:ext cx="0" cy="731012"/>
          </a:xfrm>
          <a:prstGeom prst="line">
            <a:avLst/>
          </a:prstGeom>
          <a:ln w="1016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日期占位符 1">
            <a:extLst>
              <a:ext uri="{FF2B5EF4-FFF2-40B4-BE49-F238E27FC236}">
                <a16:creationId xmlns:a16="http://schemas.microsoft.com/office/drawing/2014/main" id="{2CC5C624-8420-4E91-BF40-58AEFB63F462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8159113" y="6610349"/>
            <a:ext cx="984885" cy="247651"/>
          </a:xfrm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E6FDD3B7-618C-4C65-8DF8-B2A07C6895F2}" type="datetime5">
              <a:rPr lang="zh-CN" altLang="en-US" smtClean="0"/>
              <a:t>2024/10/23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737695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50" userDrawn="1">
          <p15:clr>
            <a:srgbClr val="FBAE40"/>
          </p15:clr>
        </p15:guide>
        <p15:guide id="6" pos="2610" userDrawn="1">
          <p15:clr>
            <a:srgbClr val="FBAE40"/>
          </p15:clr>
        </p15:guide>
        <p15:guide id="7" orient="horz" pos="1440" userDrawn="1">
          <p15:clr>
            <a:srgbClr val="FBAE40"/>
          </p15:clr>
        </p15:guide>
        <p15:guide id="9" orient="horz" pos="1224" userDrawn="1">
          <p15:clr>
            <a:srgbClr val="FBAE40"/>
          </p15:clr>
        </p15:guide>
        <p15:guide id="10" orient="horz" pos="552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表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图表占位符 5">
            <a:extLst>
              <a:ext uri="{FF2B5EF4-FFF2-40B4-BE49-F238E27FC236}">
                <a16:creationId xmlns:a16="http://schemas.microsoft.com/office/drawing/2014/main" id="{75992517-0394-6B43-B15D-2A86A34512F3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714376" y="1939108"/>
            <a:ext cx="7764608" cy="4110702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zh-CN" altLang="en-US" noProof="0"/>
              <a:t>单击图标添加图表</a:t>
            </a:r>
          </a:p>
        </p:txBody>
      </p:sp>
      <p:grpSp>
        <p:nvGrpSpPr>
          <p:cNvPr id="7" name="组 8">
            <a:extLst>
              <a:ext uri="{FF2B5EF4-FFF2-40B4-BE49-F238E27FC236}">
                <a16:creationId xmlns:a16="http://schemas.microsoft.com/office/drawing/2014/main" id="{33E9911B-11E6-435F-BD39-ECE556CFD82C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" y="4444948"/>
            <a:ext cx="2709948" cy="2413052"/>
            <a:chOff x="0" y="12289"/>
            <a:chExt cx="3550" cy="3551"/>
          </a:xfrm>
        </p:grpSpPr>
        <p:sp>
          <p:nvSpPr>
            <p:cNvPr id="8" name="任意多边形(F) 9">
              <a:extLst>
                <a:ext uri="{FF2B5EF4-FFF2-40B4-BE49-F238E27FC236}">
                  <a16:creationId xmlns:a16="http://schemas.microsoft.com/office/drawing/2014/main" id="{39977DC1-C12A-442B-98DD-9E007381FB0F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zh-CN" altLang="en-US" sz="1800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9" name="任意多边形(F) 10">
              <a:extLst>
                <a:ext uri="{FF2B5EF4-FFF2-40B4-BE49-F238E27FC236}">
                  <a16:creationId xmlns:a16="http://schemas.microsoft.com/office/drawing/2014/main" id="{65609B2D-C92B-4137-A673-7CD23A4487E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zh-CN" altLang="en-US" sz="1800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0" name="任意多边形 11">
              <a:extLst>
                <a:ext uri="{FF2B5EF4-FFF2-40B4-BE49-F238E27FC236}">
                  <a16:creationId xmlns:a16="http://schemas.microsoft.com/office/drawing/2014/main" id="{BE8AE377-17DA-409C-9FA0-1390A436067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zh-CN" altLang="en-US" sz="1800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sp>
        <p:nvSpPr>
          <p:cNvPr id="11" name="标题 1">
            <a:extLst>
              <a:ext uri="{FF2B5EF4-FFF2-40B4-BE49-F238E27FC236}">
                <a16:creationId xmlns:a16="http://schemas.microsoft.com/office/drawing/2014/main" id="{863CD07C-C73D-41F2-A03B-28C2E3EAF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1234" y="278120"/>
            <a:ext cx="7258932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 dirty="0"/>
              <a:t>单击此处编辑母版标题样式</a:t>
            </a:r>
          </a:p>
        </p:txBody>
      </p:sp>
      <p:cxnSp>
        <p:nvCxnSpPr>
          <p:cNvPr id="12" name="直接连接符​​(S) 16">
            <a:extLst>
              <a:ext uri="{FF2B5EF4-FFF2-40B4-BE49-F238E27FC236}">
                <a16:creationId xmlns:a16="http://schemas.microsoft.com/office/drawing/2014/main" id="{106D1B7E-9A21-4C5D-8A44-066B6B6A66CC}"/>
              </a:ext>
            </a:extLst>
          </p:cNvPr>
          <p:cNvCxnSpPr>
            <a:cxnSpLocks/>
          </p:cNvCxnSpPr>
          <p:nvPr userDrawn="1"/>
        </p:nvCxnSpPr>
        <p:spPr>
          <a:xfrm>
            <a:off x="308693" y="963604"/>
            <a:ext cx="8527736" cy="0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接连接符​​(S) 20">
            <a:extLst>
              <a:ext uri="{FF2B5EF4-FFF2-40B4-BE49-F238E27FC236}">
                <a16:creationId xmlns:a16="http://schemas.microsoft.com/office/drawing/2014/main" id="{327F2DD1-E51E-4CB6-ACF5-ED7C49C60CB5}"/>
              </a:ext>
            </a:extLst>
          </p:cNvPr>
          <p:cNvCxnSpPr>
            <a:cxnSpLocks/>
          </p:cNvCxnSpPr>
          <p:nvPr userDrawn="1"/>
        </p:nvCxnSpPr>
        <p:spPr>
          <a:xfrm>
            <a:off x="1141976" y="157971"/>
            <a:ext cx="0" cy="731012"/>
          </a:xfrm>
          <a:prstGeom prst="line">
            <a:avLst/>
          </a:prstGeom>
          <a:ln w="1016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日期占位符 1">
            <a:extLst>
              <a:ext uri="{FF2B5EF4-FFF2-40B4-BE49-F238E27FC236}">
                <a16:creationId xmlns:a16="http://schemas.microsoft.com/office/drawing/2014/main" id="{3DBEA8B4-9F74-46F9-A1E1-C69F04644E75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8159113" y="6610349"/>
            <a:ext cx="984885" cy="247651"/>
          </a:xfrm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BD204038-36F5-4D5C-9342-448BC76326C2}" type="datetime5">
              <a:rPr lang="zh-CN" altLang="en-US" smtClean="0"/>
              <a:t>2024/10/23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658628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50" userDrawn="1">
          <p15:clr>
            <a:srgbClr val="FBAE40"/>
          </p15:clr>
        </p15:guide>
        <p15:guide id="2" pos="5310" userDrawn="1">
          <p15:clr>
            <a:srgbClr val="FBAE40"/>
          </p15:clr>
        </p15:guide>
        <p15:guide id="3" pos="2160" userDrawn="1">
          <p15:clr>
            <a:srgbClr val="FBAE40"/>
          </p15:clr>
        </p15:guide>
        <p15:guide id="4" pos="3870" userDrawn="1">
          <p15:clr>
            <a:srgbClr val="FBAE40"/>
          </p15:clr>
        </p15:guide>
        <p15:guide id="5" pos="1890" userDrawn="1">
          <p15:clr>
            <a:srgbClr val="FBAE40"/>
          </p15:clr>
        </p15:guide>
        <p15:guide id="6" pos="3600" userDrawn="1">
          <p15:clr>
            <a:srgbClr val="FBAE40"/>
          </p15:clr>
        </p15:guide>
        <p15:guide id="7" orient="horz" pos="1224" userDrawn="1">
          <p15:clr>
            <a:srgbClr val="FBAE40"/>
          </p15:clr>
        </p15:guide>
        <p15:guide id="8" orient="horz" pos="1392" userDrawn="1">
          <p15:clr>
            <a:srgbClr val="FBAE40"/>
          </p15:clr>
        </p15:guide>
        <p15:guide id="10" orient="horz" pos="552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格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日期占位符 1">
            <a:extLst>
              <a:ext uri="{FF2B5EF4-FFF2-40B4-BE49-F238E27FC236}">
                <a16:creationId xmlns:a16="http://schemas.microsoft.com/office/drawing/2014/main" id="{AEE0F078-228F-4C21-9130-4AAF298B58C2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8159113" y="6610349"/>
            <a:ext cx="984885" cy="247651"/>
          </a:xfrm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A9336DD3-195A-4BDA-BB5F-107A80012942}" type="datetime5">
              <a:rPr lang="zh-CN" altLang="en-US" smtClean="0"/>
              <a:t>2024/10/23</a:t>
            </a:fld>
            <a:endParaRPr lang="zh-CN" altLang="en-US" dirty="0"/>
          </a:p>
        </p:txBody>
      </p:sp>
      <p:sp>
        <p:nvSpPr>
          <p:cNvPr id="16" name="标题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3018" y="879072"/>
            <a:ext cx="3706108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zh-CN" altLang="en-US" noProof="0"/>
              <a:t>单击以编辑 </a:t>
            </a:r>
          </a:p>
        </p:txBody>
      </p:sp>
      <p:sp>
        <p:nvSpPr>
          <p:cNvPr id="9" name="表格占位符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714375" y="2209806"/>
            <a:ext cx="7715250" cy="2593109"/>
          </a:xfrm>
        </p:spPr>
        <p:txBody>
          <a:bodyPr rtlCol="0"/>
          <a:lstStyle/>
          <a:p>
            <a:pPr rtl="0"/>
            <a:r>
              <a:rPr lang="zh-CN" altLang="en-US" noProof="0"/>
              <a:t>单击图标添加表格</a:t>
            </a:r>
          </a:p>
        </p:txBody>
      </p:sp>
      <p:grpSp>
        <p:nvGrpSpPr>
          <p:cNvPr id="7" name="组 8">
            <a:extLst>
              <a:ext uri="{FF2B5EF4-FFF2-40B4-BE49-F238E27FC236}">
                <a16:creationId xmlns:a16="http://schemas.microsoft.com/office/drawing/2014/main" id="{FF654C3C-7763-4178-8553-6DF10C2A6EB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" y="4444948"/>
            <a:ext cx="2709948" cy="2413052"/>
            <a:chOff x="0" y="12289"/>
            <a:chExt cx="3550" cy="3551"/>
          </a:xfrm>
        </p:grpSpPr>
        <p:sp>
          <p:nvSpPr>
            <p:cNvPr id="8" name="任意多边形(F) 9">
              <a:extLst>
                <a:ext uri="{FF2B5EF4-FFF2-40B4-BE49-F238E27FC236}">
                  <a16:creationId xmlns:a16="http://schemas.microsoft.com/office/drawing/2014/main" id="{9E97018D-7502-4F78-8461-93A70CF7603B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zh-CN" altLang="en-US" sz="1800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0" name="任意多边形(F) 10">
              <a:extLst>
                <a:ext uri="{FF2B5EF4-FFF2-40B4-BE49-F238E27FC236}">
                  <a16:creationId xmlns:a16="http://schemas.microsoft.com/office/drawing/2014/main" id="{7C4114FD-2438-4942-B25A-3DBA6C5538B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zh-CN" altLang="en-US" sz="1800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1" name="任意多边形 11">
              <a:extLst>
                <a:ext uri="{FF2B5EF4-FFF2-40B4-BE49-F238E27FC236}">
                  <a16:creationId xmlns:a16="http://schemas.microsoft.com/office/drawing/2014/main" id="{363BAD70-68F0-458E-8504-775FF746268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zh-CN" altLang="en-US" sz="1800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013107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50" userDrawn="1">
          <p15:clr>
            <a:srgbClr val="FBAE40"/>
          </p15:clr>
        </p15:guide>
        <p15:guide id="2" pos="5310" userDrawn="1">
          <p15:clr>
            <a:srgbClr val="FBAE40"/>
          </p15:clr>
        </p15:guide>
        <p15:guide id="3" pos="2160" userDrawn="1">
          <p15:clr>
            <a:srgbClr val="FBAE40"/>
          </p15:clr>
        </p15:guide>
        <p15:guide id="4" pos="3870" userDrawn="1">
          <p15:clr>
            <a:srgbClr val="FBAE40"/>
          </p15:clr>
        </p15:guide>
        <p15:guide id="5" pos="1890" userDrawn="1">
          <p15:clr>
            <a:srgbClr val="FBAE40"/>
          </p15:clr>
        </p15:guide>
        <p15:guide id="6" pos="3600" userDrawn="1">
          <p15:clr>
            <a:srgbClr val="FBAE40"/>
          </p15:clr>
        </p15:guide>
        <p15:guide id="7" orient="horz" pos="1224" userDrawn="1">
          <p15:clr>
            <a:srgbClr val="FBAE40"/>
          </p15:clr>
        </p15:guide>
        <p15:guide id="8" orient="horz" pos="1392" userDrawn="1">
          <p15:clr>
            <a:srgbClr val="FBAE40"/>
          </p15:clr>
        </p15:guide>
        <p15:guide id="10" orient="horz" pos="55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引言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日期占位符 1">
            <a:extLst>
              <a:ext uri="{FF2B5EF4-FFF2-40B4-BE49-F238E27FC236}">
                <a16:creationId xmlns:a16="http://schemas.microsoft.com/office/drawing/2014/main" id="{A1595A9B-06D0-446D-AFB2-2E76BB7D1FCF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8159113" y="6610349"/>
            <a:ext cx="984885" cy="247651"/>
          </a:xfrm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72CDB93B-0CD8-49FA-8FA1-B514F559EF5C}" type="datetime5">
              <a:rPr lang="zh-CN" altLang="en-US" smtClean="0"/>
              <a:t>2024/10/23</a:t>
            </a:fld>
            <a:endParaRPr lang="zh-CN" altLang="en-US" dirty="0"/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A5C37098-CEB2-1E45-989B-3DD92F3B1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017" y="2476506"/>
            <a:ext cx="5349240" cy="3289971"/>
          </a:xfrm>
          <a:prstGeom prst="rect">
            <a:avLst/>
          </a:prstGeom>
          <a:ln>
            <a:noFill/>
          </a:ln>
        </p:spPr>
        <p:txBody>
          <a:bodyPr lIns="0" tIns="0" rIns="0" bIns="0" rtlCol="0" anchor="t" anchorCtr="0">
            <a:normAutofit/>
          </a:bodyPr>
          <a:lstStyle>
            <a:lvl1pPr>
              <a:lnSpc>
                <a:spcPct val="100000"/>
              </a:lnSpc>
              <a:defRPr sz="2800" b="0" i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902327D-DBD4-7A4E-ABF2-A946A559A8AD}"/>
              </a:ext>
            </a:extLst>
          </p:cNvPr>
          <p:cNvSpPr txBox="1"/>
          <p:nvPr userDrawn="1"/>
        </p:nvSpPr>
        <p:spPr>
          <a:xfrm>
            <a:off x="524963" y="548300"/>
            <a:ext cx="119202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zh-CN" altLang="en-US" sz="20000" b="1" noProof="0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14478292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450" userDrawn="1">
          <p15:clr>
            <a:srgbClr val="FBAE40"/>
          </p15:clr>
        </p15:guide>
        <p15:guide id="2" pos="5310" userDrawn="1">
          <p15:clr>
            <a:srgbClr val="FBAE40"/>
          </p15:clr>
        </p15:guide>
        <p15:guide id="3" pos="2160" userDrawn="1">
          <p15:clr>
            <a:srgbClr val="FBAE40"/>
          </p15:clr>
        </p15:guide>
        <p15:guide id="4" pos="3870" userDrawn="1">
          <p15:clr>
            <a:srgbClr val="FBAE40"/>
          </p15:clr>
        </p15:guide>
        <p15:guide id="5" pos="1890" userDrawn="1">
          <p15:clr>
            <a:srgbClr val="FBAE40"/>
          </p15:clr>
        </p15:guide>
        <p15:guide id="6" pos="3600" userDrawn="1">
          <p15:clr>
            <a:srgbClr val="FBAE40"/>
          </p15:clr>
        </p15:guide>
        <p15:guide id="7" orient="horz" pos="1560" userDrawn="1">
          <p15:clr>
            <a:srgbClr val="FBAE40"/>
          </p15:clr>
        </p15:guide>
        <p15:guide id="8" orient="horz" pos="1752" userDrawn="1">
          <p15:clr>
            <a:srgbClr val="FBAE40"/>
          </p15:clr>
        </p15:guide>
        <p15:guide id="9" orient="horz" pos="1248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团队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日期占位符 1">
            <a:extLst>
              <a:ext uri="{FF2B5EF4-FFF2-40B4-BE49-F238E27FC236}">
                <a16:creationId xmlns:a16="http://schemas.microsoft.com/office/drawing/2014/main" id="{C647E1EB-8D12-43F6-9C6E-B1E76BD65740}"/>
              </a:ext>
            </a:extLst>
          </p:cNvPr>
          <p:cNvSpPr>
            <a:spLocks noGrp="1"/>
          </p:cNvSpPr>
          <p:nvPr>
            <p:ph type="dt" sz="half" idx="32"/>
          </p:nvPr>
        </p:nvSpPr>
        <p:spPr>
          <a:xfrm>
            <a:off x="8159113" y="6610349"/>
            <a:ext cx="984885" cy="247651"/>
          </a:xfrm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2FB74298-690E-4F37-8915-424A0EA11287}" type="datetime5">
              <a:rPr lang="zh-CN" altLang="en-US" smtClean="0"/>
              <a:t>2024/10/23</a:t>
            </a:fld>
            <a:endParaRPr lang="zh-CN" altLang="en-US" dirty="0"/>
          </a:p>
        </p:txBody>
      </p:sp>
      <p:grpSp>
        <p:nvGrpSpPr>
          <p:cNvPr id="33" name="组 8">
            <a:extLst>
              <a:ext uri="{FF2B5EF4-FFF2-40B4-BE49-F238E27FC236}">
                <a16:creationId xmlns:a16="http://schemas.microsoft.com/office/drawing/2014/main" id="{79D94968-E939-4A79-BAAE-90F8C01EB7EE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" y="4444948"/>
            <a:ext cx="2709948" cy="2413052"/>
            <a:chOff x="0" y="12289"/>
            <a:chExt cx="3550" cy="3551"/>
          </a:xfrm>
        </p:grpSpPr>
        <p:sp>
          <p:nvSpPr>
            <p:cNvPr id="34" name="任意多边形(F) 9">
              <a:extLst>
                <a:ext uri="{FF2B5EF4-FFF2-40B4-BE49-F238E27FC236}">
                  <a16:creationId xmlns:a16="http://schemas.microsoft.com/office/drawing/2014/main" id="{330E9FF0-8ED0-4358-AB76-60AC33D39C6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zh-CN" altLang="en-US" sz="1800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5" name="任意多边形(F) 10">
              <a:extLst>
                <a:ext uri="{FF2B5EF4-FFF2-40B4-BE49-F238E27FC236}">
                  <a16:creationId xmlns:a16="http://schemas.microsoft.com/office/drawing/2014/main" id="{0C6DDBC4-02C6-4510-A45F-3B2001D8508B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zh-CN" altLang="en-US" sz="1800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7" name="任意多边形 11">
              <a:extLst>
                <a:ext uri="{FF2B5EF4-FFF2-40B4-BE49-F238E27FC236}">
                  <a16:creationId xmlns:a16="http://schemas.microsoft.com/office/drawing/2014/main" id="{6B22312E-F867-4CD8-9D09-ECF7E71FE3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zh-CN" altLang="en-US" sz="1800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sp>
        <p:nvSpPr>
          <p:cNvPr id="38" name="图片占位符 25">
            <a:extLst>
              <a:ext uri="{FF2B5EF4-FFF2-40B4-BE49-F238E27FC236}">
                <a16:creationId xmlns:a16="http://schemas.microsoft.com/office/drawing/2014/main" id="{2274C164-503B-E746-A155-849A9BC2406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15701" y="2572883"/>
            <a:ext cx="1588684" cy="2037217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61" name="标题 1">
            <a:extLst>
              <a:ext uri="{FF2B5EF4-FFF2-40B4-BE49-F238E27FC236}">
                <a16:creationId xmlns:a16="http://schemas.microsoft.com/office/drawing/2014/main" id="{E2F20AFE-B282-5146-B0D6-F2FC1B6D3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018" y="879072"/>
            <a:ext cx="5649208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cxnSp>
        <p:nvCxnSpPr>
          <p:cNvPr id="62" name="直接连接符​​(S) 61">
            <a:extLst>
              <a:ext uri="{FF2B5EF4-FFF2-40B4-BE49-F238E27FC236}">
                <a16:creationId xmlns:a16="http://schemas.microsoft.com/office/drawing/2014/main" id="{F777D2F0-DE3F-8343-B97A-E7FA440532FD}"/>
              </a:ext>
            </a:extLst>
          </p:cNvPr>
          <p:cNvCxnSpPr>
            <a:cxnSpLocks/>
          </p:cNvCxnSpPr>
          <p:nvPr userDrawn="1"/>
        </p:nvCxnSpPr>
        <p:spPr>
          <a:xfrm>
            <a:off x="714375" y="1939108"/>
            <a:ext cx="1600200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图片占位符 25">
            <a:extLst>
              <a:ext uri="{FF2B5EF4-FFF2-40B4-BE49-F238E27FC236}">
                <a16:creationId xmlns:a16="http://schemas.microsoft.com/office/drawing/2014/main" id="{AF1B5ED8-33F6-FB44-AA92-F0D227BB310C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2743710" y="2572883"/>
            <a:ext cx="1588684" cy="2037217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72" name="文本占位符 29">
            <a:extLst>
              <a:ext uri="{FF2B5EF4-FFF2-40B4-BE49-F238E27FC236}">
                <a16:creationId xmlns:a16="http://schemas.microsoft.com/office/drawing/2014/main" id="{0D824BDD-2D23-C943-8FE9-60B7B23B5E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14375" y="5393169"/>
            <a:ext cx="1600200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73" name="文本占位符 29">
            <a:extLst>
              <a:ext uri="{FF2B5EF4-FFF2-40B4-BE49-F238E27FC236}">
                <a16:creationId xmlns:a16="http://schemas.microsoft.com/office/drawing/2014/main" id="{2F3D441E-DFB1-084B-8192-C6CBECCA40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4375" y="4986754"/>
            <a:ext cx="1600200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1" i="0" spc="0" baseline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zh-CN" altLang="en-US" noProof="0" dirty="0"/>
              <a:t>单击以编辑 </a:t>
            </a:r>
          </a:p>
        </p:txBody>
      </p:sp>
      <p:sp>
        <p:nvSpPr>
          <p:cNvPr id="74" name="文本占位符 29">
            <a:extLst>
              <a:ext uri="{FF2B5EF4-FFF2-40B4-BE49-F238E27FC236}">
                <a16:creationId xmlns:a16="http://schemas.microsoft.com/office/drawing/2014/main" id="{25797825-E7AE-2C41-A965-E6F0D70D97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47283" y="5393169"/>
            <a:ext cx="1596118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75" name="文本占位符 29">
            <a:extLst>
              <a:ext uri="{FF2B5EF4-FFF2-40B4-BE49-F238E27FC236}">
                <a16:creationId xmlns:a16="http://schemas.microsoft.com/office/drawing/2014/main" id="{63C1927C-E23B-204E-9F3A-2A67D2BF702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47283" y="4986754"/>
            <a:ext cx="1596118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1" i="0" spc="0" baseline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zh-CN" altLang="en-US" noProof="0" dirty="0"/>
              <a:t>单击以编辑 </a:t>
            </a:r>
          </a:p>
        </p:txBody>
      </p:sp>
      <p:sp>
        <p:nvSpPr>
          <p:cNvPr id="76" name="文本占位符 29">
            <a:extLst>
              <a:ext uri="{FF2B5EF4-FFF2-40B4-BE49-F238E27FC236}">
                <a16:creationId xmlns:a16="http://schemas.microsoft.com/office/drawing/2014/main" id="{EC81F0F5-C204-7248-A336-A655814A8A3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75292" y="5393169"/>
            <a:ext cx="1596934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77" name="文本占位符 29">
            <a:extLst>
              <a:ext uri="{FF2B5EF4-FFF2-40B4-BE49-F238E27FC236}">
                <a16:creationId xmlns:a16="http://schemas.microsoft.com/office/drawing/2014/main" id="{C9FEF82E-4E9C-8343-9D36-C4A00D7137C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75292" y="4986754"/>
            <a:ext cx="1596934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1" i="0" spc="0" baseline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zh-CN" altLang="en-US" noProof="0" dirty="0"/>
              <a:t>单击以编辑 </a:t>
            </a:r>
          </a:p>
        </p:txBody>
      </p:sp>
      <p:sp>
        <p:nvSpPr>
          <p:cNvPr id="78" name="文本占位符 29">
            <a:extLst>
              <a:ext uri="{FF2B5EF4-FFF2-40B4-BE49-F238E27FC236}">
                <a16:creationId xmlns:a16="http://schemas.microsoft.com/office/drawing/2014/main" id="{F8AF6664-A005-7A42-9AEF-C5AA5603E49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832691" y="5393169"/>
            <a:ext cx="1596934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79" name="文本占位符 29">
            <a:extLst>
              <a:ext uri="{FF2B5EF4-FFF2-40B4-BE49-F238E27FC236}">
                <a16:creationId xmlns:a16="http://schemas.microsoft.com/office/drawing/2014/main" id="{5F6C1E52-E2B6-5F45-A863-5BB35ABAFCD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832691" y="4986754"/>
            <a:ext cx="1596934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1" i="0" spc="0" baseline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zh-CN" altLang="en-US" noProof="0" dirty="0"/>
              <a:t>单击以编辑 </a:t>
            </a:r>
          </a:p>
        </p:txBody>
      </p:sp>
      <p:sp>
        <p:nvSpPr>
          <p:cNvPr id="66" name="图片占位符 25">
            <a:extLst>
              <a:ext uri="{FF2B5EF4-FFF2-40B4-BE49-F238E27FC236}">
                <a16:creationId xmlns:a16="http://schemas.microsoft.com/office/drawing/2014/main" id="{2D21D633-C51E-E94E-BAE3-96F52F76E49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771719" y="2572883"/>
            <a:ext cx="1588684" cy="2037217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69" name="图片占位符 25">
            <a:extLst>
              <a:ext uri="{FF2B5EF4-FFF2-40B4-BE49-F238E27FC236}">
                <a16:creationId xmlns:a16="http://schemas.microsoft.com/office/drawing/2014/main" id="{639EFA5A-9C69-DF4D-81B7-FA1F8CCCF934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834018" y="2572883"/>
            <a:ext cx="1588684" cy="2037217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9963624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450" userDrawn="1">
          <p15:clr>
            <a:srgbClr val="FBAE40"/>
          </p15:clr>
        </p15:guide>
        <p15:guide id="2" pos="5310" userDrawn="1">
          <p15:clr>
            <a:srgbClr val="FBAE40"/>
          </p15:clr>
        </p15:guide>
        <p15:guide id="3" pos="1728" userDrawn="1">
          <p15:clr>
            <a:srgbClr val="FBAE40"/>
          </p15:clr>
        </p15:guide>
        <p15:guide id="4" pos="3006" userDrawn="1">
          <p15:clr>
            <a:srgbClr val="FBAE40"/>
          </p15:clr>
        </p15:guide>
        <p15:guide id="5" pos="1458" userDrawn="1">
          <p15:clr>
            <a:srgbClr val="FBAE40"/>
          </p15:clr>
        </p15:guide>
        <p15:guide id="6" pos="2736" userDrawn="1">
          <p15:clr>
            <a:srgbClr val="FBAE40"/>
          </p15:clr>
        </p15:guide>
        <p15:guide id="7" orient="horz" pos="1392" userDrawn="1">
          <p15:clr>
            <a:srgbClr val="FBAE40"/>
          </p15:clr>
        </p15:guide>
        <p15:guide id="8" orient="horz" pos="552" userDrawn="1">
          <p15:clr>
            <a:srgbClr val="FBAE40"/>
          </p15:clr>
        </p15:guide>
        <p15:guide id="9" orient="horz" pos="1224" userDrawn="1">
          <p15:clr>
            <a:srgbClr val="FBAE40"/>
          </p15:clr>
        </p15:guide>
        <p15:guide id="10" pos="4014" userDrawn="1">
          <p15:clr>
            <a:srgbClr val="FBAE40"/>
          </p15:clr>
        </p15:guide>
        <p15:guide id="11" pos="4302" userDrawn="1">
          <p15:clr>
            <a:srgbClr val="FBAE40"/>
          </p15:clr>
        </p15:guide>
        <p15:guide id="12" orient="horz" pos="2904" userDrawn="1">
          <p15:clr>
            <a:srgbClr val="FBAE40"/>
          </p15:clr>
        </p15:guide>
        <p15:guide id="13" orient="horz" pos="1608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日程表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日期占位符 1">
            <a:extLst>
              <a:ext uri="{FF2B5EF4-FFF2-40B4-BE49-F238E27FC236}">
                <a16:creationId xmlns:a16="http://schemas.microsoft.com/office/drawing/2014/main" id="{B97F3A12-799D-455A-A239-8D59085C93D0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8159113" y="6610349"/>
            <a:ext cx="984885" cy="247651"/>
          </a:xfrm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ED1ADF1D-247E-4E8B-A9B1-F58E5E95F002}" type="datetime5">
              <a:rPr lang="zh-CN" altLang="en-US" smtClean="0"/>
              <a:t>2024/10/23</a:t>
            </a:fld>
            <a:endParaRPr lang="zh-CN" altLang="en-US" dirty="0"/>
          </a:p>
        </p:txBody>
      </p:sp>
      <p:cxnSp>
        <p:nvCxnSpPr>
          <p:cNvPr id="21" name="直接连接符​​(S) 20">
            <a:extLst>
              <a:ext uri="{FF2B5EF4-FFF2-40B4-BE49-F238E27FC236}">
                <a16:creationId xmlns:a16="http://schemas.microsoft.com/office/drawing/2014/main" id="{040046AF-E5BF-854D-9986-7C3019770FE7}"/>
              </a:ext>
            </a:extLst>
          </p:cNvPr>
          <p:cNvCxnSpPr>
            <a:cxnSpLocks/>
          </p:cNvCxnSpPr>
          <p:nvPr userDrawn="1"/>
        </p:nvCxnSpPr>
        <p:spPr>
          <a:xfrm flipH="1">
            <a:off x="784469" y="2213783"/>
            <a:ext cx="1602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76CA14A6-0144-BC49-A8D4-C979D13258C0}"/>
              </a:ext>
            </a:extLst>
          </p:cNvPr>
          <p:cNvCxnSpPr>
            <a:cxnSpLocks/>
          </p:cNvCxnSpPr>
          <p:nvPr userDrawn="1"/>
        </p:nvCxnSpPr>
        <p:spPr>
          <a:xfrm flipH="1">
            <a:off x="4635374" y="2213783"/>
            <a:ext cx="8327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​​(S) 27">
            <a:extLst>
              <a:ext uri="{FF2B5EF4-FFF2-40B4-BE49-F238E27FC236}">
                <a16:creationId xmlns:a16="http://schemas.microsoft.com/office/drawing/2014/main" id="{FA582FC2-A135-5743-B9C0-6AC7225B42E1}"/>
              </a:ext>
            </a:extLst>
          </p:cNvPr>
          <p:cNvCxnSpPr>
            <a:cxnSpLocks/>
          </p:cNvCxnSpPr>
          <p:nvPr userDrawn="1"/>
        </p:nvCxnSpPr>
        <p:spPr>
          <a:xfrm flipH="1">
            <a:off x="6559217" y="3904712"/>
            <a:ext cx="1602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​​(S) 23">
            <a:extLst>
              <a:ext uri="{FF2B5EF4-FFF2-40B4-BE49-F238E27FC236}">
                <a16:creationId xmlns:a16="http://schemas.microsoft.com/office/drawing/2014/main" id="{77C43222-5868-0247-838F-58F4F6C8EE75}"/>
              </a:ext>
            </a:extLst>
          </p:cNvPr>
          <p:cNvCxnSpPr>
            <a:cxnSpLocks/>
          </p:cNvCxnSpPr>
          <p:nvPr userDrawn="1"/>
        </p:nvCxnSpPr>
        <p:spPr>
          <a:xfrm flipH="1">
            <a:off x="2708317" y="3895941"/>
            <a:ext cx="1602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标题 1">
            <a:extLst>
              <a:ext uri="{FF2B5EF4-FFF2-40B4-BE49-F238E27FC236}">
                <a16:creationId xmlns:a16="http://schemas.microsoft.com/office/drawing/2014/main" id="{46EEE005-F78A-9D4F-B159-964376C387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3018" y="879072"/>
            <a:ext cx="3706108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单击以编辑 </a:t>
            </a:r>
          </a:p>
        </p:txBody>
      </p:sp>
      <p:sp>
        <p:nvSpPr>
          <p:cNvPr id="96" name="文本占位符 29">
            <a:extLst>
              <a:ext uri="{FF2B5EF4-FFF2-40B4-BE49-F238E27FC236}">
                <a16:creationId xmlns:a16="http://schemas.microsoft.com/office/drawing/2014/main" id="{FC61536F-8EA7-5A48-AF76-8B0E251BD8C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72716" y="2934856"/>
            <a:ext cx="16002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zh-CN" altLang="en-US" noProof="0"/>
              <a:t>单击以编辑 </a:t>
            </a:r>
          </a:p>
        </p:txBody>
      </p:sp>
      <p:sp>
        <p:nvSpPr>
          <p:cNvPr id="97" name="文本占位符 29">
            <a:extLst>
              <a:ext uri="{FF2B5EF4-FFF2-40B4-BE49-F238E27FC236}">
                <a16:creationId xmlns:a16="http://schemas.microsoft.com/office/drawing/2014/main" id="{64FFD994-BD97-ED49-8607-286ECBB1CDA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72716" y="2568695"/>
            <a:ext cx="1600200" cy="205837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1" i="0" spc="0" baseline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zh-CN" altLang="en-US" noProof="0" dirty="0"/>
              <a:t>单击以编辑 </a:t>
            </a:r>
          </a:p>
        </p:txBody>
      </p:sp>
      <p:sp>
        <p:nvSpPr>
          <p:cNvPr id="102" name="文本占位符 29">
            <a:extLst>
              <a:ext uri="{FF2B5EF4-FFF2-40B4-BE49-F238E27FC236}">
                <a16:creationId xmlns:a16="http://schemas.microsoft.com/office/drawing/2014/main" id="{D1ADE805-BFBC-ED47-B9CB-6CB2FF02E86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923349" y="5087328"/>
            <a:ext cx="16002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zh-CN" altLang="en-US" noProof="0"/>
              <a:t>单击以编辑 </a:t>
            </a:r>
          </a:p>
        </p:txBody>
      </p:sp>
      <p:sp>
        <p:nvSpPr>
          <p:cNvPr id="103" name="文本占位符 29">
            <a:extLst>
              <a:ext uri="{FF2B5EF4-FFF2-40B4-BE49-F238E27FC236}">
                <a16:creationId xmlns:a16="http://schemas.microsoft.com/office/drawing/2014/main" id="{334A3589-641F-F547-891B-149579153B7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923349" y="4701917"/>
            <a:ext cx="1600200" cy="205837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lang="en-US" sz="1800" b="1" spc="0" baseline="0" dirty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marL="0" lvl="0" indent="0" rtl="0">
              <a:spcBef>
                <a:spcPts val="400"/>
              </a:spcBef>
              <a:buNone/>
            </a:pPr>
            <a:r>
              <a:rPr lang="zh-CN" altLang="en-US" noProof="0"/>
              <a:t>单击以编辑 </a:t>
            </a:r>
          </a:p>
        </p:txBody>
      </p:sp>
      <p:sp>
        <p:nvSpPr>
          <p:cNvPr id="106" name="文本占位符 29">
            <a:extLst>
              <a:ext uri="{FF2B5EF4-FFF2-40B4-BE49-F238E27FC236}">
                <a16:creationId xmlns:a16="http://schemas.microsoft.com/office/drawing/2014/main" id="{A63F8454-D12E-A641-ABD0-8977D3F5EC0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751283" y="5087328"/>
            <a:ext cx="16002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zh-CN" altLang="en-US" noProof="0"/>
              <a:t>单击以编辑 </a:t>
            </a:r>
          </a:p>
        </p:txBody>
      </p:sp>
      <p:sp>
        <p:nvSpPr>
          <p:cNvPr id="107" name="文本占位符 29">
            <a:extLst>
              <a:ext uri="{FF2B5EF4-FFF2-40B4-BE49-F238E27FC236}">
                <a16:creationId xmlns:a16="http://schemas.microsoft.com/office/drawing/2014/main" id="{F35AA15D-DBAD-9840-8764-A5B6D486A23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751283" y="4701917"/>
            <a:ext cx="1600200" cy="205837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lang="en-US" sz="1800" b="1" spc="0" baseline="0" dirty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marL="0" lvl="0" indent="0" rtl="0">
              <a:spcBef>
                <a:spcPts val="400"/>
              </a:spcBef>
              <a:buNone/>
            </a:pPr>
            <a:r>
              <a:rPr lang="zh-CN" altLang="en-US" noProof="0"/>
              <a:t>单击以编辑 </a:t>
            </a:r>
          </a:p>
        </p:txBody>
      </p:sp>
      <p:sp>
        <p:nvSpPr>
          <p:cNvPr id="108" name="文本占位符 29">
            <a:extLst>
              <a:ext uri="{FF2B5EF4-FFF2-40B4-BE49-F238E27FC236}">
                <a16:creationId xmlns:a16="http://schemas.microsoft.com/office/drawing/2014/main" id="{8357CA0F-1A55-B145-8305-562F0DF2254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828607" y="2934856"/>
            <a:ext cx="16002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zh-CN" altLang="en-US" noProof="0"/>
              <a:t>单击以编辑 </a:t>
            </a:r>
          </a:p>
        </p:txBody>
      </p:sp>
      <p:sp>
        <p:nvSpPr>
          <p:cNvPr id="109" name="文本占位符 29">
            <a:extLst>
              <a:ext uri="{FF2B5EF4-FFF2-40B4-BE49-F238E27FC236}">
                <a16:creationId xmlns:a16="http://schemas.microsoft.com/office/drawing/2014/main" id="{D6C49F6F-AF28-8942-8442-8F54A1DC388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828607" y="2568695"/>
            <a:ext cx="1600200" cy="205837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1" i="0" spc="0" baseline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zh-CN" altLang="en-US" noProof="0"/>
              <a:t>单击以编辑 </a:t>
            </a:r>
          </a:p>
        </p:txBody>
      </p:sp>
      <p:cxnSp>
        <p:nvCxnSpPr>
          <p:cNvPr id="8" name="直接连接符​​(S) 7">
            <a:extLst>
              <a:ext uri="{FF2B5EF4-FFF2-40B4-BE49-F238E27FC236}">
                <a16:creationId xmlns:a16="http://schemas.microsoft.com/office/drawing/2014/main" id="{4CE2724A-BCA1-604F-9D18-BF05746408C2}"/>
              </a:ext>
            </a:extLst>
          </p:cNvPr>
          <p:cNvCxnSpPr/>
          <p:nvPr userDrawn="1"/>
        </p:nvCxnSpPr>
        <p:spPr>
          <a:xfrm>
            <a:off x="725767" y="3968780"/>
            <a:ext cx="7706608" cy="0"/>
          </a:xfrm>
          <a:prstGeom prst="line">
            <a:avLst/>
          </a:prstGeom>
          <a:ln w="165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长方形 43">
            <a:extLst>
              <a:ext uri="{FF2B5EF4-FFF2-40B4-BE49-F238E27FC236}">
                <a16:creationId xmlns:a16="http://schemas.microsoft.com/office/drawing/2014/main" id="{4923D7D1-A9CC-C34C-86FF-43B5C8978712}"/>
              </a:ext>
            </a:extLst>
          </p:cNvPr>
          <p:cNvSpPr/>
          <p:nvPr userDrawn="1"/>
        </p:nvSpPr>
        <p:spPr>
          <a:xfrm>
            <a:off x="723247" y="3883242"/>
            <a:ext cx="122453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sz="1800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7" name="长方形 46">
            <a:extLst>
              <a:ext uri="{FF2B5EF4-FFF2-40B4-BE49-F238E27FC236}">
                <a16:creationId xmlns:a16="http://schemas.microsoft.com/office/drawing/2014/main" id="{6119FF13-13AB-3448-B24E-58E18B3CE2B6}"/>
              </a:ext>
            </a:extLst>
          </p:cNvPr>
          <p:cNvSpPr/>
          <p:nvPr userDrawn="1"/>
        </p:nvSpPr>
        <p:spPr>
          <a:xfrm>
            <a:off x="2648697" y="3892019"/>
            <a:ext cx="122453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sz="1800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7" name="长方形 26">
            <a:extLst>
              <a:ext uri="{FF2B5EF4-FFF2-40B4-BE49-F238E27FC236}">
                <a16:creationId xmlns:a16="http://schemas.microsoft.com/office/drawing/2014/main" id="{22F8F982-870E-AE44-B0D3-B3313BC48DB7}"/>
              </a:ext>
            </a:extLst>
          </p:cNvPr>
          <p:cNvSpPr/>
          <p:nvPr userDrawn="1"/>
        </p:nvSpPr>
        <p:spPr>
          <a:xfrm>
            <a:off x="4574145" y="3883242"/>
            <a:ext cx="122453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sz="1800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9" name="长方形 28">
            <a:extLst>
              <a:ext uri="{FF2B5EF4-FFF2-40B4-BE49-F238E27FC236}">
                <a16:creationId xmlns:a16="http://schemas.microsoft.com/office/drawing/2014/main" id="{C549A137-DB5E-9C40-8C0A-ED607212022C}"/>
              </a:ext>
            </a:extLst>
          </p:cNvPr>
          <p:cNvSpPr/>
          <p:nvPr userDrawn="1"/>
        </p:nvSpPr>
        <p:spPr>
          <a:xfrm>
            <a:off x="6499598" y="3892019"/>
            <a:ext cx="122453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sz="1800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861552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450" userDrawn="1">
          <p15:clr>
            <a:srgbClr val="FBAE40"/>
          </p15:clr>
        </p15:guide>
        <p15:guide id="2" pos="5310" userDrawn="1">
          <p15:clr>
            <a:srgbClr val="FBAE40"/>
          </p15:clr>
        </p15:guide>
        <p15:guide id="3" pos="2160" userDrawn="1">
          <p15:clr>
            <a:srgbClr val="FBAE40"/>
          </p15:clr>
        </p15:guide>
        <p15:guide id="4" pos="3870" userDrawn="1">
          <p15:clr>
            <a:srgbClr val="FBAE40"/>
          </p15:clr>
        </p15:guide>
        <p15:guide id="5" pos="1890" userDrawn="1">
          <p15:clr>
            <a:srgbClr val="FBAE40"/>
          </p15:clr>
        </p15:guide>
        <p15:guide id="6" pos="3600" userDrawn="1">
          <p15:clr>
            <a:srgbClr val="FBAE40"/>
          </p15:clr>
        </p15:guide>
        <p15:guide id="7" orient="horz" pos="1224" userDrawn="1">
          <p15:clr>
            <a:srgbClr val="FBAE40"/>
          </p15:clr>
        </p15:guide>
        <p15:guide id="8" orient="horz" pos="3768" userDrawn="1">
          <p15:clr>
            <a:srgbClr val="FBAE40"/>
          </p15:clr>
        </p15:guide>
        <p15:guide id="9" orient="horz" pos="552" userDrawn="1">
          <p15:clr>
            <a:srgbClr val="FBAE40"/>
          </p15:clr>
        </p15:guide>
        <p15:guide id="10" orient="horz" pos="1512" userDrawn="1">
          <p15:clr>
            <a:srgbClr val="FBAE40"/>
          </p15:clr>
        </p15:guide>
        <p15:guide id="11" orient="horz" pos="283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列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日期占位符 1">
            <a:extLst>
              <a:ext uri="{FF2B5EF4-FFF2-40B4-BE49-F238E27FC236}">
                <a16:creationId xmlns:a16="http://schemas.microsoft.com/office/drawing/2014/main" id="{5ECB866D-1176-4DD4-B1AE-725B596AEECB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8159113" y="6610349"/>
            <a:ext cx="984885" cy="247651"/>
          </a:xfrm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876BB8B0-9DA3-4A45-BCF7-BC5F50366D23}" type="datetime5">
              <a:rPr lang="zh-CN" altLang="en-US" smtClean="0"/>
              <a:t>2024/10/23</a:t>
            </a:fld>
            <a:endParaRPr lang="zh-CN" altLang="en-US" dirty="0"/>
          </a:p>
        </p:txBody>
      </p:sp>
      <p:sp>
        <p:nvSpPr>
          <p:cNvPr id="32" name="标题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018" y="879072"/>
            <a:ext cx="3706108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cxnSp>
        <p:nvCxnSpPr>
          <p:cNvPr id="33" name="直接连接符​​(S)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714375" y="1939108"/>
            <a:ext cx="16002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文本占位符 2">
            <a:extLst>
              <a:ext uri="{FF2B5EF4-FFF2-40B4-BE49-F238E27FC236}">
                <a16:creationId xmlns:a16="http://schemas.microsoft.com/office/drawing/2014/main" id="{A6147D10-E7D7-8F40-AF69-72639872933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23019" y="2300984"/>
            <a:ext cx="3620384" cy="404216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0" indent="0">
              <a:buNone/>
              <a:defRPr sz="1800" b="1" i="0" spc="0" baseline="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 rtl="0"/>
            <a:r>
              <a:rPr lang="zh-CN" altLang="en-US" noProof="0" dirty="0"/>
              <a:t>单击以编辑 </a:t>
            </a:r>
          </a:p>
        </p:txBody>
      </p:sp>
      <p:sp>
        <p:nvSpPr>
          <p:cNvPr id="25" name="文本占位符 2">
            <a:extLst>
              <a:ext uri="{FF2B5EF4-FFF2-40B4-BE49-F238E27FC236}">
                <a16:creationId xmlns:a16="http://schemas.microsoft.com/office/drawing/2014/main" id="{3A0EE708-F36B-444B-9A8B-D48D69535E4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72025" y="2300984"/>
            <a:ext cx="3573622" cy="404216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0" indent="0">
              <a:buNone/>
              <a:defRPr sz="1800" b="1" i="0" spc="0" baseline="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 rtl="0"/>
            <a:r>
              <a:rPr lang="zh-CN" altLang="en-US" noProof="0" dirty="0"/>
              <a:t>单击以编辑 </a:t>
            </a:r>
          </a:p>
        </p:txBody>
      </p:sp>
      <p:sp>
        <p:nvSpPr>
          <p:cNvPr id="27" name="内容占位符 3">
            <a:extLst>
              <a:ext uri="{FF2B5EF4-FFF2-40B4-BE49-F238E27FC236}">
                <a16:creationId xmlns:a16="http://schemas.microsoft.com/office/drawing/2014/main" id="{E81957B7-CEA6-A446-A203-471CF9A57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23019" y="2799146"/>
            <a:ext cx="3620384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37" indent="-285737">
              <a:lnSpc>
                <a:spcPct val="100000"/>
              </a:lnSpc>
              <a:buFont typeface="Wingdings" pitchFamily="2" charset="2"/>
              <a:buChar char="§"/>
              <a:defRPr sz="1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28" name="内容占位符 3">
            <a:extLst>
              <a:ext uri="{FF2B5EF4-FFF2-40B4-BE49-F238E27FC236}">
                <a16:creationId xmlns:a16="http://schemas.microsoft.com/office/drawing/2014/main" id="{E40D4044-0F7B-0647-BAB5-16B23EBD9EC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772029" y="2799146"/>
            <a:ext cx="3567181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37" indent="-285737">
              <a:lnSpc>
                <a:spcPct val="100000"/>
              </a:lnSpc>
              <a:buFont typeface="Wingdings" pitchFamily="2" charset="2"/>
              <a:buChar char="§"/>
              <a:defRPr sz="1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cxnSp>
        <p:nvCxnSpPr>
          <p:cNvPr id="15" name="直接连接符​​(S) 14">
            <a:extLst>
              <a:ext uri="{FF2B5EF4-FFF2-40B4-BE49-F238E27FC236}">
                <a16:creationId xmlns:a16="http://schemas.microsoft.com/office/drawing/2014/main" id="{ED51C063-0222-064B-8A2E-485FE9EAC10D}"/>
              </a:ext>
            </a:extLst>
          </p:cNvPr>
          <p:cNvCxnSpPr>
            <a:cxnSpLocks/>
          </p:cNvCxnSpPr>
          <p:nvPr userDrawn="1"/>
        </p:nvCxnSpPr>
        <p:spPr>
          <a:xfrm>
            <a:off x="4772025" y="1939108"/>
            <a:ext cx="16002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6" name="组 8">
            <a:extLst>
              <a:ext uri="{FF2B5EF4-FFF2-40B4-BE49-F238E27FC236}">
                <a16:creationId xmlns:a16="http://schemas.microsoft.com/office/drawing/2014/main" id="{1A3C9206-675A-4AC8-94B0-A0808E1AAA7B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" y="4444948"/>
            <a:ext cx="2709948" cy="2413052"/>
            <a:chOff x="0" y="12289"/>
            <a:chExt cx="3550" cy="3551"/>
          </a:xfrm>
        </p:grpSpPr>
        <p:sp>
          <p:nvSpPr>
            <p:cNvPr id="17" name="任意多边形(F) 9">
              <a:extLst>
                <a:ext uri="{FF2B5EF4-FFF2-40B4-BE49-F238E27FC236}">
                  <a16:creationId xmlns:a16="http://schemas.microsoft.com/office/drawing/2014/main" id="{6394B670-383A-4BAD-BBC2-32171250A68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zh-CN" altLang="en-US" sz="1800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8" name="任意多边形(F) 10">
              <a:extLst>
                <a:ext uri="{FF2B5EF4-FFF2-40B4-BE49-F238E27FC236}">
                  <a16:creationId xmlns:a16="http://schemas.microsoft.com/office/drawing/2014/main" id="{618A85E9-909F-4B55-B40A-844EDA38846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zh-CN" altLang="en-US" sz="1800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4" name="任意多边形 11">
              <a:extLst>
                <a:ext uri="{FF2B5EF4-FFF2-40B4-BE49-F238E27FC236}">
                  <a16:creationId xmlns:a16="http://schemas.microsoft.com/office/drawing/2014/main" id="{52A7A9CA-B1E9-4561-BE1F-692D05888C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zh-CN" altLang="en-US" sz="1800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504253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450" userDrawn="1">
          <p15:clr>
            <a:srgbClr val="FBAE40"/>
          </p15:clr>
        </p15:guide>
        <p15:guide id="2" pos="5310" userDrawn="1">
          <p15:clr>
            <a:srgbClr val="FBAE40"/>
          </p15:clr>
        </p15:guide>
        <p15:guide id="3" pos="1728" userDrawn="1">
          <p15:clr>
            <a:srgbClr val="FBAE40"/>
          </p15:clr>
        </p15:guide>
        <p15:guide id="4" pos="4302" userDrawn="1">
          <p15:clr>
            <a:srgbClr val="FBAE40"/>
          </p15:clr>
        </p15:guide>
        <p15:guide id="5" pos="1458" userDrawn="1">
          <p15:clr>
            <a:srgbClr val="FBAE40"/>
          </p15:clr>
        </p15:guide>
        <p15:guide id="6" pos="3006" userDrawn="1">
          <p15:clr>
            <a:srgbClr val="FBAE40"/>
          </p15:clr>
        </p15:guide>
        <p15:guide id="7" orient="horz" pos="1224" userDrawn="1">
          <p15:clr>
            <a:srgbClr val="FBAE40"/>
          </p15:clr>
        </p15:guide>
        <p15:guide id="8" orient="horz" pos="1440" userDrawn="1">
          <p15:clr>
            <a:srgbClr val="FBAE40"/>
          </p15:clr>
        </p15:guide>
        <p15:guide id="9" orient="horz" pos="552" userDrawn="1">
          <p15:clr>
            <a:srgbClr val="FBAE40"/>
          </p15:clr>
        </p15:guide>
        <p15:guide id="10" pos="4014" userDrawn="1">
          <p15:clr>
            <a:srgbClr val="FBAE40"/>
          </p15:clr>
        </p15:guide>
        <p15:guide id="11" pos="2736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列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日期占位符 1">
            <a:extLst>
              <a:ext uri="{FF2B5EF4-FFF2-40B4-BE49-F238E27FC236}">
                <a16:creationId xmlns:a16="http://schemas.microsoft.com/office/drawing/2014/main" id="{D1228DF4-5AC2-4707-9BA3-5954DB582D48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8159113" y="6610349"/>
            <a:ext cx="984885" cy="247651"/>
          </a:xfrm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C91D5D49-54FC-4717-A45C-39A4142CA5C5}" type="datetime5">
              <a:rPr lang="zh-CN" altLang="en-US" smtClean="0"/>
              <a:t>2024/10/23</a:t>
            </a:fld>
            <a:endParaRPr lang="zh-CN" altLang="en-US" dirty="0"/>
          </a:p>
        </p:txBody>
      </p:sp>
      <p:sp>
        <p:nvSpPr>
          <p:cNvPr id="32" name="标题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018" y="879072"/>
            <a:ext cx="3706108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cxnSp>
        <p:nvCxnSpPr>
          <p:cNvPr id="33" name="直接连接符​​(S)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714375" y="1939108"/>
            <a:ext cx="16002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文本占位符 2">
            <a:extLst>
              <a:ext uri="{FF2B5EF4-FFF2-40B4-BE49-F238E27FC236}">
                <a16:creationId xmlns:a16="http://schemas.microsoft.com/office/drawing/2014/main" id="{A6147D10-E7D7-8F40-AF69-72639872933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14375" y="2300156"/>
            <a:ext cx="2277358" cy="4042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b="1" spc="0" baseline="0" dirty="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marL="0" lvl="0" indent="0" rtl="0">
              <a:buNone/>
            </a:pPr>
            <a:r>
              <a:rPr lang="zh-CN" altLang="en-US" noProof="0" dirty="0"/>
              <a:t>单击以编辑 </a:t>
            </a:r>
          </a:p>
        </p:txBody>
      </p:sp>
      <p:sp>
        <p:nvSpPr>
          <p:cNvPr id="27" name="内容占位符 3">
            <a:extLst>
              <a:ext uri="{FF2B5EF4-FFF2-40B4-BE49-F238E27FC236}">
                <a16:creationId xmlns:a16="http://schemas.microsoft.com/office/drawing/2014/main" id="{E81957B7-CEA6-A446-A203-471CF9A57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4375" y="2799146"/>
            <a:ext cx="2277358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37" indent="-285737">
              <a:lnSpc>
                <a:spcPct val="100000"/>
              </a:lnSpc>
              <a:buFont typeface="Wingdings" pitchFamily="2" charset="2"/>
              <a:buChar char="§"/>
              <a:defRPr sz="1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20" name="文本占位符 2">
            <a:extLst>
              <a:ext uri="{FF2B5EF4-FFF2-40B4-BE49-F238E27FC236}">
                <a16:creationId xmlns:a16="http://schemas.microsoft.com/office/drawing/2014/main" id="{057DFE0A-61D9-1B48-8196-EA94D04685DD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427029" y="2300156"/>
            <a:ext cx="2277358" cy="4042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b="1" spc="0" baseline="0" dirty="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marL="0" lvl="0" indent="0" rtl="0">
              <a:buNone/>
            </a:pPr>
            <a:r>
              <a:rPr lang="zh-CN" altLang="en-US" noProof="0" dirty="0"/>
              <a:t>单击以编辑 </a:t>
            </a:r>
          </a:p>
        </p:txBody>
      </p:sp>
      <p:sp>
        <p:nvSpPr>
          <p:cNvPr id="21" name="内容占位符 3">
            <a:extLst>
              <a:ext uri="{FF2B5EF4-FFF2-40B4-BE49-F238E27FC236}">
                <a16:creationId xmlns:a16="http://schemas.microsoft.com/office/drawing/2014/main" id="{C946754A-F105-644E-99A4-DC80B9944243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3427031" y="2799146"/>
            <a:ext cx="2287971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37" indent="-285737">
              <a:lnSpc>
                <a:spcPct val="100000"/>
              </a:lnSpc>
              <a:buFont typeface="Wingdings" pitchFamily="2" charset="2"/>
              <a:buChar char="§"/>
              <a:defRPr sz="1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22" name="文本占位符 2">
            <a:extLst>
              <a:ext uri="{FF2B5EF4-FFF2-40B4-BE49-F238E27FC236}">
                <a16:creationId xmlns:a16="http://schemas.microsoft.com/office/drawing/2014/main" id="{368648FC-FC9A-5645-8F0C-390FFFAE180D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140265" y="2300156"/>
            <a:ext cx="2277358" cy="4042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b="1" spc="0" baseline="0" dirty="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marL="0" lvl="0" indent="0" rtl="0">
              <a:buNone/>
            </a:pPr>
            <a:r>
              <a:rPr lang="zh-CN" altLang="en-US" noProof="0" dirty="0"/>
              <a:t>单击以编辑 </a:t>
            </a:r>
          </a:p>
        </p:txBody>
      </p:sp>
      <p:sp>
        <p:nvSpPr>
          <p:cNvPr id="24" name="内容占位符 3">
            <a:extLst>
              <a:ext uri="{FF2B5EF4-FFF2-40B4-BE49-F238E27FC236}">
                <a16:creationId xmlns:a16="http://schemas.microsoft.com/office/drawing/2014/main" id="{BBB849DC-B114-D145-9879-4FE0688BF57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40265" y="2799146"/>
            <a:ext cx="2277358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37" indent="-285737">
              <a:lnSpc>
                <a:spcPct val="100000"/>
              </a:lnSpc>
              <a:buFont typeface="Wingdings" pitchFamily="2" charset="2"/>
              <a:buChar char="§"/>
              <a:defRPr sz="1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9F0C4CE5-5F02-B143-8FD1-1B235D270DAC}"/>
              </a:ext>
            </a:extLst>
          </p:cNvPr>
          <p:cNvCxnSpPr>
            <a:cxnSpLocks/>
          </p:cNvCxnSpPr>
          <p:nvPr userDrawn="1"/>
        </p:nvCxnSpPr>
        <p:spPr>
          <a:xfrm>
            <a:off x="3427029" y="1939108"/>
            <a:ext cx="16002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接连接符​​(S) 27">
            <a:extLst>
              <a:ext uri="{FF2B5EF4-FFF2-40B4-BE49-F238E27FC236}">
                <a16:creationId xmlns:a16="http://schemas.microsoft.com/office/drawing/2014/main" id="{289A8C14-DB28-F34E-8098-168D4C75AF23}"/>
              </a:ext>
            </a:extLst>
          </p:cNvPr>
          <p:cNvCxnSpPr>
            <a:cxnSpLocks/>
          </p:cNvCxnSpPr>
          <p:nvPr userDrawn="1"/>
        </p:nvCxnSpPr>
        <p:spPr>
          <a:xfrm>
            <a:off x="6140263" y="1939108"/>
            <a:ext cx="16002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9" name="组 8">
            <a:extLst>
              <a:ext uri="{FF2B5EF4-FFF2-40B4-BE49-F238E27FC236}">
                <a16:creationId xmlns:a16="http://schemas.microsoft.com/office/drawing/2014/main" id="{5B398374-CDC7-43CC-AD51-6B0B6F8E8098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" y="4444948"/>
            <a:ext cx="2709948" cy="2413052"/>
            <a:chOff x="0" y="12289"/>
            <a:chExt cx="3550" cy="3551"/>
          </a:xfrm>
        </p:grpSpPr>
        <p:sp>
          <p:nvSpPr>
            <p:cNvPr id="25" name="任意多边形(F) 9">
              <a:extLst>
                <a:ext uri="{FF2B5EF4-FFF2-40B4-BE49-F238E27FC236}">
                  <a16:creationId xmlns:a16="http://schemas.microsoft.com/office/drawing/2014/main" id="{ACD6682D-CEFD-4EEA-8FDD-9FF6DB1C78C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zh-CN" altLang="en-US" sz="1800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9" name="任意多边形(F) 10">
              <a:extLst>
                <a:ext uri="{FF2B5EF4-FFF2-40B4-BE49-F238E27FC236}">
                  <a16:creationId xmlns:a16="http://schemas.microsoft.com/office/drawing/2014/main" id="{A57143C7-9F96-4177-A56B-E5A2B84B5A49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zh-CN" altLang="en-US" sz="1800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0" name="任意多边形 11">
              <a:extLst>
                <a:ext uri="{FF2B5EF4-FFF2-40B4-BE49-F238E27FC236}">
                  <a16:creationId xmlns:a16="http://schemas.microsoft.com/office/drawing/2014/main" id="{C8D99584-127E-446E-B7C0-01748E66E7B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zh-CN" altLang="en-US" sz="1800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279487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450" userDrawn="1">
          <p15:clr>
            <a:srgbClr val="FBAE40"/>
          </p15:clr>
        </p15:guide>
        <p15:guide id="2" pos="5310" userDrawn="1">
          <p15:clr>
            <a:srgbClr val="FBAE40"/>
          </p15:clr>
        </p15:guide>
        <p15:guide id="3" pos="1890" userDrawn="1">
          <p15:clr>
            <a:srgbClr val="FBAE40"/>
          </p15:clr>
        </p15:guide>
        <p15:guide id="4" pos="3870" userDrawn="1">
          <p15:clr>
            <a:srgbClr val="FBAE40"/>
          </p15:clr>
        </p15:guide>
        <p15:guide id="7" orient="horz" pos="1224" userDrawn="1">
          <p15:clr>
            <a:srgbClr val="FBAE40"/>
          </p15:clr>
        </p15:guide>
        <p15:guide id="8" orient="horz" pos="1440" userDrawn="1">
          <p15:clr>
            <a:srgbClr val="FBAE40"/>
          </p15:clr>
        </p15:guide>
        <p15:guide id="9" orient="horz" pos="552" userDrawn="1">
          <p15:clr>
            <a:srgbClr val="FBAE40"/>
          </p15:clr>
        </p15:guide>
        <p15:guide id="10" pos="3600" userDrawn="1">
          <p15:clr>
            <a:srgbClr val="FBAE40"/>
          </p15:clr>
        </p15:guide>
        <p15:guide id="11" pos="2160" userDrawn="1">
          <p15:clr>
            <a:srgbClr val="FBAE40"/>
          </p15:clr>
        </p15:guide>
        <p15:guide id="12" orient="horz" pos="1752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摘要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日期占位符 1">
            <a:extLst>
              <a:ext uri="{FF2B5EF4-FFF2-40B4-BE49-F238E27FC236}">
                <a16:creationId xmlns:a16="http://schemas.microsoft.com/office/drawing/2014/main" id="{3AEC2215-6A87-4062-BE25-93D7E4BB1508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8159113" y="6610349"/>
            <a:ext cx="984885" cy="247651"/>
          </a:xfrm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724525A6-10CF-484C-8AF9-0A00FBE7E179}" type="datetime5">
              <a:rPr lang="zh-CN" altLang="en-US" smtClean="0"/>
              <a:t>2024/10/23</a:t>
            </a:fld>
            <a:endParaRPr lang="zh-CN" altLang="en-US" dirty="0"/>
          </a:p>
        </p:txBody>
      </p:sp>
      <p:sp>
        <p:nvSpPr>
          <p:cNvPr id="32" name="标题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017" y="288788"/>
            <a:ext cx="6899753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DA8C895-11B9-EA40-B0F8-0F4FE98815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4377" y="2656904"/>
            <a:ext cx="3629025" cy="574318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F85D552-3AFC-4D21-A944-9D41E128A96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4377" y="2286009"/>
            <a:ext cx="3629025" cy="315915"/>
          </a:xfrm>
        </p:spPr>
        <p:txBody>
          <a:bodyPr rtlCol="0">
            <a:noAutofit/>
          </a:bodyPr>
          <a:lstStyle>
            <a:lvl1pPr>
              <a:buNone/>
              <a:defRPr sz="1800" b="1" spc="0" baseline="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zh-CN" altLang="en-US" noProof="0" dirty="0"/>
              <a:t>单击以编辑</a:t>
            </a:r>
          </a:p>
        </p:txBody>
      </p:sp>
      <p:sp>
        <p:nvSpPr>
          <p:cNvPr id="21" name="文本占位符 2">
            <a:extLst>
              <a:ext uri="{FF2B5EF4-FFF2-40B4-BE49-F238E27FC236}">
                <a16:creationId xmlns:a16="http://schemas.microsoft.com/office/drawing/2014/main" id="{BE8C2EDB-9C70-49A2-865C-E5CD77D3E7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15241" y="3841846"/>
            <a:ext cx="3629025" cy="636754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22" name="文本占位符 3">
            <a:extLst>
              <a:ext uri="{FF2B5EF4-FFF2-40B4-BE49-F238E27FC236}">
                <a16:creationId xmlns:a16="http://schemas.microsoft.com/office/drawing/2014/main" id="{EE50320A-D017-45C6-9986-94BC43911E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5241" y="3470943"/>
            <a:ext cx="3629025" cy="315915"/>
          </a:xfrm>
        </p:spPr>
        <p:txBody>
          <a:bodyPr rtlCol="0">
            <a:noAutofit/>
          </a:bodyPr>
          <a:lstStyle>
            <a:lvl1pPr>
              <a:buNone/>
              <a:defRPr sz="1800" b="1" spc="0" baseline="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zh-CN" altLang="en-US" noProof="0" dirty="0"/>
              <a:t>单击以编辑</a:t>
            </a:r>
          </a:p>
        </p:txBody>
      </p:sp>
      <p:sp>
        <p:nvSpPr>
          <p:cNvPr id="23" name="文本占位符 2">
            <a:extLst>
              <a:ext uri="{FF2B5EF4-FFF2-40B4-BE49-F238E27FC236}">
                <a16:creationId xmlns:a16="http://schemas.microsoft.com/office/drawing/2014/main" id="{673EB498-F5D2-4E15-990A-2AFA4A377CB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4377" y="5017901"/>
            <a:ext cx="3629025" cy="908340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24" name="文本占位符 3">
            <a:extLst>
              <a:ext uri="{FF2B5EF4-FFF2-40B4-BE49-F238E27FC236}">
                <a16:creationId xmlns:a16="http://schemas.microsoft.com/office/drawing/2014/main" id="{1F528150-326B-4BB3-AC38-7FC805DB6BA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14377" y="4647006"/>
            <a:ext cx="3629025" cy="315915"/>
          </a:xfrm>
        </p:spPr>
        <p:txBody>
          <a:bodyPr rtlCol="0">
            <a:noAutofit/>
          </a:bodyPr>
          <a:lstStyle>
            <a:lvl1pPr>
              <a:buNone/>
              <a:defRPr sz="1800" b="1" spc="0" baseline="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zh-CN" altLang="en-US" noProof="0" dirty="0"/>
              <a:t>单击以编辑</a:t>
            </a:r>
          </a:p>
        </p:txBody>
      </p:sp>
      <p:sp>
        <p:nvSpPr>
          <p:cNvPr id="25" name="文本占位符 2">
            <a:extLst>
              <a:ext uri="{FF2B5EF4-FFF2-40B4-BE49-F238E27FC236}">
                <a16:creationId xmlns:a16="http://schemas.microsoft.com/office/drawing/2014/main" id="{20EBEFF7-AECA-409B-9ACC-A63A168283B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99735" y="2656904"/>
            <a:ext cx="3629025" cy="574318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26" name="文本占位符 3">
            <a:extLst>
              <a:ext uri="{FF2B5EF4-FFF2-40B4-BE49-F238E27FC236}">
                <a16:creationId xmlns:a16="http://schemas.microsoft.com/office/drawing/2014/main" id="{29E4D063-8666-4D7A-B8C8-2B9383F798E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99735" y="2286009"/>
            <a:ext cx="3629025" cy="315915"/>
          </a:xfrm>
        </p:spPr>
        <p:txBody>
          <a:bodyPr rtlCol="0">
            <a:noAutofit/>
          </a:bodyPr>
          <a:lstStyle>
            <a:lvl1pPr>
              <a:buNone/>
              <a:defRPr sz="1800" b="1" spc="0" baseline="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zh-CN" altLang="en-US" noProof="0" dirty="0"/>
              <a:t>单击以编辑</a:t>
            </a:r>
          </a:p>
        </p:txBody>
      </p:sp>
      <p:sp>
        <p:nvSpPr>
          <p:cNvPr id="27" name="文本占位符 2">
            <a:extLst>
              <a:ext uri="{FF2B5EF4-FFF2-40B4-BE49-F238E27FC236}">
                <a16:creationId xmlns:a16="http://schemas.microsoft.com/office/drawing/2014/main" id="{4717B7CD-A4F9-444E-82B9-8914CB57488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799735" y="3841846"/>
            <a:ext cx="3629025" cy="908340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28" name="文本占位符 3">
            <a:extLst>
              <a:ext uri="{FF2B5EF4-FFF2-40B4-BE49-F238E27FC236}">
                <a16:creationId xmlns:a16="http://schemas.microsoft.com/office/drawing/2014/main" id="{2CF285B7-A950-4326-A4D5-F5D542D2D6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799735" y="3470943"/>
            <a:ext cx="3629025" cy="315915"/>
          </a:xfrm>
        </p:spPr>
        <p:txBody>
          <a:bodyPr rtlCol="0">
            <a:noAutofit/>
          </a:bodyPr>
          <a:lstStyle>
            <a:lvl1pPr>
              <a:buNone/>
              <a:defRPr sz="1800" b="1" spc="0" baseline="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zh-CN" altLang="en-US" noProof="0" dirty="0"/>
              <a:t>单击以编辑</a:t>
            </a:r>
          </a:p>
        </p:txBody>
      </p:sp>
      <p:grpSp>
        <p:nvGrpSpPr>
          <p:cNvPr id="35" name="组 8">
            <a:extLst>
              <a:ext uri="{FF2B5EF4-FFF2-40B4-BE49-F238E27FC236}">
                <a16:creationId xmlns:a16="http://schemas.microsoft.com/office/drawing/2014/main" id="{8C1F6FDC-00AE-4417-AF76-384D40B9A9A8}"/>
              </a:ext>
            </a:extLst>
          </p:cNvPr>
          <p:cNvGrpSpPr>
            <a:grpSpLocks/>
          </p:cNvGrpSpPr>
          <p:nvPr userDrawn="1"/>
        </p:nvGrpSpPr>
        <p:grpSpPr bwMode="auto">
          <a:xfrm rot="5400000" flipV="1">
            <a:off x="6476050" y="41998"/>
            <a:ext cx="2709948" cy="2625953"/>
            <a:chOff x="0" y="12289"/>
            <a:chExt cx="3550" cy="3551"/>
          </a:xfrm>
        </p:grpSpPr>
        <p:sp>
          <p:nvSpPr>
            <p:cNvPr id="36" name="任意多边形(F) 9">
              <a:extLst>
                <a:ext uri="{FF2B5EF4-FFF2-40B4-BE49-F238E27FC236}">
                  <a16:creationId xmlns:a16="http://schemas.microsoft.com/office/drawing/2014/main" id="{9F55D973-02AC-4EA2-97FE-B9F0C6098AB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zh-CN" altLang="en-US" sz="1800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7" name="任意多边形(F) 10">
              <a:extLst>
                <a:ext uri="{FF2B5EF4-FFF2-40B4-BE49-F238E27FC236}">
                  <a16:creationId xmlns:a16="http://schemas.microsoft.com/office/drawing/2014/main" id="{F2FA2998-3A91-480C-977D-59B0BF0C3C96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zh-CN" altLang="en-US" sz="1800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38" name="任意多边形 11">
              <a:extLst>
                <a:ext uri="{FF2B5EF4-FFF2-40B4-BE49-F238E27FC236}">
                  <a16:creationId xmlns:a16="http://schemas.microsoft.com/office/drawing/2014/main" id="{C5F4F4E8-C72E-46B0-99FD-EBC6AF2D6C0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zh-CN" altLang="en-US" sz="1800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cxnSp>
        <p:nvCxnSpPr>
          <p:cNvPr id="40" name="直接连接符​​(S) 32">
            <a:extLst>
              <a:ext uri="{FF2B5EF4-FFF2-40B4-BE49-F238E27FC236}">
                <a16:creationId xmlns:a16="http://schemas.microsoft.com/office/drawing/2014/main" id="{CB82211B-52F9-48C5-9206-195ED2D4F163}"/>
              </a:ext>
            </a:extLst>
          </p:cNvPr>
          <p:cNvCxnSpPr>
            <a:cxnSpLocks/>
          </p:cNvCxnSpPr>
          <p:nvPr userDrawn="1"/>
        </p:nvCxnSpPr>
        <p:spPr>
          <a:xfrm>
            <a:off x="714375" y="1159515"/>
            <a:ext cx="16002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0135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450" userDrawn="1">
          <p15:clr>
            <a:srgbClr val="FBAE40"/>
          </p15:clr>
        </p15:guide>
        <p15:guide id="2" pos="5310" userDrawn="1">
          <p15:clr>
            <a:srgbClr val="FBAE40"/>
          </p15:clr>
        </p15:guide>
        <p15:guide id="3" pos="1728" userDrawn="1">
          <p15:clr>
            <a:srgbClr val="FBAE40"/>
          </p15:clr>
        </p15:guide>
        <p15:guide id="4" pos="4302" userDrawn="1">
          <p15:clr>
            <a:srgbClr val="FBAE40"/>
          </p15:clr>
        </p15:guide>
        <p15:guide id="5" pos="1458" userDrawn="1">
          <p15:clr>
            <a:srgbClr val="FBAE40"/>
          </p15:clr>
        </p15:guide>
        <p15:guide id="6" pos="3006" userDrawn="1">
          <p15:clr>
            <a:srgbClr val="FBAE40"/>
          </p15:clr>
        </p15:guide>
        <p15:guide id="7" orient="horz" pos="1224" userDrawn="1">
          <p15:clr>
            <a:srgbClr val="FBAE40"/>
          </p15:clr>
        </p15:guide>
        <p15:guide id="8" orient="horz" pos="1440" userDrawn="1">
          <p15:clr>
            <a:srgbClr val="FBAE40"/>
          </p15:clr>
        </p15:guide>
        <p15:guide id="9" orient="horz" pos="552" userDrawn="1">
          <p15:clr>
            <a:srgbClr val="FBAE40"/>
          </p15:clr>
        </p15:guide>
        <p15:guide id="10" pos="4014" userDrawn="1">
          <p15:clr>
            <a:srgbClr val="FBAE40"/>
          </p15:clr>
        </p15:guide>
        <p15:guide id="11" pos="2736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谢谢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占位符 29">
            <a:extLst>
              <a:ext uri="{FF2B5EF4-FFF2-40B4-BE49-F238E27FC236}">
                <a16:creationId xmlns:a16="http://schemas.microsoft.com/office/drawing/2014/main" id="{BB778BC5-5409-574B-96E2-B45CDD940DF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0" y="5102072"/>
            <a:ext cx="3686175" cy="588795"/>
          </a:xfrm>
        </p:spPr>
        <p:txBody>
          <a:bodyPr lIns="0" tIns="0" rIns="0" bIns="0" rtlCol="0" anchor="b">
            <a:noAutofit/>
          </a:bodyPr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17" name="副标题 2">
            <a:extLst>
              <a:ext uri="{FF2B5EF4-FFF2-40B4-BE49-F238E27FC236}">
                <a16:creationId xmlns:a16="http://schemas.microsoft.com/office/drawing/2014/main" id="{32916F3A-28FA-9A4B-A780-0D687D9328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80645" y="3591101"/>
            <a:ext cx="3677533" cy="1057791"/>
          </a:xfrm>
        </p:spPr>
        <p:txBody>
          <a:bodyPr lIns="0" tIns="0" rIns="0" bIns="0" rtlCol="0">
            <a:normAutofit/>
          </a:bodyPr>
          <a:lstStyle>
            <a:lvl1pPr marL="0" indent="0" algn="l">
              <a:buNone/>
              <a:defRPr sz="1600" b="0" i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sp>
        <p:nvSpPr>
          <p:cNvPr id="26" name="标题 1">
            <a:extLst>
              <a:ext uri="{FF2B5EF4-FFF2-40B4-BE49-F238E27FC236}">
                <a16:creationId xmlns:a16="http://schemas.microsoft.com/office/drawing/2014/main" id="{E29321F6-59C5-6E4C-A846-6AD00848A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645" y="2173667"/>
            <a:ext cx="3677533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 dirty="0"/>
              <a:t>单击此处编辑母版标题样式</a:t>
            </a:r>
          </a:p>
        </p:txBody>
      </p:sp>
      <p:cxnSp>
        <p:nvCxnSpPr>
          <p:cNvPr id="27" name="直接连接符​​(S) 26">
            <a:extLst>
              <a:ext uri="{FF2B5EF4-FFF2-40B4-BE49-F238E27FC236}">
                <a16:creationId xmlns:a16="http://schemas.microsoft.com/office/drawing/2014/main" id="{AB5C3BF3-A164-DD48-BD02-4587489DA105}"/>
              </a:ext>
            </a:extLst>
          </p:cNvPr>
          <p:cNvCxnSpPr>
            <a:cxnSpLocks/>
          </p:cNvCxnSpPr>
          <p:nvPr userDrawn="1"/>
        </p:nvCxnSpPr>
        <p:spPr>
          <a:xfrm>
            <a:off x="4571998" y="3233703"/>
            <a:ext cx="16002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图片占位符 2">
            <a:extLst>
              <a:ext uri="{FF2B5EF4-FFF2-40B4-BE49-F238E27FC236}">
                <a16:creationId xmlns:a16="http://schemas.microsoft.com/office/drawing/2014/main" id="{F8C225AD-C009-894E-8AFA-C94EAA06509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127942"/>
            <a:ext cx="3820039" cy="5730058"/>
          </a:xfrm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grpSp>
        <p:nvGrpSpPr>
          <p:cNvPr id="12" name="组 8">
            <a:extLst>
              <a:ext uri="{FF2B5EF4-FFF2-40B4-BE49-F238E27FC236}">
                <a16:creationId xmlns:a16="http://schemas.microsoft.com/office/drawing/2014/main" id="{8C5C8DF6-B335-4111-88BE-614570BCE5E9}"/>
              </a:ext>
            </a:extLst>
          </p:cNvPr>
          <p:cNvGrpSpPr>
            <a:grpSpLocks/>
          </p:cNvGrpSpPr>
          <p:nvPr userDrawn="1"/>
        </p:nvGrpSpPr>
        <p:grpSpPr bwMode="auto">
          <a:xfrm rot="5400000" flipV="1">
            <a:off x="6476050" y="41998"/>
            <a:ext cx="2709948" cy="2625953"/>
            <a:chOff x="0" y="12289"/>
            <a:chExt cx="3550" cy="3551"/>
          </a:xfrm>
        </p:grpSpPr>
        <p:sp>
          <p:nvSpPr>
            <p:cNvPr id="13" name="任意多边形(F) 9">
              <a:extLst>
                <a:ext uri="{FF2B5EF4-FFF2-40B4-BE49-F238E27FC236}">
                  <a16:creationId xmlns:a16="http://schemas.microsoft.com/office/drawing/2014/main" id="{6E94A549-FB8A-4EA4-A99A-42CA4CCDF16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zh-CN" altLang="en-US" sz="1800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4" name="任意多边形(F) 10">
              <a:extLst>
                <a:ext uri="{FF2B5EF4-FFF2-40B4-BE49-F238E27FC236}">
                  <a16:creationId xmlns:a16="http://schemas.microsoft.com/office/drawing/2014/main" id="{D53D047E-7D30-4EC9-8797-1B9C41C865B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zh-CN" altLang="en-US" sz="1800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5" name="任意多边形 11">
              <a:extLst>
                <a:ext uri="{FF2B5EF4-FFF2-40B4-BE49-F238E27FC236}">
                  <a16:creationId xmlns:a16="http://schemas.microsoft.com/office/drawing/2014/main" id="{5929352F-B11A-45AF-BB6D-2C8683B278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zh-CN" altLang="en-US" sz="1800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pic>
        <p:nvPicPr>
          <p:cNvPr id="18" name="Picture 2">
            <a:extLst>
              <a:ext uri="{FF2B5EF4-FFF2-40B4-BE49-F238E27FC236}">
                <a16:creationId xmlns:a16="http://schemas.microsoft.com/office/drawing/2014/main" id="{41940EA7-E16B-4D7C-884A-95021CD3ED8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duotone>
              <a:prstClr val="black"/>
              <a:srgbClr val="4495A2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060" y="80112"/>
            <a:ext cx="2266950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91307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5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1193E7B-2A23-489C-8E96-FA626AAC2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3C686-2063-4EA9-BCFB-29E6F94CB208}" type="datetime5">
              <a:rPr lang="zh-CN" altLang="en-US" noProof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2024/10/23</a:t>
            </a:fld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0C2B062-0A0D-4278-A950-9594B287B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b="1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882EB50-0BEC-41CA-AC3F-B5500B2F6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altLang="zh-CN" noProof="0" smtClean="0"/>
              <a:pPr/>
              <a:t>‹#›</a:t>
            </a:fld>
            <a:endParaRPr lang="zh-CN" altLang="en-US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79643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8662" y="1825625"/>
            <a:ext cx="778668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</a:p>
        </p:txBody>
      </p:sp>
      <p:sp>
        <p:nvSpPr>
          <p:cNvPr id="12" name="标题占位符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7" y="365129"/>
            <a:ext cx="780097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30" name="日期占位符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244092" y="6332229"/>
            <a:ext cx="984885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8303C686-2063-4EA9-BCFB-29E6F94CB208}" type="datetime5">
              <a:rPr lang="zh-CN" altLang="en-US" noProof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2024/10/23</a:t>
            </a:fld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1" name="页脚占位符 4">
            <a:extLst>
              <a:ext uri="{FF2B5EF4-FFF2-40B4-BE49-F238E27FC236}">
                <a16:creationId xmlns:a16="http://schemas.microsoft.com/office/drawing/2014/main" id="{C9955F1C-C0B1-BA44-8905-6991FA0D1E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21092" y="6332229"/>
            <a:ext cx="1122998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b="1" dirty="0"/>
          </a:p>
        </p:txBody>
      </p:sp>
      <p:sp>
        <p:nvSpPr>
          <p:cNvPr id="32" name="幻灯片编号占位符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28663" y="6332229"/>
            <a:ext cx="39243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294A09A9-5501-47C1-A89A-A340965A2BE2}" type="slidenum">
              <a:rPr lang="en-US" altLang="zh-CN" noProof="0" smtClean="0"/>
              <a:pPr/>
              <a:t>‹#›</a:t>
            </a:fld>
            <a:endParaRPr lang="zh-CN" altLang="en-US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9" r:id="rId1"/>
    <p:sldLayoutId id="2147483694" r:id="rId2"/>
    <p:sldLayoutId id="2147483671" r:id="rId3"/>
    <p:sldLayoutId id="2147483673" r:id="rId4"/>
    <p:sldLayoutId id="2147483684" r:id="rId5"/>
    <p:sldLayoutId id="2147483675" r:id="rId6"/>
    <p:sldLayoutId id="2147483676" r:id="rId7"/>
    <p:sldLayoutId id="2147483677" r:id="rId8"/>
    <p:sldLayoutId id="2147483685" r:id="rId9"/>
    <p:sldLayoutId id="2147483688" r:id="rId10"/>
    <p:sldLayoutId id="2147483692" r:id="rId11"/>
    <p:sldLayoutId id="2147483682" r:id="rId12"/>
    <p:sldLayoutId id="2147483695" r:id="rId13"/>
  </p:sldLayoutIdLst>
  <p:hf sldNum="0" hdr="0" ftr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pos="18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558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450" userDrawn="1">
          <p15:clr>
            <a:srgbClr val="547EBF"/>
          </p15:clr>
        </p15:guide>
        <p15:guide id="8" pos="2790" userDrawn="1">
          <p15:clr>
            <a:srgbClr val="547EBF"/>
          </p15:clr>
        </p15:guide>
        <p15:guide id="9" pos="1584" userDrawn="1">
          <p15:clr>
            <a:srgbClr val="547EBF"/>
          </p15:clr>
        </p15:guide>
        <p15:guide id="10" pos="1386" userDrawn="1">
          <p15:clr>
            <a:srgbClr val="547EBF"/>
          </p15:clr>
        </p15:guide>
        <p15:guide id="11" pos="4176" userDrawn="1">
          <p15:clr>
            <a:srgbClr val="547EBF"/>
          </p15:clr>
        </p15:guide>
        <p15:guide id="12" pos="4374" userDrawn="1">
          <p15:clr>
            <a:srgbClr val="547EBF"/>
          </p15:clr>
        </p15:guide>
        <p15:guide id="13" pos="3726" userDrawn="1">
          <p15:clr>
            <a:srgbClr val="9FCC3B"/>
          </p15:clr>
        </p15:guide>
        <p15:guide id="14" pos="3906" userDrawn="1">
          <p15:clr>
            <a:srgbClr val="9FCC3B"/>
          </p15:clr>
        </p15:guide>
        <p15:guide id="15" pos="2034" userDrawn="1">
          <p15:clr>
            <a:srgbClr val="9FCC3B"/>
          </p15:clr>
        </p15:guide>
        <p15:guide id="16" pos="1854" userDrawn="1">
          <p15:clr>
            <a:srgbClr val="9FCC3B"/>
          </p15:clr>
        </p15:guide>
        <p15:guide id="17" pos="295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3E168C-8042-5B4E-A5A4-A5BF693AE2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4125" y="796954"/>
            <a:ext cx="7035750" cy="1012842"/>
          </a:xfrm>
        </p:spPr>
        <p:txBody>
          <a:bodyPr rtlCol="0"/>
          <a:lstStyle/>
          <a:p>
            <a:pPr rtl="0"/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汇编语言与接口技术</a:t>
            </a:r>
          </a:p>
        </p:txBody>
      </p:sp>
      <p:sp>
        <p:nvSpPr>
          <p:cNvPr id="4" name="标题 2">
            <a:extLst>
              <a:ext uri="{FF2B5EF4-FFF2-40B4-BE49-F238E27FC236}">
                <a16:creationId xmlns:a16="http://schemas.microsoft.com/office/drawing/2014/main" id="{D8FDA9AE-23B3-4993-835D-79FB936C48B4}"/>
              </a:ext>
            </a:extLst>
          </p:cNvPr>
          <p:cNvSpPr txBox="1">
            <a:spLocks/>
          </p:cNvSpPr>
          <p:nvPr/>
        </p:nvSpPr>
        <p:spPr>
          <a:xfrm>
            <a:off x="1126710" y="2061281"/>
            <a:ext cx="6890579" cy="610863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i="0" kern="1200" spc="100" baseline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r"/>
            <a:r>
              <a:rPr lang="en-US" altLang="zh-CN" sz="2800" dirty="0">
                <a:solidFill>
                  <a:srgbClr val="4495A2"/>
                </a:solidFill>
              </a:rPr>
              <a:t>—— </a:t>
            </a:r>
            <a:r>
              <a:rPr lang="zh-CN" altLang="en-US" sz="2800" dirty="0">
                <a:solidFill>
                  <a:srgbClr val="4495A2"/>
                </a:solidFill>
              </a:rPr>
              <a:t>实验一 基本编程练习</a:t>
            </a:r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9AD45187-E2D5-47BA-96B1-81458D51D5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5472353"/>
              </p:ext>
            </p:extLst>
          </p:nvPr>
        </p:nvGraphicFramePr>
        <p:xfrm>
          <a:off x="4248973" y="3629597"/>
          <a:ext cx="4669559" cy="1112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09232">
                  <a:extLst>
                    <a:ext uri="{9D8B030D-6E8A-4147-A177-3AD203B41FA5}">
                      <a16:colId xmlns:a16="http://schemas.microsoft.com/office/drawing/2014/main" val="210663870"/>
                    </a:ext>
                  </a:extLst>
                </a:gridCol>
                <a:gridCol w="3460327">
                  <a:extLst>
                    <a:ext uri="{9D8B030D-6E8A-4147-A177-3AD203B41FA5}">
                      <a16:colId xmlns:a16="http://schemas.microsoft.com/office/drawing/2014/main" val="2037245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7CA6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主讲教师：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7CA6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舒高峰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0855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7CA6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电子邮箱：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7CA6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gaofeng.shu@henu.edu.cn</a:t>
                      </a:r>
                      <a:endParaRPr lang="zh-CN" altLang="en-US" dirty="0">
                        <a:solidFill>
                          <a:srgbClr val="7CA65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32275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7CA6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联系电话：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7CA6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13161693313</a:t>
                      </a:r>
                      <a:endParaRPr lang="zh-CN" altLang="en-US" dirty="0">
                        <a:solidFill>
                          <a:srgbClr val="7CA65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25396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0950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>
            <a:extLst>
              <a:ext uri="{FF2B5EF4-FFF2-40B4-BE49-F238E27FC236}">
                <a16:creationId xmlns:a16="http://schemas.microsoft.com/office/drawing/2014/main" id="{53BA7E79-B0A8-4025-9E5E-EAC7789C8F66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7C041877-94E5-4D84-A050-73F304948E8F}" type="datetime5">
              <a:rPr lang="zh-CN" altLang="en-US" smtClean="0"/>
              <a:t>2024/10/23</a:t>
            </a:fld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353F689-2E51-BF4F-AE47-7CEB7CC4C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1233" y="278120"/>
            <a:ext cx="7735857" cy="610863"/>
          </a:xfrm>
        </p:spPr>
        <p:txBody>
          <a:bodyPr rtlCol="0">
            <a:normAutofit fontScale="90000"/>
          </a:bodyPr>
          <a:lstStyle/>
          <a:p>
            <a:r>
              <a:rPr lang="zh-CN" altLang="en-US" dirty="0"/>
              <a:t>程序设计基础</a:t>
            </a:r>
            <a:r>
              <a:rPr lang="en-US" altLang="zh-CN" dirty="0"/>
              <a:t>-</a:t>
            </a:r>
            <a:r>
              <a:rPr lang="en-US" altLang="zh-CN" sz="2800" dirty="0"/>
              <a:t>DOS</a:t>
            </a:r>
            <a:r>
              <a:rPr lang="zh-CN" altLang="en-US" sz="2800" dirty="0"/>
              <a:t>功能调用的使用方法</a:t>
            </a:r>
            <a:endParaRPr lang="zh-CN" altLang="en-US" sz="2800" dirty="0">
              <a:latin typeface="Consolas" panose="020B0609020204030204" pitchFamily="49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8F1A81D-7BC1-4ED3-A5AE-D705A01B0027}"/>
              </a:ext>
            </a:extLst>
          </p:cNvPr>
          <p:cNvSpPr txBox="1"/>
          <p:nvPr/>
        </p:nvSpPr>
        <p:spPr>
          <a:xfrm>
            <a:off x="251501" y="198830"/>
            <a:ext cx="88106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4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01</a:t>
            </a:r>
            <a:endParaRPr lang="zh-CN" altLang="en-US" sz="4400" dirty="0">
              <a:solidFill>
                <a:schemeClr val="bg1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cxnSp>
        <p:nvCxnSpPr>
          <p:cNvPr id="38" name="直接连接符​​(S) 32">
            <a:extLst>
              <a:ext uri="{FF2B5EF4-FFF2-40B4-BE49-F238E27FC236}">
                <a16:creationId xmlns:a16="http://schemas.microsoft.com/office/drawing/2014/main" id="{44FA863A-BCC7-480F-9582-D068990344C3}"/>
              </a:ext>
            </a:extLst>
          </p:cNvPr>
          <p:cNvCxnSpPr>
            <a:cxnSpLocks/>
          </p:cNvCxnSpPr>
          <p:nvPr/>
        </p:nvCxnSpPr>
        <p:spPr>
          <a:xfrm>
            <a:off x="691536" y="1642227"/>
            <a:ext cx="1350206" cy="0"/>
          </a:xfrm>
          <a:prstGeom prst="line">
            <a:avLst/>
          </a:prstGeom>
          <a:ln w="101600">
            <a:solidFill>
              <a:srgbClr val="4495A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文本占位符 3">
            <a:extLst>
              <a:ext uri="{FF2B5EF4-FFF2-40B4-BE49-F238E27FC236}">
                <a16:creationId xmlns:a16="http://schemas.microsoft.com/office/drawing/2014/main" id="{AAEAF377-295A-4D37-975B-EF01F2B826C3}"/>
              </a:ext>
            </a:extLst>
          </p:cNvPr>
          <p:cNvSpPr txBox="1">
            <a:spLocks/>
          </p:cNvSpPr>
          <p:nvPr/>
        </p:nvSpPr>
        <p:spPr>
          <a:xfrm>
            <a:off x="692035" y="1117056"/>
            <a:ext cx="5188065" cy="3937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 dirty="0"/>
              <a:t>DOS </a:t>
            </a:r>
            <a:r>
              <a:rPr lang="zh-CN" altLang="en-US" b="1" dirty="0"/>
              <a:t>功能调用使用方法</a:t>
            </a:r>
          </a:p>
        </p:txBody>
      </p:sp>
      <p:sp>
        <p:nvSpPr>
          <p:cNvPr id="14" name="文本占位符 3">
            <a:extLst>
              <a:ext uri="{FF2B5EF4-FFF2-40B4-BE49-F238E27FC236}">
                <a16:creationId xmlns:a16="http://schemas.microsoft.com/office/drawing/2014/main" id="{24A4B366-93AE-4642-8328-C61BE70AC932}"/>
              </a:ext>
            </a:extLst>
          </p:cNvPr>
          <p:cNvSpPr txBox="1">
            <a:spLocks/>
          </p:cNvSpPr>
          <p:nvPr/>
        </p:nvSpPr>
        <p:spPr>
          <a:xfrm>
            <a:off x="1132569" y="1773686"/>
            <a:ext cx="7516130" cy="26335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设置入口参数</a:t>
            </a:r>
          </a:p>
          <a:p>
            <a:pPr marL="1142966" lvl="1" indent="-457200">
              <a:buFont typeface="+mj-ea"/>
              <a:buAutoNum type="circleNumDbPlain"/>
            </a:pPr>
            <a:r>
              <a:rPr lang="en-US" altLang="zh-CN" sz="2000" dirty="0">
                <a:latin typeface="Consolas" panose="020B0609020204030204" pitchFamily="49" charset="0"/>
              </a:rPr>
              <a:t>(AH)=</a:t>
            </a:r>
            <a:r>
              <a:rPr lang="zh-CN" altLang="en-US" sz="2000" dirty="0"/>
              <a:t>功能调用号</a:t>
            </a:r>
          </a:p>
          <a:p>
            <a:pPr marL="1142966" lvl="1" indent="-457200">
              <a:buFont typeface="+mj-ea"/>
              <a:buAutoNum type="circleNumDbPlain"/>
            </a:pPr>
            <a:r>
              <a:rPr lang="zh-CN" altLang="en-US" sz="2000" dirty="0"/>
              <a:t>其他参数根据功能需要而不同，也可没有</a:t>
            </a:r>
          </a:p>
          <a:p>
            <a:pPr marL="457200" indent="-457200">
              <a:buFont typeface="+mj-lt"/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执行指令 </a:t>
            </a:r>
            <a:r>
              <a:rPr lang="en-US" altLang="zh-CN" b="1" dirty="0">
                <a:solidFill>
                  <a:srgbClr val="7CA655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INT 21H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，调用相应的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DOS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模块</a:t>
            </a:r>
          </a:p>
          <a:p>
            <a:pPr marL="457200" indent="-457200">
              <a:buFont typeface="+mj-lt"/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获得出口参数</a:t>
            </a:r>
          </a:p>
          <a:p>
            <a:pPr marL="1142966" lvl="1" indent="-457200">
              <a:buFont typeface="+mj-ea"/>
              <a:buAutoNum type="circleNumDbPlain"/>
            </a:pPr>
            <a:r>
              <a:rPr lang="zh-CN" altLang="en-US" sz="2000" dirty="0">
                <a:latin typeface="Consolas" panose="020B0609020204030204" pitchFamily="49" charset="0"/>
              </a:rPr>
              <a:t>根据不同的功能从不同的位置获取，也可没有</a:t>
            </a:r>
          </a:p>
        </p:txBody>
      </p:sp>
      <p:cxnSp>
        <p:nvCxnSpPr>
          <p:cNvPr id="13" name="直接连接符​​(S) 32">
            <a:extLst>
              <a:ext uri="{FF2B5EF4-FFF2-40B4-BE49-F238E27FC236}">
                <a16:creationId xmlns:a16="http://schemas.microsoft.com/office/drawing/2014/main" id="{3788CA56-8542-47DC-BD13-2FA5BD6E6C0C}"/>
              </a:ext>
            </a:extLst>
          </p:cNvPr>
          <p:cNvCxnSpPr>
            <a:cxnSpLocks/>
          </p:cNvCxnSpPr>
          <p:nvPr/>
        </p:nvCxnSpPr>
        <p:spPr>
          <a:xfrm>
            <a:off x="691536" y="4765868"/>
            <a:ext cx="1350206" cy="0"/>
          </a:xfrm>
          <a:prstGeom prst="line">
            <a:avLst/>
          </a:prstGeom>
          <a:ln w="101600">
            <a:solidFill>
              <a:srgbClr val="4495A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文本占位符 3">
            <a:extLst>
              <a:ext uri="{FF2B5EF4-FFF2-40B4-BE49-F238E27FC236}">
                <a16:creationId xmlns:a16="http://schemas.microsoft.com/office/drawing/2014/main" id="{2F5B2FC6-C14C-4229-9CAD-82DA623F39A1}"/>
              </a:ext>
            </a:extLst>
          </p:cNvPr>
          <p:cNvSpPr txBox="1">
            <a:spLocks/>
          </p:cNvSpPr>
          <p:nvPr/>
        </p:nvSpPr>
        <p:spPr>
          <a:xfrm>
            <a:off x="692035" y="4240697"/>
            <a:ext cx="5188065" cy="3937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/>
              <a:t>常用的 </a:t>
            </a:r>
            <a:r>
              <a:rPr lang="en-US" altLang="zh-CN" b="1" dirty="0"/>
              <a:t>DOS </a:t>
            </a:r>
            <a:r>
              <a:rPr lang="zh-CN" altLang="en-US" b="1" dirty="0"/>
              <a:t>功能调用</a:t>
            </a:r>
          </a:p>
        </p:txBody>
      </p:sp>
      <p:sp>
        <p:nvSpPr>
          <p:cNvPr id="16" name="文本占位符 3">
            <a:extLst>
              <a:ext uri="{FF2B5EF4-FFF2-40B4-BE49-F238E27FC236}">
                <a16:creationId xmlns:a16="http://schemas.microsoft.com/office/drawing/2014/main" id="{AA8BF9F8-3DD7-49CE-AB79-916383968499}"/>
              </a:ext>
            </a:extLst>
          </p:cNvPr>
          <p:cNvSpPr txBox="1">
            <a:spLocks/>
          </p:cNvSpPr>
          <p:nvPr/>
        </p:nvSpPr>
        <p:spPr>
          <a:xfrm>
            <a:off x="1132569" y="4888497"/>
            <a:ext cx="7516130" cy="188843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单字符输入 </a:t>
            </a:r>
            <a:r>
              <a:rPr lang="en-US" altLang="zh-CN" sz="2000" dirty="0">
                <a:sym typeface="Wingdings" panose="05000000000000000000" pitchFamily="2" charset="2"/>
              </a:rPr>
              <a:t>  </a:t>
            </a:r>
            <a:r>
              <a:rPr lang="zh-CN" altLang="en-US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	</a:t>
            </a:r>
            <a:r>
              <a:rPr lang="en-US" altLang="zh-CN" sz="2000" b="1" dirty="0">
                <a:solidFill>
                  <a:srgbClr val="7CA655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01</a:t>
            </a:r>
            <a:r>
              <a:rPr lang="en-US" altLang="zh-CN" sz="2000" b="1" dirty="0">
                <a:solidFill>
                  <a:srgbClr val="7CA6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b="1" dirty="0">
                <a:solidFill>
                  <a:srgbClr val="7CA655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号</a:t>
            </a:r>
            <a:r>
              <a:rPr lang="zh-CN" altLang="en-US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功能调用</a:t>
            </a:r>
          </a:p>
          <a:p>
            <a:pPr marL="457200" indent="-45720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单字符输出 </a:t>
            </a:r>
            <a:r>
              <a:rPr lang="en-US" altLang="zh-CN" sz="2000" dirty="0">
                <a:sym typeface="Wingdings" panose="05000000000000000000" pitchFamily="2" charset="2"/>
              </a:rPr>
              <a:t>  </a:t>
            </a:r>
            <a:r>
              <a:rPr lang="zh-CN" altLang="en-US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	</a:t>
            </a:r>
            <a:r>
              <a:rPr lang="en-US" altLang="zh-CN" sz="2000" b="1" dirty="0">
                <a:solidFill>
                  <a:srgbClr val="7CA655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02</a:t>
            </a:r>
            <a:r>
              <a:rPr lang="en-US" altLang="zh-CN" sz="2000" b="1" dirty="0">
                <a:solidFill>
                  <a:srgbClr val="7CA6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b="1" dirty="0">
                <a:solidFill>
                  <a:srgbClr val="7CA655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号</a:t>
            </a:r>
            <a:r>
              <a:rPr lang="zh-CN" altLang="en-US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功能调用</a:t>
            </a:r>
          </a:p>
          <a:p>
            <a:pPr marL="457200" indent="-45720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字符串输出 </a:t>
            </a:r>
            <a:r>
              <a:rPr lang="en-US" altLang="zh-CN" sz="2000" dirty="0">
                <a:sym typeface="Wingdings" panose="05000000000000000000" pitchFamily="2" charset="2"/>
              </a:rPr>
              <a:t>  </a:t>
            </a:r>
            <a:r>
              <a:rPr lang="zh-CN" altLang="en-US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	</a:t>
            </a:r>
            <a:r>
              <a:rPr lang="en-US" altLang="zh-CN" sz="2000" b="1" dirty="0">
                <a:solidFill>
                  <a:srgbClr val="7CA655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09</a:t>
            </a:r>
            <a:r>
              <a:rPr lang="en-US" altLang="zh-CN" sz="2000" b="1" dirty="0">
                <a:solidFill>
                  <a:srgbClr val="7CA6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b="1" dirty="0">
                <a:solidFill>
                  <a:srgbClr val="7CA655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号</a:t>
            </a:r>
            <a:r>
              <a:rPr lang="zh-CN" altLang="en-US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功能调用</a:t>
            </a:r>
          </a:p>
          <a:p>
            <a:pPr marL="457200" indent="-45720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字符串输入 </a:t>
            </a:r>
            <a:r>
              <a:rPr lang="en-US" altLang="zh-CN" sz="2000" dirty="0">
                <a:sym typeface="Wingdings" panose="05000000000000000000" pitchFamily="2" charset="2"/>
              </a:rPr>
              <a:t>  </a:t>
            </a:r>
            <a:r>
              <a:rPr lang="zh-CN" altLang="en-US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	</a:t>
            </a:r>
            <a:r>
              <a:rPr lang="en-US" altLang="zh-CN" sz="2000" b="1" dirty="0">
                <a:solidFill>
                  <a:srgbClr val="7CA655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0A</a:t>
            </a:r>
            <a:r>
              <a:rPr lang="en-US" altLang="zh-CN" sz="2000" b="1" dirty="0">
                <a:solidFill>
                  <a:srgbClr val="7CA6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b="1" dirty="0">
                <a:solidFill>
                  <a:srgbClr val="7CA655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号</a:t>
            </a:r>
            <a:r>
              <a:rPr lang="zh-CN" altLang="en-US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功能调用</a:t>
            </a:r>
          </a:p>
          <a:p>
            <a:pPr marL="457200" indent="-45720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程序结束返回 </a:t>
            </a:r>
            <a:r>
              <a:rPr lang="en-US" altLang="zh-CN" sz="2000" dirty="0">
                <a:sym typeface="Wingdings" panose="05000000000000000000" pitchFamily="2" charset="2"/>
              </a:rPr>
              <a:t>  </a:t>
            </a:r>
            <a:r>
              <a:rPr lang="zh-CN" altLang="en-US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	</a:t>
            </a:r>
            <a:r>
              <a:rPr lang="en-US" altLang="zh-CN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4C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号功能调用</a:t>
            </a:r>
          </a:p>
        </p:txBody>
      </p:sp>
    </p:spTree>
    <p:extLst>
      <p:ext uri="{BB962C8B-B14F-4D97-AF65-F5344CB8AC3E}">
        <p14:creationId xmlns:p14="http://schemas.microsoft.com/office/powerpoint/2010/main" val="1826598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>
            <a:extLst>
              <a:ext uri="{FF2B5EF4-FFF2-40B4-BE49-F238E27FC236}">
                <a16:creationId xmlns:a16="http://schemas.microsoft.com/office/drawing/2014/main" id="{53BA7E79-B0A8-4025-9E5E-EAC7789C8F66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7C041877-94E5-4D84-A050-73F304948E8F}" type="datetime5">
              <a:rPr lang="zh-CN" altLang="en-US" smtClean="0"/>
              <a:t>2024/10/23</a:t>
            </a:fld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353F689-2E51-BF4F-AE47-7CEB7CC4C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1233" y="278120"/>
            <a:ext cx="7735857" cy="610863"/>
          </a:xfrm>
        </p:spPr>
        <p:txBody>
          <a:bodyPr rtlCol="0">
            <a:normAutofit fontScale="90000"/>
          </a:bodyPr>
          <a:lstStyle/>
          <a:p>
            <a:r>
              <a:rPr lang="zh-CN" altLang="en-US" dirty="0"/>
              <a:t>程序设计基础</a:t>
            </a:r>
            <a:r>
              <a:rPr lang="en-US" altLang="zh-CN" dirty="0"/>
              <a:t>-</a:t>
            </a:r>
            <a:r>
              <a:rPr lang="zh-CN" altLang="en-US" sz="2800" dirty="0"/>
              <a:t>单字符输入</a:t>
            </a:r>
            <a:r>
              <a:rPr lang="en-US" altLang="zh-CN" sz="2800" dirty="0"/>
              <a:t>(</a:t>
            </a:r>
            <a:r>
              <a:rPr lang="en-US" altLang="zh-CN" sz="2800" dirty="0">
                <a:latin typeface="Consolas" panose="020B0609020204030204" pitchFamily="49" charset="0"/>
              </a:rPr>
              <a:t>01</a:t>
            </a:r>
            <a:r>
              <a:rPr lang="zh-CN" altLang="en-US" sz="2800" dirty="0"/>
              <a:t>号功能调用</a:t>
            </a:r>
            <a:r>
              <a:rPr lang="en-US" altLang="zh-CN" sz="2800" dirty="0"/>
              <a:t>)</a:t>
            </a:r>
            <a:endParaRPr lang="zh-CN" altLang="en-US" sz="2800" dirty="0">
              <a:latin typeface="Consolas" panose="020B0609020204030204" pitchFamily="49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8F1A81D-7BC1-4ED3-A5AE-D705A01B0027}"/>
              </a:ext>
            </a:extLst>
          </p:cNvPr>
          <p:cNvSpPr txBox="1"/>
          <p:nvPr/>
        </p:nvSpPr>
        <p:spPr>
          <a:xfrm>
            <a:off x="251501" y="198830"/>
            <a:ext cx="88106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4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01</a:t>
            </a:r>
            <a:endParaRPr lang="zh-CN" altLang="en-US" sz="4400" dirty="0">
              <a:solidFill>
                <a:schemeClr val="bg1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cxnSp>
        <p:nvCxnSpPr>
          <p:cNvPr id="38" name="直接连接符​​(S) 32">
            <a:extLst>
              <a:ext uri="{FF2B5EF4-FFF2-40B4-BE49-F238E27FC236}">
                <a16:creationId xmlns:a16="http://schemas.microsoft.com/office/drawing/2014/main" id="{44FA863A-BCC7-480F-9582-D068990344C3}"/>
              </a:ext>
            </a:extLst>
          </p:cNvPr>
          <p:cNvCxnSpPr>
            <a:cxnSpLocks/>
          </p:cNvCxnSpPr>
          <p:nvPr/>
        </p:nvCxnSpPr>
        <p:spPr>
          <a:xfrm>
            <a:off x="691536" y="1642227"/>
            <a:ext cx="1350206" cy="0"/>
          </a:xfrm>
          <a:prstGeom prst="line">
            <a:avLst/>
          </a:prstGeom>
          <a:ln w="101600">
            <a:solidFill>
              <a:srgbClr val="4495A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文本占位符 3">
            <a:extLst>
              <a:ext uri="{FF2B5EF4-FFF2-40B4-BE49-F238E27FC236}">
                <a16:creationId xmlns:a16="http://schemas.microsoft.com/office/drawing/2014/main" id="{AAEAF377-295A-4D37-975B-EF01F2B826C3}"/>
              </a:ext>
            </a:extLst>
          </p:cNvPr>
          <p:cNvSpPr txBox="1">
            <a:spLocks/>
          </p:cNvSpPr>
          <p:nvPr/>
        </p:nvSpPr>
        <p:spPr>
          <a:xfrm>
            <a:off x="692035" y="1117056"/>
            <a:ext cx="5188065" cy="3937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 dirty="0"/>
              <a:t>01 </a:t>
            </a:r>
            <a:r>
              <a:rPr lang="zh-CN" altLang="en-US" b="1" dirty="0"/>
              <a:t>号功能调用</a:t>
            </a:r>
          </a:p>
        </p:txBody>
      </p:sp>
      <p:sp>
        <p:nvSpPr>
          <p:cNvPr id="14" name="文本占位符 3">
            <a:extLst>
              <a:ext uri="{FF2B5EF4-FFF2-40B4-BE49-F238E27FC236}">
                <a16:creationId xmlns:a16="http://schemas.microsoft.com/office/drawing/2014/main" id="{24A4B366-93AE-4642-8328-C61BE70AC932}"/>
              </a:ext>
            </a:extLst>
          </p:cNvPr>
          <p:cNvSpPr txBox="1">
            <a:spLocks/>
          </p:cNvSpPr>
          <p:nvPr/>
        </p:nvSpPr>
        <p:spPr>
          <a:xfrm>
            <a:off x="1132569" y="1862212"/>
            <a:ext cx="7516130" cy="144278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功能调用号：</a:t>
            </a:r>
            <a:r>
              <a:rPr lang="en-US" altLang="zh-CN" b="1" dirty="0">
                <a:solidFill>
                  <a:srgbClr val="7CA655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01H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入口参数：无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出口参数： </a:t>
            </a:r>
            <a:r>
              <a:rPr lang="en-US" altLang="zh-CN" b="1" dirty="0">
                <a:solidFill>
                  <a:srgbClr val="7CA655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(AL)</a:t>
            </a:r>
            <a:r>
              <a:rPr lang="en-US" altLang="zh-CN" dirty="0">
                <a:latin typeface="Consolas" panose="020B0609020204030204" pitchFamily="49" charset="0"/>
                <a:ea typeface="微软雅黑" panose="020B0503020204020204" pitchFamily="34" charset="-122"/>
              </a:rPr>
              <a:t>=</a:t>
            </a:r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</a:rPr>
              <a:t>输入字符的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Consolas" panose="020B0609020204030204" pitchFamily="49" charset="0"/>
                <a:ea typeface="微软雅黑" panose="020B0503020204020204" pitchFamily="34" charset="-122"/>
              </a:rPr>
              <a:t>ASCII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</a:rPr>
              <a:t>码</a:t>
            </a:r>
            <a:endParaRPr lang="zh-CN" altLang="en-US" sz="2000" dirty="0">
              <a:latin typeface="Consolas" panose="020B0609020204030204" pitchFamily="49" charset="0"/>
            </a:endParaRPr>
          </a:p>
        </p:txBody>
      </p:sp>
      <p:cxnSp>
        <p:nvCxnSpPr>
          <p:cNvPr id="9" name="直接连接符​​(S) 32">
            <a:extLst>
              <a:ext uri="{FF2B5EF4-FFF2-40B4-BE49-F238E27FC236}">
                <a16:creationId xmlns:a16="http://schemas.microsoft.com/office/drawing/2014/main" id="{352DF347-13C6-4182-9E11-C14E4730B253}"/>
              </a:ext>
            </a:extLst>
          </p:cNvPr>
          <p:cNvCxnSpPr>
            <a:cxnSpLocks/>
          </p:cNvCxnSpPr>
          <p:nvPr/>
        </p:nvCxnSpPr>
        <p:spPr>
          <a:xfrm>
            <a:off x="691536" y="3870840"/>
            <a:ext cx="1350206" cy="0"/>
          </a:xfrm>
          <a:prstGeom prst="line">
            <a:avLst/>
          </a:prstGeom>
          <a:ln w="101600">
            <a:solidFill>
              <a:srgbClr val="4495A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文本占位符 3">
            <a:extLst>
              <a:ext uri="{FF2B5EF4-FFF2-40B4-BE49-F238E27FC236}">
                <a16:creationId xmlns:a16="http://schemas.microsoft.com/office/drawing/2014/main" id="{6783FEE8-9EA8-4886-848C-4780965E764E}"/>
              </a:ext>
            </a:extLst>
          </p:cNvPr>
          <p:cNvSpPr txBox="1">
            <a:spLocks/>
          </p:cNvSpPr>
          <p:nvPr/>
        </p:nvSpPr>
        <p:spPr>
          <a:xfrm>
            <a:off x="692035" y="3345669"/>
            <a:ext cx="5188065" cy="3937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 dirty="0"/>
              <a:t>01 </a:t>
            </a:r>
            <a:r>
              <a:rPr lang="zh-CN" altLang="en-US" b="1" dirty="0"/>
              <a:t>号功能调用示例</a:t>
            </a:r>
          </a:p>
        </p:txBody>
      </p:sp>
      <p:sp>
        <p:nvSpPr>
          <p:cNvPr id="12" name="文本占位符 3">
            <a:extLst>
              <a:ext uri="{FF2B5EF4-FFF2-40B4-BE49-F238E27FC236}">
                <a16:creationId xmlns:a16="http://schemas.microsoft.com/office/drawing/2014/main" id="{58FADD9A-6688-45E9-B900-A13BD93B36AB}"/>
              </a:ext>
            </a:extLst>
          </p:cNvPr>
          <p:cNvSpPr txBox="1">
            <a:spLocks/>
          </p:cNvSpPr>
          <p:nvPr/>
        </p:nvSpPr>
        <p:spPr>
          <a:xfrm>
            <a:off x="1132569" y="4090824"/>
            <a:ext cx="7516130" cy="276717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从键盘上获取一位十进制数据</a:t>
            </a:r>
          </a:p>
          <a:p>
            <a:pPr marL="1028666" lvl="1" indent="-342900">
              <a:buFont typeface="Wingdings" panose="05000000000000000000" pitchFamily="2" charset="2"/>
              <a:buChar char="n"/>
            </a:pPr>
            <a:r>
              <a:rPr lang="zh-CN" altLang="en-US" sz="2000" dirty="0"/>
              <a:t>指令序列：		</a:t>
            </a:r>
          </a:p>
          <a:p>
            <a:pPr marL="1028666" lvl="1" indent="-342900">
              <a:buFont typeface="Wingdings" panose="05000000000000000000" pitchFamily="2" charset="2"/>
              <a:buChar char="n"/>
            </a:pPr>
            <a:endParaRPr lang="en-US" altLang="zh-CN" sz="2000" dirty="0"/>
          </a:p>
          <a:p>
            <a:pPr lvl="1" indent="0">
              <a:buNone/>
            </a:pPr>
            <a:endParaRPr lang="en-US" altLang="zh-CN" sz="2000" dirty="0"/>
          </a:p>
          <a:p>
            <a:pPr marL="1028666" lvl="1" indent="-342900">
              <a:buFont typeface="Wingdings" panose="05000000000000000000" pitchFamily="2" charset="2"/>
              <a:buChar char="n"/>
            </a:pPr>
            <a:r>
              <a:rPr lang="zh-CN" altLang="en-US" sz="2000" dirty="0"/>
              <a:t>执行时状态：光标等待键盘输入，输入一个字符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1”</a:t>
            </a:r>
            <a:r>
              <a:rPr lang="zh-CN" altLang="en-US" sz="2000" dirty="0"/>
              <a:t>后返回，</a:t>
            </a:r>
            <a:r>
              <a:rPr lang="zh-CN" altLang="en-US" sz="2000" b="1" dirty="0"/>
              <a:t>在屏幕上可看到输入的字符</a:t>
            </a:r>
          </a:p>
          <a:p>
            <a:pPr marL="1028666" lvl="1" indent="-342900">
              <a:buFont typeface="Wingdings" panose="05000000000000000000" pitchFamily="2" charset="2"/>
              <a:buChar char="n"/>
            </a:pPr>
            <a:r>
              <a:rPr lang="zh-CN" altLang="en-US" sz="2000" dirty="0"/>
              <a:t>出口参数： </a:t>
            </a:r>
            <a:r>
              <a:rPr lang="en-US" altLang="zh-CN" sz="2000" dirty="0">
                <a:latin typeface="Consolas" panose="020B0609020204030204" pitchFamily="49" charset="0"/>
              </a:rPr>
              <a:t>(AL)=31H</a:t>
            </a:r>
          </a:p>
          <a:p>
            <a:pPr marL="1028666" lvl="1" indent="-342900">
              <a:buFont typeface="Wingdings" panose="05000000000000000000" pitchFamily="2" charset="2"/>
              <a:buChar char="n"/>
            </a:pPr>
            <a:r>
              <a:rPr lang="zh-CN" altLang="en-US" sz="2000" dirty="0"/>
              <a:t>结果处理： </a:t>
            </a:r>
            <a:r>
              <a:rPr lang="zh-CN" altLang="en-US" sz="2000" dirty="0">
                <a:latin typeface="Consolas" panose="020B0609020204030204" pitchFamily="49" charset="0"/>
              </a:rPr>
              <a:t>所需的十进制数据 </a:t>
            </a:r>
            <a:r>
              <a:rPr lang="en-US" altLang="zh-CN" sz="2000" dirty="0">
                <a:latin typeface="Consolas" panose="020B0609020204030204" pitchFamily="49" charset="0"/>
              </a:rPr>
              <a:t>= (AL) - 30H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F6D44CF-996D-4698-8C42-B7202D69D93F}"/>
              </a:ext>
            </a:extLst>
          </p:cNvPr>
          <p:cNvSpPr txBox="1"/>
          <p:nvPr/>
        </p:nvSpPr>
        <p:spPr>
          <a:xfrm>
            <a:off x="3428999" y="4512527"/>
            <a:ext cx="1905000" cy="70788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pt-BR" altLang="zh-CN" sz="2000" b="1" dirty="0">
                <a:solidFill>
                  <a:srgbClr val="0000FF"/>
                </a:solidFill>
                <a:latin typeface="Courier New" panose="02070309020205020404" pitchFamily="49" charset="0"/>
              </a:rPr>
              <a:t>MOV</a:t>
            </a:r>
            <a:r>
              <a:rPr lang="pt-BR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pt-BR" altLang="zh-CN" sz="2000" b="1" dirty="0">
                <a:solidFill>
                  <a:srgbClr val="8080FF"/>
                </a:solidFill>
                <a:latin typeface="Courier New" panose="02070309020205020404" pitchFamily="49" charset="0"/>
              </a:rPr>
              <a:t>AH</a:t>
            </a:r>
            <a:r>
              <a:rPr lang="pt-BR" altLang="zh-CN" sz="20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pt-BR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pt-BR" altLang="zh-CN" sz="2000" dirty="0">
                <a:solidFill>
                  <a:srgbClr val="FF8000"/>
                </a:solidFill>
                <a:latin typeface="Courier New" panose="02070309020205020404" pitchFamily="49" charset="0"/>
              </a:rPr>
              <a:t>01H</a:t>
            </a:r>
            <a:endParaRPr lang="pt-BR" altLang="zh-CN" sz="20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pt-BR" altLang="zh-CN" sz="2000" b="1" dirty="0">
                <a:solidFill>
                  <a:srgbClr val="0000FF"/>
                </a:solidFill>
                <a:latin typeface="Courier New" panose="02070309020205020404" pitchFamily="49" charset="0"/>
              </a:rPr>
              <a:t>INT</a:t>
            </a:r>
            <a:r>
              <a:rPr lang="pt-BR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pt-BR" altLang="zh-CN" sz="2000" dirty="0">
                <a:solidFill>
                  <a:srgbClr val="FF8000"/>
                </a:solidFill>
                <a:latin typeface="Courier New" panose="02070309020205020404" pitchFamily="49" charset="0"/>
              </a:rPr>
              <a:t>21H</a:t>
            </a:r>
            <a:endParaRPr lang="pt-BR" altLang="zh-CN" sz="2000" dirty="0"/>
          </a:p>
        </p:txBody>
      </p:sp>
    </p:spTree>
    <p:extLst>
      <p:ext uri="{BB962C8B-B14F-4D97-AF65-F5344CB8AC3E}">
        <p14:creationId xmlns:p14="http://schemas.microsoft.com/office/powerpoint/2010/main" val="30589979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>
            <a:extLst>
              <a:ext uri="{FF2B5EF4-FFF2-40B4-BE49-F238E27FC236}">
                <a16:creationId xmlns:a16="http://schemas.microsoft.com/office/drawing/2014/main" id="{53BA7E79-B0A8-4025-9E5E-EAC7789C8F66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7C041877-94E5-4D84-A050-73F304948E8F}" type="datetime5">
              <a:rPr lang="zh-CN" altLang="en-US" smtClean="0"/>
              <a:t>2024/10/23</a:t>
            </a:fld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353F689-2E51-BF4F-AE47-7CEB7CC4C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1233" y="278120"/>
            <a:ext cx="7735857" cy="610863"/>
          </a:xfrm>
        </p:spPr>
        <p:txBody>
          <a:bodyPr rtlCol="0">
            <a:normAutofit fontScale="90000"/>
          </a:bodyPr>
          <a:lstStyle/>
          <a:p>
            <a:r>
              <a:rPr lang="zh-CN" altLang="en-US" dirty="0"/>
              <a:t>程序设计基础</a:t>
            </a:r>
            <a:r>
              <a:rPr lang="en-US" altLang="zh-CN" dirty="0"/>
              <a:t>-</a:t>
            </a:r>
            <a:r>
              <a:rPr lang="zh-CN" altLang="en-US" sz="2800" dirty="0"/>
              <a:t>单字符输出</a:t>
            </a:r>
            <a:r>
              <a:rPr lang="en-US" altLang="zh-CN" sz="2800" dirty="0"/>
              <a:t>(</a:t>
            </a:r>
            <a:r>
              <a:rPr lang="en-US" altLang="zh-CN" sz="2800" dirty="0">
                <a:latin typeface="Consolas" panose="020B0609020204030204" pitchFamily="49" charset="0"/>
              </a:rPr>
              <a:t>02</a:t>
            </a:r>
            <a:r>
              <a:rPr lang="zh-CN" altLang="en-US" sz="2800" dirty="0"/>
              <a:t>号功能调用</a:t>
            </a:r>
            <a:r>
              <a:rPr lang="en-US" altLang="zh-CN" sz="2800" dirty="0"/>
              <a:t>)</a:t>
            </a:r>
            <a:endParaRPr lang="zh-CN" altLang="en-US" sz="2800" dirty="0">
              <a:latin typeface="Consolas" panose="020B0609020204030204" pitchFamily="49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8F1A81D-7BC1-4ED3-A5AE-D705A01B0027}"/>
              </a:ext>
            </a:extLst>
          </p:cNvPr>
          <p:cNvSpPr txBox="1"/>
          <p:nvPr/>
        </p:nvSpPr>
        <p:spPr>
          <a:xfrm>
            <a:off x="251501" y="198830"/>
            <a:ext cx="88106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4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01</a:t>
            </a:r>
            <a:endParaRPr lang="zh-CN" altLang="en-US" sz="4400" dirty="0">
              <a:solidFill>
                <a:schemeClr val="bg1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cxnSp>
        <p:nvCxnSpPr>
          <p:cNvPr id="38" name="直接连接符​​(S) 32">
            <a:extLst>
              <a:ext uri="{FF2B5EF4-FFF2-40B4-BE49-F238E27FC236}">
                <a16:creationId xmlns:a16="http://schemas.microsoft.com/office/drawing/2014/main" id="{44FA863A-BCC7-480F-9582-D068990344C3}"/>
              </a:ext>
            </a:extLst>
          </p:cNvPr>
          <p:cNvCxnSpPr>
            <a:cxnSpLocks/>
          </p:cNvCxnSpPr>
          <p:nvPr/>
        </p:nvCxnSpPr>
        <p:spPr>
          <a:xfrm>
            <a:off x="691536" y="1642227"/>
            <a:ext cx="1350206" cy="0"/>
          </a:xfrm>
          <a:prstGeom prst="line">
            <a:avLst/>
          </a:prstGeom>
          <a:ln w="101600">
            <a:solidFill>
              <a:srgbClr val="4495A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文本占位符 3">
            <a:extLst>
              <a:ext uri="{FF2B5EF4-FFF2-40B4-BE49-F238E27FC236}">
                <a16:creationId xmlns:a16="http://schemas.microsoft.com/office/drawing/2014/main" id="{AAEAF377-295A-4D37-975B-EF01F2B826C3}"/>
              </a:ext>
            </a:extLst>
          </p:cNvPr>
          <p:cNvSpPr txBox="1">
            <a:spLocks/>
          </p:cNvSpPr>
          <p:nvPr/>
        </p:nvSpPr>
        <p:spPr>
          <a:xfrm>
            <a:off x="692035" y="1117056"/>
            <a:ext cx="5188065" cy="3937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 dirty="0"/>
              <a:t>02 </a:t>
            </a:r>
            <a:r>
              <a:rPr lang="zh-CN" altLang="en-US" b="1" dirty="0"/>
              <a:t>号功能调用</a:t>
            </a:r>
          </a:p>
        </p:txBody>
      </p:sp>
      <p:sp>
        <p:nvSpPr>
          <p:cNvPr id="14" name="文本占位符 3">
            <a:extLst>
              <a:ext uri="{FF2B5EF4-FFF2-40B4-BE49-F238E27FC236}">
                <a16:creationId xmlns:a16="http://schemas.microsoft.com/office/drawing/2014/main" id="{24A4B366-93AE-4642-8328-C61BE70AC932}"/>
              </a:ext>
            </a:extLst>
          </p:cNvPr>
          <p:cNvSpPr txBox="1">
            <a:spLocks/>
          </p:cNvSpPr>
          <p:nvPr/>
        </p:nvSpPr>
        <p:spPr>
          <a:xfrm>
            <a:off x="1132569" y="1862212"/>
            <a:ext cx="7516130" cy="144278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功能调用号：</a:t>
            </a:r>
            <a:r>
              <a:rPr lang="en-US" altLang="zh-CN" b="1" dirty="0">
                <a:solidFill>
                  <a:srgbClr val="7CA655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02H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入口参数：</a:t>
            </a:r>
            <a:r>
              <a:rPr lang="en-US" altLang="zh-CN" b="1" dirty="0">
                <a:solidFill>
                  <a:srgbClr val="7CA655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(DL)</a:t>
            </a:r>
            <a:r>
              <a:rPr lang="en-US" altLang="zh-CN" dirty="0">
                <a:latin typeface="Consolas" panose="020B0609020204030204" pitchFamily="49" charset="0"/>
                <a:ea typeface="微软雅黑" panose="020B0503020204020204" pitchFamily="34" charset="-122"/>
              </a:rPr>
              <a:t>=</a:t>
            </a:r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</a:rPr>
              <a:t>输入字符的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Consolas" panose="020B0609020204030204" pitchFamily="49" charset="0"/>
                <a:ea typeface="微软雅黑" panose="020B0503020204020204" pitchFamily="34" charset="-122"/>
              </a:rPr>
              <a:t>ASCII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</a:rPr>
              <a:t>码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出口参数：无</a:t>
            </a:r>
            <a:endParaRPr lang="zh-CN" altLang="en-US" sz="2000" dirty="0">
              <a:latin typeface="Consolas" panose="020B0609020204030204" pitchFamily="49" charset="0"/>
            </a:endParaRPr>
          </a:p>
        </p:txBody>
      </p:sp>
      <p:cxnSp>
        <p:nvCxnSpPr>
          <p:cNvPr id="9" name="直接连接符​​(S) 32">
            <a:extLst>
              <a:ext uri="{FF2B5EF4-FFF2-40B4-BE49-F238E27FC236}">
                <a16:creationId xmlns:a16="http://schemas.microsoft.com/office/drawing/2014/main" id="{352DF347-13C6-4182-9E11-C14E4730B253}"/>
              </a:ext>
            </a:extLst>
          </p:cNvPr>
          <p:cNvCxnSpPr>
            <a:cxnSpLocks/>
          </p:cNvCxnSpPr>
          <p:nvPr/>
        </p:nvCxnSpPr>
        <p:spPr>
          <a:xfrm>
            <a:off x="691536" y="3870840"/>
            <a:ext cx="1350206" cy="0"/>
          </a:xfrm>
          <a:prstGeom prst="line">
            <a:avLst/>
          </a:prstGeom>
          <a:ln w="101600">
            <a:solidFill>
              <a:srgbClr val="4495A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文本占位符 3">
            <a:extLst>
              <a:ext uri="{FF2B5EF4-FFF2-40B4-BE49-F238E27FC236}">
                <a16:creationId xmlns:a16="http://schemas.microsoft.com/office/drawing/2014/main" id="{6783FEE8-9EA8-4886-848C-4780965E764E}"/>
              </a:ext>
            </a:extLst>
          </p:cNvPr>
          <p:cNvSpPr txBox="1">
            <a:spLocks/>
          </p:cNvSpPr>
          <p:nvPr/>
        </p:nvSpPr>
        <p:spPr>
          <a:xfrm>
            <a:off x="692035" y="3345669"/>
            <a:ext cx="5188065" cy="3937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 dirty="0"/>
              <a:t>02 </a:t>
            </a:r>
            <a:r>
              <a:rPr lang="zh-CN" altLang="en-US" b="1" dirty="0"/>
              <a:t>号功能调用示例</a:t>
            </a:r>
          </a:p>
        </p:txBody>
      </p:sp>
      <p:sp>
        <p:nvSpPr>
          <p:cNvPr id="12" name="文本占位符 3">
            <a:extLst>
              <a:ext uri="{FF2B5EF4-FFF2-40B4-BE49-F238E27FC236}">
                <a16:creationId xmlns:a16="http://schemas.microsoft.com/office/drawing/2014/main" id="{58FADD9A-6688-45E9-B900-A13BD93B36AB}"/>
              </a:ext>
            </a:extLst>
          </p:cNvPr>
          <p:cNvSpPr txBox="1">
            <a:spLocks/>
          </p:cNvSpPr>
          <p:nvPr/>
        </p:nvSpPr>
        <p:spPr>
          <a:xfrm>
            <a:off x="1132569" y="4090824"/>
            <a:ext cx="7516130" cy="25988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输出显示变量 </a:t>
            </a:r>
            <a:r>
              <a:rPr lang="en-US" altLang="zh-CN" dirty="0">
                <a:latin typeface="Consolas" panose="020B0609020204030204" pitchFamily="49" charset="0"/>
                <a:ea typeface="微软雅黑" panose="020B0503020204020204" pitchFamily="34" charset="-122"/>
              </a:rPr>
              <a:t>CHAR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所存放的字母</a:t>
            </a:r>
          </a:p>
          <a:p>
            <a:pPr marL="1028666" lvl="1" indent="-342900">
              <a:buFont typeface="Wingdings" panose="05000000000000000000" pitchFamily="2" charset="2"/>
              <a:buChar char="n"/>
            </a:pPr>
            <a:r>
              <a:rPr lang="zh-CN" altLang="en-US" sz="2000" dirty="0"/>
              <a:t>指令序列：		</a:t>
            </a:r>
          </a:p>
          <a:p>
            <a:pPr marL="1028666" lvl="1" indent="-342900">
              <a:buFont typeface="Wingdings" panose="05000000000000000000" pitchFamily="2" charset="2"/>
              <a:buChar char="n"/>
            </a:pPr>
            <a:endParaRPr lang="en-US" altLang="zh-CN" sz="2000" dirty="0"/>
          </a:p>
          <a:p>
            <a:pPr marL="1028666" lvl="1" indent="-342900">
              <a:buFont typeface="Wingdings" panose="05000000000000000000" pitchFamily="2" charset="2"/>
              <a:buChar char="n"/>
            </a:pPr>
            <a:endParaRPr lang="en-US" altLang="zh-CN" sz="2000" dirty="0"/>
          </a:p>
          <a:p>
            <a:pPr marL="1028666" lvl="1" indent="-342900">
              <a:buFont typeface="Wingdings" panose="05000000000000000000" pitchFamily="2" charset="2"/>
              <a:buChar char="n"/>
            </a:pPr>
            <a:endParaRPr lang="en-US" altLang="zh-CN" sz="2000" dirty="0"/>
          </a:p>
          <a:p>
            <a:pPr marL="1028666" marR="0" lvl="1" indent="-342900" fontAlgn="auto">
              <a:spcAft>
                <a:spcPts val="0"/>
              </a:spcAft>
              <a:buClrTx/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lang="zh-CN" altLang="en-US" sz="2000" dirty="0"/>
              <a:t>若 </a:t>
            </a:r>
            <a:r>
              <a:rPr lang="en-US" altLang="zh-CN" sz="2000" dirty="0"/>
              <a:t>CHAR </a:t>
            </a:r>
            <a:r>
              <a:rPr lang="zh-CN" altLang="en-US" sz="2000" dirty="0"/>
              <a:t>变量定义为 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  <a:ea typeface="+mn-ea"/>
              </a:rPr>
              <a:t>CHAR</a:t>
            </a:r>
            <a:r>
              <a:rPr lang="en-US" altLang="zh-CN" sz="2000" dirty="0"/>
              <a:t> </a:t>
            </a:r>
            <a:r>
              <a:rPr lang="en-US" altLang="zh-CN" sz="2000" dirty="0">
                <a:solidFill>
                  <a:srgbClr val="0080FF"/>
                </a:solidFill>
                <a:latin typeface="Courier New" panose="02070309020205020404" pitchFamily="49" charset="0"/>
                <a:ea typeface="+mn-ea"/>
              </a:rPr>
              <a:t>DB</a:t>
            </a:r>
            <a:r>
              <a:rPr lang="en-US" altLang="zh-CN" sz="2000" dirty="0"/>
              <a:t> </a:t>
            </a:r>
            <a:r>
              <a:rPr lang="en-US" altLang="zh-CN" sz="2000" dirty="0">
                <a:solidFill>
                  <a:srgbClr val="808000"/>
                </a:solidFill>
                <a:latin typeface="Courier New" panose="02070309020205020404" pitchFamily="49" charset="0"/>
                <a:ea typeface="+mn-ea"/>
              </a:rPr>
              <a:t>'F'</a:t>
            </a:r>
            <a:r>
              <a:rPr lang="en-US" altLang="zh-CN" sz="2000" dirty="0"/>
              <a:t> </a:t>
            </a:r>
            <a:r>
              <a:rPr lang="zh-CN" altLang="en-US" sz="2000" dirty="0"/>
              <a:t>，则以上指令序列执行完毕会在屏幕上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显示字符“</a:t>
            </a:r>
            <a:r>
              <a:rPr lang="en-US" altLang="zh-CN" sz="2000" dirty="0">
                <a:solidFill>
                  <a:srgbClr val="808000"/>
                </a:solidFill>
                <a:latin typeface="Courier New" panose="02070309020205020404" pitchFamily="49" charset="0"/>
                <a:ea typeface="+mn-ea"/>
              </a:rPr>
              <a:t>F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F6D44CF-996D-4698-8C42-B7202D69D93F}"/>
              </a:ext>
            </a:extLst>
          </p:cNvPr>
          <p:cNvSpPr txBox="1"/>
          <p:nvPr/>
        </p:nvSpPr>
        <p:spPr>
          <a:xfrm>
            <a:off x="3397875" y="4525208"/>
            <a:ext cx="2018049" cy="101566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pt-BR" altLang="zh-CN" sz="2000" b="1" dirty="0">
                <a:solidFill>
                  <a:srgbClr val="0000FF"/>
                </a:solidFill>
                <a:latin typeface="Courier New" panose="02070309020205020404" pitchFamily="49" charset="0"/>
              </a:rPr>
              <a:t>MOV</a:t>
            </a:r>
            <a:r>
              <a:rPr lang="pt-BR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pt-BR" altLang="zh-CN" sz="2000" b="1" dirty="0">
                <a:solidFill>
                  <a:srgbClr val="8080FF"/>
                </a:solidFill>
                <a:latin typeface="Courier New" panose="02070309020205020404" pitchFamily="49" charset="0"/>
              </a:rPr>
              <a:t>AH</a:t>
            </a:r>
            <a:r>
              <a:rPr lang="pt-BR" altLang="zh-CN" sz="20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pt-BR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pt-BR" altLang="zh-CN" sz="2000" dirty="0">
                <a:solidFill>
                  <a:srgbClr val="FF8000"/>
                </a:solidFill>
                <a:latin typeface="Courier New" panose="02070309020205020404" pitchFamily="49" charset="0"/>
              </a:rPr>
              <a:t>02H</a:t>
            </a:r>
            <a:endParaRPr lang="pt-BR" altLang="zh-CN" sz="20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pt-BR" altLang="zh-CN" sz="2000" b="1" dirty="0">
                <a:solidFill>
                  <a:srgbClr val="0000FF"/>
                </a:solidFill>
                <a:latin typeface="Courier New" panose="02070309020205020404" pitchFamily="49" charset="0"/>
              </a:rPr>
              <a:t>MOV</a:t>
            </a:r>
            <a:r>
              <a:rPr lang="pt-BR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pt-BR" altLang="zh-CN" sz="2000" b="1" dirty="0">
                <a:solidFill>
                  <a:srgbClr val="8080FF"/>
                </a:solidFill>
                <a:latin typeface="Courier New" panose="02070309020205020404" pitchFamily="49" charset="0"/>
              </a:rPr>
              <a:t>DL</a:t>
            </a:r>
            <a:r>
              <a:rPr lang="pt-BR" altLang="zh-CN" sz="20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pt-BR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CHAR</a:t>
            </a:r>
          </a:p>
          <a:p>
            <a:r>
              <a:rPr lang="pt-BR" altLang="zh-CN" sz="2000" b="1" dirty="0">
                <a:solidFill>
                  <a:srgbClr val="0000FF"/>
                </a:solidFill>
                <a:latin typeface="Courier New" panose="02070309020205020404" pitchFamily="49" charset="0"/>
              </a:rPr>
              <a:t>INT</a:t>
            </a:r>
            <a:r>
              <a:rPr lang="pt-BR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pt-BR" altLang="zh-CN" sz="2000" dirty="0">
                <a:solidFill>
                  <a:srgbClr val="FF8000"/>
                </a:solidFill>
                <a:latin typeface="Courier New" panose="02070309020205020404" pitchFamily="49" charset="0"/>
              </a:rPr>
              <a:t>21H</a:t>
            </a:r>
            <a:r>
              <a:rPr lang="pt-BR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pt-BR" altLang="zh-CN" sz="2000" dirty="0"/>
          </a:p>
        </p:txBody>
      </p:sp>
    </p:spTree>
    <p:extLst>
      <p:ext uri="{BB962C8B-B14F-4D97-AF65-F5344CB8AC3E}">
        <p14:creationId xmlns:p14="http://schemas.microsoft.com/office/powerpoint/2010/main" val="2833700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>
            <a:extLst>
              <a:ext uri="{FF2B5EF4-FFF2-40B4-BE49-F238E27FC236}">
                <a16:creationId xmlns:a16="http://schemas.microsoft.com/office/drawing/2014/main" id="{53BA7E79-B0A8-4025-9E5E-EAC7789C8F66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7C041877-94E5-4D84-A050-73F304948E8F}" type="datetime5">
              <a:rPr lang="zh-CN" altLang="en-US" smtClean="0"/>
              <a:t>2024/10/23</a:t>
            </a:fld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353F689-2E51-BF4F-AE47-7CEB7CC4C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1233" y="278120"/>
            <a:ext cx="7735857" cy="610863"/>
          </a:xfrm>
        </p:spPr>
        <p:txBody>
          <a:bodyPr rtlCol="0">
            <a:normAutofit fontScale="90000"/>
          </a:bodyPr>
          <a:lstStyle/>
          <a:p>
            <a:r>
              <a:rPr lang="zh-CN" altLang="en-US" dirty="0"/>
              <a:t>程序设计基础</a:t>
            </a:r>
            <a:r>
              <a:rPr lang="en-US" altLang="zh-CN" dirty="0"/>
              <a:t>-</a:t>
            </a:r>
            <a:r>
              <a:rPr lang="zh-CN" altLang="en-US" sz="2800" dirty="0"/>
              <a:t>字符串输出</a:t>
            </a:r>
            <a:r>
              <a:rPr lang="en-US" altLang="zh-CN" sz="2800" dirty="0"/>
              <a:t>(</a:t>
            </a:r>
            <a:r>
              <a:rPr lang="en-US" altLang="zh-CN" sz="2800" dirty="0">
                <a:latin typeface="Consolas" panose="020B0609020204030204" pitchFamily="49" charset="0"/>
              </a:rPr>
              <a:t>09</a:t>
            </a:r>
            <a:r>
              <a:rPr lang="zh-CN" altLang="en-US" sz="2800" dirty="0"/>
              <a:t>号功能调用</a:t>
            </a:r>
            <a:r>
              <a:rPr lang="en-US" altLang="zh-CN" sz="2800" dirty="0"/>
              <a:t>)</a:t>
            </a:r>
            <a:endParaRPr lang="zh-CN" altLang="en-US" sz="2800" dirty="0">
              <a:latin typeface="Consolas" panose="020B0609020204030204" pitchFamily="49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8F1A81D-7BC1-4ED3-A5AE-D705A01B0027}"/>
              </a:ext>
            </a:extLst>
          </p:cNvPr>
          <p:cNvSpPr txBox="1"/>
          <p:nvPr/>
        </p:nvSpPr>
        <p:spPr>
          <a:xfrm>
            <a:off x="251501" y="198830"/>
            <a:ext cx="88106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4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01</a:t>
            </a:r>
            <a:endParaRPr lang="zh-CN" altLang="en-US" sz="4400" dirty="0">
              <a:solidFill>
                <a:schemeClr val="bg1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cxnSp>
        <p:nvCxnSpPr>
          <p:cNvPr id="38" name="直接连接符​​(S) 32">
            <a:extLst>
              <a:ext uri="{FF2B5EF4-FFF2-40B4-BE49-F238E27FC236}">
                <a16:creationId xmlns:a16="http://schemas.microsoft.com/office/drawing/2014/main" id="{44FA863A-BCC7-480F-9582-D068990344C3}"/>
              </a:ext>
            </a:extLst>
          </p:cNvPr>
          <p:cNvCxnSpPr>
            <a:cxnSpLocks/>
          </p:cNvCxnSpPr>
          <p:nvPr/>
        </p:nvCxnSpPr>
        <p:spPr>
          <a:xfrm>
            <a:off x="691536" y="1642227"/>
            <a:ext cx="1350206" cy="0"/>
          </a:xfrm>
          <a:prstGeom prst="line">
            <a:avLst/>
          </a:prstGeom>
          <a:ln w="101600">
            <a:solidFill>
              <a:srgbClr val="4495A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文本占位符 3">
            <a:extLst>
              <a:ext uri="{FF2B5EF4-FFF2-40B4-BE49-F238E27FC236}">
                <a16:creationId xmlns:a16="http://schemas.microsoft.com/office/drawing/2014/main" id="{AAEAF377-295A-4D37-975B-EF01F2B826C3}"/>
              </a:ext>
            </a:extLst>
          </p:cNvPr>
          <p:cNvSpPr txBox="1">
            <a:spLocks/>
          </p:cNvSpPr>
          <p:nvPr/>
        </p:nvSpPr>
        <p:spPr>
          <a:xfrm>
            <a:off x="692035" y="1117056"/>
            <a:ext cx="5188065" cy="3937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 dirty="0"/>
              <a:t>09 </a:t>
            </a:r>
            <a:r>
              <a:rPr lang="zh-CN" altLang="en-US" b="1" dirty="0"/>
              <a:t>号功能调用</a:t>
            </a:r>
          </a:p>
        </p:txBody>
      </p:sp>
      <p:sp>
        <p:nvSpPr>
          <p:cNvPr id="14" name="文本占位符 3">
            <a:extLst>
              <a:ext uri="{FF2B5EF4-FFF2-40B4-BE49-F238E27FC236}">
                <a16:creationId xmlns:a16="http://schemas.microsoft.com/office/drawing/2014/main" id="{24A4B366-93AE-4642-8328-C61BE70AC932}"/>
              </a:ext>
            </a:extLst>
          </p:cNvPr>
          <p:cNvSpPr txBox="1">
            <a:spLocks/>
          </p:cNvSpPr>
          <p:nvPr/>
        </p:nvSpPr>
        <p:spPr>
          <a:xfrm>
            <a:off x="1132569" y="1862212"/>
            <a:ext cx="7516130" cy="173755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功能调用号：</a:t>
            </a:r>
            <a:r>
              <a:rPr lang="en-US" altLang="zh-CN" b="1" dirty="0">
                <a:solidFill>
                  <a:srgbClr val="7CA655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09H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入口参数：</a:t>
            </a:r>
            <a:r>
              <a:rPr lang="en-US" altLang="zh-CN" b="1" dirty="0">
                <a:solidFill>
                  <a:srgbClr val="7CA655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(DS:DX)=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待输出字符串的起始地址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028666" lvl="1" indent="-342900">
              <a:buFont typeface="Wingdings" panose="05000000000000000000" pitchFamily="2" charset="2"/>
              <a:buChar char="n"/>
            </a:pPr>
            <a:r>
              <a:rPr lang="zh-CN" altLang="en-US" sz="2000" dirty="0"/>
              <a:t>输出字符串应事先存放于存储器，且</a:t>
            </a:r>
            <a:r>
              <a:rPr lang="zh-CN" altLang="en-US" sz="2000" b="1" dirty="0">
                <a:solidFill>
                  <a:srgbClr val="7CA655"/>
                </a:solidFill>
              </a:rPr>
              <a:t>必须</a:t>
            </a:r>
            <a:r>
              <a:rPr lang="zh-CN" altLang="en-US" sz="2000" b="1" dirty="0">
                <a:solidFill>
                  <a:srgbClr val="7CA6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以“</a:t>
            </a:r>
            <a:r>
              <a:rPr lang="en-US" altLang="zh-CN" sz="2000" b="1" dirty="0">
                <a:solidFill>
                  <a:srgbClr val="7CA655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$</a:t>
            </a:r>
            <a:r>
              <a:rPr lang="en-US" altLang="zh-CN" sz="2000" b="1" dirty="0">
                <a:solidFill>
                  <a:srgbClr val="7CA6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000" b="1" dirty="0">
                <a:solidFill>
                  <a:srgbClr val="7CA6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为结束</a:t>
            </a:r>
            <a:endParaRPr lang="en-US" altLang="zh-CN" sz="2000" dirty="0">
              <a:solidFill>
                <a:srgbClr val="7CA655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出口参数：无</a:t>
            </a:r>
            <a:endParaRPr lang="zh-CN" altLang="en-US" sz="2000" dirty="0">
              <a:latin typeface="Consolas" panose="020B0609020204030204" pitchFamily="49" charset="0"/>
            </a:endParaRPr>
          </a:p>
        </p:txBody>
      </p:sp>
      <p:cxnSp>
        <p:nvCxnSpPr>
          <p:cNvPr id="9" name="直接连接符​​(S) 32">
            <a:extLst>
              <a:ext uri="{FF2B5EF4-FFF2-40B4-BE49-F238E27FC236}">
                <a16:creationId xmlns:a16="http://schemas.microsoft.com/office/drawing/2014/main" id="{352DF347-13C6-4182-9E11-C14E4730B253}"/>
              </a:ext>
            </a:extLst>
          </p:cNvPr>
          <p:cNvCxnSpPr>
            <a:cxnSpLocks/>
          </p:cNvCxnSpPr>
          <p:nvPr/>
        </p:nvCxnSpPr>
        <p:spPr>
          <a:xfrm>
            <a:off x="691037" y="4221554"/>
            <a:ext cx="1350206" cy="0"/>
          </a:xfrm>
          <a:prstGeom prst="line">
            <a:avLst/>
          </a:prstGeom>
          <a:ln w="101600">
            <a:solidFill>
              <a:srgbClr val="4495A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文本占位符 3">
            <a:extLst>
              <a:ext uri="{FF2B5EF4-FFF2-40B4-BE49-F238E27FC236}">
                <a16:creationId xmlns:a16="http://schemas.microsoft.com/office/drawing/2014/main" id="{6783FEE8-9EA8-4886-848C-4780965E764E}"/>
              </a:ext>
            </a:extLst>
          </p:cNvPr>
          <p:cNvSpPr txBox="1">
            <a:spLocks/>
          </p:cNvSpPr>
          <p:nvPr/>
        </p:nvSpPr>
        <p:spPr>
          <a:xfrm>
            <a:off x="691536" y="3696383"/>
            <a:ext cx="5188065" cy="3937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 dirty="0"/>
              <a:t>09 </a:t>
            </a:r>
            <a:r>
              <a:rPr lang="zh-CN" altLang="en-US" b="1" dirty="0"/>
              <a:t>号功能调用示例</a:t>
            </a:r>
          </a:p>
        </p:txBody>
      </p:sp>
      <p:sp>
        <p:nvSpPr>
          <p:cNvPr id="12" name="文本占位符 3">
            <a:extLst>
              <a:ext uri="{FF2B5EF4-FFF2-40B4-BE49-F238E27FC236}">
                <a16:creationId xmlns:a16="http://schemas.microsoft.com/office/drawing/2014/main" id="{58FADD9A-6688-45E9-B900-A13BD93B36AB}"/>
              </a:ext>
            </a:extLst>
          </p:cNvPr>
          <p:cNvSpPr txBox="1">
            <a:spLocks/>
          </p:cNvSpPr>
          <p:nvPr/>
        </p:nvSpPr>
        <p:spPr>
          <a:xfrm>
            <a:off x="1132070" y="4441538"/>
            <a:ext cx="7516130" cy="25988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试将变量 </a:t>
            </a:r>
            <a:r>
              <a:rPr lang="en-US" altLang="zh-CN" dirty="0">
                <a:latin typeface="Consolas" panose="020B0609020204030204" pitchFamily="49" charset="0"/>
                <a:ea typeface="微软雅黑" panose="020B0503020204020204" pitchFamily="34" charset="-122"/>
              </a:rPr>
              <a:t>String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保存的字符串显示出来</a:t>
            </a:r>
          </a:p>
          <a:p>
            <a:pPr marL="1028666" lvl="1" indent="-342900">
              <a:buFont typeface="Wingdings" panose="05000000000000000000" pitchFamily="2" charset="2"/>
              <a:buChar char="n"/>
            </a:pPr>
            <a:r>
              <a:rPr lang="zh-CN" altLang="en-US" sz="2000" dirty="0"/>
              <a:t>变量定义：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String </a:t>
            </a:r>
            <a:r>
              <a:rPr lang="en-US" altLang="zh-CN" sz="2000" dirty="0">
                <a:solidFill>
                  <a:srgbClr val="0080FF"/>
                </a:solidFill>
                <a:latin typeface="Courier New" panose="02070309020205020404" pitchFamily="49" charset="0"/>
              </a:rPr>
              <a:t>DB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dirty="0">
                <a:solidFill>
                  <a:srgbClr val="808080"/>
                </a:solidFill>
                <a:latin typeface="Courier New" panose="02070309020205020404" pitchFamily="49" charset="0"/>
              </a:rPr>
              <a:t>"ABCD$"</a:t>
            </a:r>
            <a:endParaRPr lang="en-US" altLang="zh-CN" sz="2000" dirty="0"/>
          </a:p>
          <a:p>
            <a:pPr marL="1028666" lvl="1" indent="-342900">
              <a:buFont typeface="Wingdings" panose="05000000000000000000" pitchFamily="2" charset="2"/>
              <a:buChar char="n"/>
            </a:pPr>
            <a:r>
              <a:rPr lang="zh-CN" altLang="en-US" sz="2000" dirty="0"/>
              <a:t>指令序列：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F6D44CF-996D-4698-8C42-B7202D69D93F}"/>
              </a:ext>
            </a:extLst>
          </p:cNvPr>
          <p:cNvSpPr txBox="1"/>
          <p:nvPr/>
        </p:nvSpPr>
        <p:spPr>
          <a:xfrm>
            <a:off x="3410076" y="5184191"/>
            <a:ext cx="2812924" cy="163121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0000FF"/>
                </a:solidFill>
                <a:latin typeface="Courier New" panose="02070309020205020404" pitchFamily="49" charset="0"/>
              </a:rPr>
              <a:t>MOV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b="1" dirty="0">
                <a:solidFill>
                  <a:srgbClr val="8080FF"/>
                </a:solidFill>
                <a:latin typeface="Courier New" panose="02070309020205020404" pitchFamily="49" charset="0"/>
              </a:rPr>
              <a:t>AX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dirty="0">
                <a:solidFill>
                  <a:srgbClr val="0080FF"/>
                </a:solidFill>
                <a:latin typeface="Courier New" panose="02070309020205020404" pitchFamily="49" charset="0"/>
              </a:rPr>
              <a:t>SEG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String</a:t>
            </a:r>
          </a:p>
          <a:p>
            <a:r>
              <a:rPr lang="en-US" altLang="zh-CN" sz="2000" b="1" dirty="0">
                <a:solidFill>
                  <a:srgbClr val="0000FF"/>
                </a:solidFill>
                <a:latin typeface="Courier New" panose="02070309020205020404" pitchFamily="49" charset="0"/>
              </a:rPr>
              <a:t>MOV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b="1" dirty="0">
                <a:solidFill>
                  <a:srgbClr val="8080FF"/>
                </a:solidFill>
                <a:latin typeface="Courier New" panose="02070309020205020404" pitchFamily="49" charset="0"/>
              </a:rPr>
              <a:t>DS</a:t>
            </a:r>
            <a:r>
              <a:rPr lang="en-US" altLang="zh-CN" sz="20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b="1" dirty="0">
                <a:solidFill>
                  <a:srgbClr val="8080FF"/>
                </a:solidFill>
                <a:latin typeface="Courier New" panose="02070309020205020404" pitchFamily="49" charset="0"/>
              </a:rPr>
              <a:t>AX</a:t>
            </a:r>
            <a:endParaRPr lang="en-US" altLang="zh-CN" sz="20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zh-CN" sz="2000" b="1" dirty="0">
                <a:solidFill>
                  <a:srgbClr val="0000FF"/>
                </a:solidFill>
                <a:latin typeface="Courier New" panose="02070309020205020404" pitchFamily="49" charset="0"/>
              </a:rPr>
              <a:t>LEA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b="1" dirty="0">
                <a:solidFill>
                  <a:srgbClr val="8080FF"/>
                </a:solidFill>
                <a:latin typeface="Courier New" panose="02070309020205020404" pitchFamily="49" charset="0"/>
              </a:rPr>
              <a:t>DX</a:t>
            </a:r>
            <a:r>
              <a:rPr lang="en-US" altLang="zh-CN" sz="20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String</a:t>
            </a:r>
          </a:p>
          <a:p>
            <a:r>
              <a:rPr lang="en-US" altLang="zh-CN" sz="2000" b="1" dirty="0">
                <a:solidFill>
                  <a:srgbClr val="0000FF"/>
                </a:solidFill>
                <a:latin typeface="Courier New" panose="02070309020205020404" pitchFamily="49" charset="0"/>
              </a:rPr>
              <a:t>MOV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b="1" dirty="0">
                <a:solidFill>
                  <a:srgbClr val="8080FF"/>
                </a:solidFill>
                <a:latin typeface="Courier New" panose="02070309020205020404" pitchFamily="49" charset="0"/>
              </a:rPr>
              <a:t>AH</a:t>
            </a:r>
            <a:r>
              <a:rPr lang="en-US" altLang="zh-CN" sz="20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dirty="0">
                <a:solidFill>
                  <a:srgbClr val="FF8000"/>
                </a:solidFill>
                <a:latin typeface="Courier New" panose="02070309020205020404" pitchFamily="49" charset="0"/>
              </a:rPr>
              <a:t>09H</a:t>
            </a:r>
            <a:endParaRPr lang="en-US" altLang="zh-CN" sz="20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zh-CN" sz="2000" b="1" dirty="0">
                <a:solidFill>
                  <a:srgbClr val="0000FF"/>
                </a:solidFill>
                <a:latin typeface="Courier New" panose="02070309020205020404" pitchFamily="49" charset="0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dirty="0">
                <a:solidFill>
                  <a:srgbClr val="FF8000"/>
                </a:solidFill>
                <a:latin typeface="Courier New" panose="02070309020205020404" pitchFamily="49" charset="0"/>
              </a:rPr>
              <a:t>21H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3455872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>
            <a:extLst>
              <a:ext uri="{FF2B5EF4-FFF2-40B4-BE49-F238E27FC236}">
                <a16:creationId xmlns:a16="http://schemas.microsoft.com/office/drawing/2014/main" id="{53BA7E79-B0A8-4025-9E5E-EAC7789C8F66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7C041877-94E5-4D84-A050-73F304948E8F}" type="datetime5">
              <a:rPr lang="zh-CN" altLang="en-US" smtClean="0"/>
              <a:t>2024/10/23</a:t>
            </a:fld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353F689-2E51-BF4F-AE47-7CEB7CC4C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1233" y="278120"/>
            <a:ext cx="7735857" cy="610863"/>
          </a:xfrm>
        </p:spPr>
        <p:txBody>
          <a:bodyPr rtlCol="0">
            <a:normAutofit fontScale="90000"/>
          </a:bodyPr>
          <a:lstStyle/>
          <a:p>
            <a:r>
              <a:rPr lang="zh-CN" altLang="en-US" dirty="0"/>
              <a:t>程序设计基础</a:t>
            </a:r>
            <a:r>
              <a:rPr lang="en-US" altLang="zh-CN" dirty="0"/>
              <a:t>-</a:t>
            </a:r>
            <a:r>
              <a:rPr lang="zh-CN" altLang="en-US" sz="2800" dirty="0"/>
              <a:t>字符串输入</a:t>
            </a:r>
            <a:r>
              <a:rPr lang="en-US" altLang="zh-CN" sz="2800" dirty="0"/>
              <a:t>(</a:t>
            </a:r>
            <a:r>
              <a:rPr lang="en-US" altLang="zh-CN" sz="2800" dirty="0">
                <a:latin typeface="Consolas" panose="020B0609020204030204" pitchFamily="49" charset="0"/>
              </a:rPr>
              <a:t>0A</a:t>
            </a:r>
            <a:r>
              <a:rPr lang="zh-CN" altLang="en-US" sz="2800" dirty="0"/>
              <a:t>号功能调用</a:t>
            </a:r>
            <a:r>
              <a:rPr lang="en-US" altLang="zh-CN" sz="2800" dirty="0"/>
              <a:t>)</a:t>
            </a:r>
            <a:endParaRPr lang="zh-CN" altLang="en-US" sz="2800" dirty="0">
              <a:latin typeface="Consolas" panose="020B0609020204030204" pitchFamily="49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8F1A81D-7BC1-4ED3-A5AE-D705A01B0027}"/>
              </a:ext>
            </a:extLst>
          </p:cNvPr>
          <p:cNvSpPr txBox="1"/>
          <p:nvPr/>
        </p:nvSpPr>
        <p:spPr>
          <a:xfrm>
            <a:off x="251501" y="198830"/>
            <a:ext cx="88106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4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01</a:t>
            </a:r>
            <a:endParaRPr lang="zh-CN" altLang="en-US" sz="4400" dirty="0">
              <a:solidFill>
                <a:schemeClr val="bg1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cxnSp>
        <p:nvCxnSpPr>
          <p:cNvPr id="38" name="直接连接符​​(S) 32">
            <a:extLst>
              <a:ext uri="{FF2B5EF4-FFF2-40B4-BE49-F238E27FC236}">
                <a16:creationId xmlns:a16="http://schemas.microsoft.com/office/drawing/2014/main" id="{44FA863A-BCC7-480F-9582-D068990344C3}"/>
              </a:ext>
            </a:extLst>
          </p:cNvPr>
          <p:cNvCxnSpPr>
            <a:cxnSpLocks/>
          </p:cNvCxnSpPr>
          <p:nvPr/>
        </p:nvCxnSpPr>
        <p:spPr>
          <a:xfrm>
            <a:off x="691536" y="1642227"/>
            <a:ext cx="1350206" cy="0"/>
          </a:xfrm>
          <a:prstGeom prst="line">
            <a:avLst/>
          </a:prstGeom>
          <a:ln w="101600">
            <a:solidFill>
              <a:srgbClr val="4495A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文本占位符 3">
            <a:extLst>
              <a:ext uri="{FF2B5EF4-FFF2-40B4-BE49-F238E27FC236}">
                <a16:creationId xmlns:a16="http://schemas.microsoft.com/office/drawing/2014/main" id="{AAEAF377-295A-4D37-975B-EF01F2B826C3}"/>
              </a:ext>
            </a:extLst>
          </p:cNvPr>
          <p:cNvSpPr txBox="1">
            <a:spLocks/>
          </p:cNvSpPr>
          <p:nvPr/>
        </p:nvSpPr>
        <p:spPr>
          <a:xfrm>
            <a:off x="692035" y="1117056"/>
            <a:ext cx="5188065" cy="3937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 dirty="0"/>
              <a:t>0A </a:t>
            </a:r>
            <a:r>
              <a:rPr lang="zh-CN" altLang="en-US" b="1" dirty="0"/>
              <a:t>号功能调用</a:t>
            </a:r>
          </a:p>
        </p:txBody>
      </p:sp>
      <p:sp>
        <p:nvSpPr>
          <p:cNvPr id="14" name="文本占位符 3">
            <a:extLst>
              <a:ext uri="{FF2B5EF4-FFF2-40B4-BE49-F238E27FC236}">
                <a16:creationId xmlns:a16="http://schemas.microsoft.com/office/drawing/2014/main" id="{24A4B366-93AE-4642-8328-C61BE70AC932}"/>
              </a:ext>
            </a:extLst>
          </p:cNvPr>
          <p:cNvSpPr txBox="1">
            <a:spLocks/>
          </p:cNvSpPr>
          <p:nvPr/>
        </p:nvSpPr>
        <p:spPr>
          <a:xfrm>
            <a:off x="1132569" y="1862211"/>
            <a:ext cx="7516130" cy="375118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功能调用号：</a:t>
            </a:r>
            <a:r>
              <a:rPr lang="en-US" altLang="zh-CN" b="1" dirty="0">
                <a:solidFill>
                  <a:srgbClr val="7CA655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0AH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入口参数：</a:t>
            </a:r>
            <a:r>
              <a:rPr lang="en-US" altLang="zh-CN" b="1" dirty="0">
                <a:solidFill>
                  <a:srgbClr val="7CA655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(DS:DX)=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待输出字符串的起始地址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028666" lvl="1" indent="-342900">
              <a:buFont typeface="Wingdings" panose="05000000000000000000" pitchFamily="2" charset="2"/>
              <a:buChar char="n"/>
            </a:pPr>
            <a:r>
              <a:rPr lang="zh-CN" altLang="en-US" sz="2000" dirty="0"/>
              <a:t>存放输入字符串的缓冲区</a:t>
            </a:r>
            <a:r>
              <a:rPr lang="zh-CN" altLang="en-US" sz="2000" b="1" dirty="0">
                <a:solidFill>
                  <a:srgbClr val="7CA655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必须事先按格式定义</a:t>
            </a:r>
            <a:endParaRPr lang="en-US" altLang="zh-CN" sz="2000" b="1" dirty="0">
              <a:solidFill>
                <a:srgbClr val="7CA655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缓冲区定义格式如：</a:t>
            </a:r>
            <a:r>
              <a:rPr lang="pt-BR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BUF </a:t>
            </a:r>
            <a:r>
              <a:rPr lang="pt-BR" altLang="zh-CN" sz="2400" dirty="0">
                <a:solidFill>
                  <a:srgbClr val="0080FF"/>
                </a:solidFill>
                <a:effectLst/>
                <a:latin typeface="Courier New" panose="02070309020205020404" pitchFamily="49" charset="0"/>
              </a:rPr>
              <a:t>DB</a:t>
            </a:r>
            <a:r>
              <a:rPr lang="pt-BR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n</a:t>
            </a:r>
            <a:r>
              <a:rPr lang="pt-BR" altLang="zh-CN" sz="2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pt-BR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pt-BR" altLang="zh-CN" sz="2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?,</a:t>
            </a:r>
            <a:r>
              <a:rPr lang="pt-BR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n </a:t>
            </a:r>
            <a:r>
              <a:rPr lang="pt-BR" altLang="zh-CN" sz="2400" dirty="0">
                <a:solidFill>
                  <a:srgbClr val="0080FF"/>
                </a:solidFill>
                <a:effectLst/>
                <a:latin typeface="Courier New" panose="02070309020205020404" pitchFamily="49" charset="0"/>
              </a:rPr>
              <a:t>DUP</a:t>
            </a:r>
            <a:r>
              <a:rPr lang="pt-BR" altLang="zh-CN" sz="2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(?)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出口参数：在缓冲区中保存输入字符串及其长度</a:t>
            </a:r>
            <a:endParaRPr lang="zh-CN" altLang="en-US" sz="2000" dirty="0">
              <a:latin typeface="Consolas" panose="020B0609020204030204" pitchFamily="49" charset="0"/>
            </a:endParaRPr>
          </a:p>
        </p:txBody>
      </p:sp>
      <p:sp>
        <p:nvSpPr>
          <p:cNvPr id="15" name="AutoShape 4">
            <a:extLst>
              <a:ext uri="{FF2B5EF4-FFF2-40B4-BE49-F238E27FC236}">
                <a16:creationId xmlns:a16="http://schemas.microsoft.com/office/drawing/2014/main" id="{0BDA95CA-2749-4658-8C76-B64EFAD310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1300" y="3915561"/>
            <a:ext cx="1790700" cy="720725"/>
          </a:xfrm>
          <a:prstGeom prst="wedgeRoundRectCallout">
            <a:avLst>
              <a:gd name="adj1" fmla="val 112193"/>
              <a:gd name="adj2" fmla="val -110351"/>
              <a:gd name="adj3" fmla="val 16667"/>
            </a:avLst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2075" tIns="46038" rIns="92075" bIns="46038"/>
          <a:lstStyle>
            <a:lvl1pPr eaLnBrk="0" hangingPunct="0">
              <a:lnSpc>
                <a:spcPct val="120000"/>
              </a:lnSpc>
              <a:spcBef>
                <a:spcPct val="20000"/>
              </a:spcBef>
              <a:spcAft>
                <a:spcPct val="1000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lnSpc>
                <a:spcPct val="120000"/>
              </a:lnSpc>
              <a:spcBef>
                <a:spcPct val="20000"/>
              </a:spcBef>
              <a:spcAft>
                <a:spcPct val="10000"/>
              </a:spcAft>
              <a:buClr>
                <a:srgbClr val="993300"/>
              </a:buClr>
              <a:buFont typeface="Wingdings" panose="05000000000000000000" pitchFamily="2" charset="2"/>
              <a:buChar char="ü"/>
              <a:defRPr sz="2400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49" charset="-122"/>
                <a:cs typeface="楷体_GB2312" pitchFamily="49" charset="-122"/>
              </a:defRPr>
            </a:lvl2pPr>
            <a:lvl3pPr marL="1143000" indent="-228600" eaLnBrk="0" hangingPunct="0">
              <a:lnSpc>
                <a:spcPct val="120000"/>
              </a:lnSpc>
              <a:spcBef>
                <a:spcPct val="20000"/>
              </a:spcBef>
              <a:spcAft>
                <a:spcPct val="10000"/>
              </a:spcAft>
              <a:buClr>
                <a:srgbClr val="333300"/>
              </a:buClr>
              <a:buSzPct val="80000"/>
              <a:buFont typeface="Wingdings" panose="05000000000000000000" pitchFamily="2" charset="2"/>
              <a:buChar char="n"/>
              <a:defRPr sz="2200" b="1">
                <a:solidFill>
                  <a:srgbClr val="6600CC"/>
                </a:solidFill>
                <a:latin typeface="Times New Roman" panose="02020603050405020304" pitchFamily="18" charset="0"/>
                <a:ea typeface="仿宋_GB2312" pitchFamily="49" charset="-122"/>
                <a:cs typeface="仿宋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仿宋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仿宋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spcAft>
                <a:spcPct val="0"/>
              </a:spcAft>
              <a:buClrTx/>
              <a:buFontTx/>
              <a:buNone/>
            </a:pPr>
            <a:r>
              <a:rPr kumimoji="1" lang="zh-CN" altLang="en-US" sz="2000" dirty="0">
                <a:solidFill>
                  <a:srgbClr val="2A2EF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缓冲区可接收的最大字符数</a:t>
            </a:r>
          </a:p>
        </p:txBody>
      </p:sp>
      <p:sp>
        <p:nvSpPr>
          <p:cNvPr id="16" name="AutoShape 4">
            <a:extLst>
              <a:ext uri="{FF2B5EF4-FFF2-40B4-BE49-F238E27FC236}">
                <a16:creationId xmlns:a16="http://schemas.microsoft.com/office/drawing/2014/main" id="{B4DFC5AA-65C7-44F4-94D0-2425E44C06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9161" y="3915561"/>
            <a:ext cx="1571839" cy="720725"/>
          </a:xfrm>
          <a:prstGeom prst="wedgeRoundRectCallout">
            <a:avLst>
              <a:gd name="adj1" fmla="val 23110"/>
              <a:gd name="adj2" fmla="val -105065"/>
              <a:gd name="adj3" fmla="val 16667"/>
            </a:avLst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2075" tIns="46038" rIns="92075" bIns="46038"/>
          <a:lstStyle>
            <a:lvl1pPr eaLnBrk="0" hangingPunct="0">
              <a:lnSpc>
                <a:spcPct val="120000"/>
              </a:lnSpc>
              <a:spcBef>
                <a:spcPct val="20000"/>
              </a:spcBef>
              <a:spcAft>
                <a:spcPct val="1000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lnSpc>
                <a:spcPct val="120000"/>
              </a:lnSpc>
              <a:spcBef>
                <a:spcPct val="20000"/>
              </a:spcBef>
              <a:spcAft>
                <a:spcPct val="10000"/>
              </a:spcAft>
              <a:buClr>
                <a:srgbClr val="993300"/>
              </a:buClr>
              <a:buFont typeface="Wingdings" panose="05000000000000000000" pitchFamily="2" charset="2"/>
              <a:buChar char="ü"/>
              <a:defRPr sz="2400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49" charset="-122"/>
                <a:cs typeface="楷体_GB2312" pitchFamily="49" charset="-122"/>
              </a:defRPr>
            </a:lvl2pPr>
            <a:lvl3pPr marL="1143000" indent="-228600" eaLnBrk="0" hangingPunct="0">
              <a:lnSpc>
                <a:spcPct val="120000"/>
              </a:lnSpc>
              <a:spcBef>
                <a:spcPct val="20000"/>
              </a:spcBef>
              <a:spcAft>
                <a:spcPct val="10000"/>
              </a:spcAft>
              <a:buClr>
                <a:srgbClr val="333300"/>
              </a:buClr>
              <a:buSzPct val="80000"/>
              <a:buFont typeface="Wingdings" panose="05000000000000000000" pitchFamily="2" charset="2"/>
              <a:buChar char="n"/>
              <a:defRPr sz="2200" b="1">
                <a:solidFill>
                  <a:srgbClr val="6600CC"/>
                </a:solidFill>
                <a:latin typeface="Times New Roman" panose="02020603050405020304" pitchFamily="18" charset="0"/>
                <a:ea typeface="仿宋_GB2312" pitchFamily="49" charset="-122"/>
                <a:cs typeface="仿宋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仿宋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仿宋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spcAft>
                <a:spcPct val="0"/>
              </a:spcAft>
              <a:buClrTx/>
              <a:buFontTx/>
              <a:buNone/>
            </a:pPr>
            <a:r>
              <a:rPr kumimoji="1" lang="zh-CN" altLang="en-US" sz="2000" dirty="0">
                <a:solidFill>
                  <a:srgbClr val="2A2EF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实际接收的字符个数</a:t>
            </a:r>
          </a:p>
        </p:txBody>
      </p:sp>
      <p:sp>
        <p:nvSpPr>
          <p:cNvPr id="17" name="AutoShape 4">
            <a:extLst>
              <a:ext uri="{FF2B5EF4-FFF2-40B4-BE49-F238E27FC236}">
                <a16:creationId xmlns:a16="http://schemas.microsoft.com/office/drawing/2014/main" id="{7C28B26B-08D4-43DA-8173-C8417DD305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2258" y="3915561"/>
            <a:ext cx="1096855" cy="720725"/>
          </a:xfrm>
          <a:prstGeom prst="wedgeRoundRectCallout">
            <a:avLst>
              <a:gd name="adj1" fmla="val -22407"/>
              <a:gd name="adj2" fmla="val -105065"/>
              <a:gd name="adj3" fmla="val 16667"/>
            </a:avLst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2075" tIns="46038" rIns="92075" bIns="46038"/>
          <a:lstStyle>
            <a:lvl1pPr eaLnBrk="0" hangingPunct="0">
              <a:lnSpc>
                <a:spcPct val="120000"/>
              </a:lnSpc>
              <a:spcBef>
                <a:spcPct val="20000"/>
              </a:spcBef>
              <a:spcAft>
                <a:spcPct val="1000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lnSpc>
                <a:spcPct val="120000"/>
              </a:lnSpc>
              <a:spcBef>
                <a:spcPct val="20000"/>
              </a:spcBef>
              <a:spcAft>
                <a:spcPct val="10000"/>
              </a:spcAft>
              <a:buClr>
                <a:srgbClr val="993300"/>
              </a:buClr>
              <a:buFont typeface="Wingdings" panose="05000000000000000000" pitchFamily="2" charset="2"/>
              <a:buChar char="ü"/>
              <a:defRPr sz="2400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49" charset="-122"/>
                <a:cs typeface="楷体_GB2312" pitchFamily="49" charset="-122"/>
              </a:defRPr>
            </a:lvl2pPr>
            <a:lvl3pPr marL="1143000" indent="-228600" eaLnBrk="0" hangingPunct="0">
              <a:lnSpc>
                <a:spcPct val="120000"/>
              </a:lnSpc>
              <a:spcBef>
                <a:spcPct val="20000"/>
              </a:spcBef>
              <a:spcAft>
                <a:spcPct val="10000"/>
              </a:spcAft>
              <a:buClr>
                <a:srgbClr val="333300"/>
              </a:buClr>
              <a:buSzPct val="80000"/>
              <a:buFont typeface="Wingdings" panose="05000000000000000000" pitchFamily="2" charset="2"/>
              <a:buChar char="n"/>
              <a:defRPr sz="2200" b="1">
                <a:solidFill>
                  <a:srgbClr val="6600CC"/>
                </a:solidFill>
                <a:latin typeface="Times New Roman" panose="02020603050405020304" pitchFamily="18" charset="0"/>
                <a:ea typeface="仿宋_GB2312" pitchFamily="49" charset="-122"/>
                <a:cs typeface="仿宋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仿宋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仿宋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spcAft>
                <a:spcPct val="0"/>
              </a:spcAft>
              <a:buClrTx/>
              <a:buFontTx/>
              <a:buNone/>
            </a:pPr>
            <a:r>
              <a:rPr kumimoji="1" lang="zh-CN" altLang="en-US" sz="2000" dirty="0">
                <a:solidFill>
                  <a:srgbClr val="2A2EF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接收的字符串</a:t>
            </a:r>
          </a:p>
        </p:txBody>
      </p:sp>
    </p:spTree>
    <p:extLst>
      <p:ext uri="{BB962C8B-B14F-4D97-AF65-F5344CB8AC3E}">
        <p14:creationId xmlns:p14="http://schemas.microsoft.com/office/powerpoint/2010/main" val="1244298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>
            <a:extLst>
              <a:ext uri="{FF2B5EF4-FFF2-40B4-BE49-F238E27FC236}">
                <a16:creationId xmlns:a16="http://schemas.microsoft.com/office/drawing/2014/main" id="{53BA7E79-B0A8-4025-9E5E-EAC7789C8F66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7C041877-94E5-4D84-A050-73F304948E8F}" type="datetime5">
              <a:rPr lang="zh-CN" altLang="en-US" smtClean="0"/>
              <a:t>2024/10/23</a:t>
            </a:fld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353F689-2E51-BF4F-AE47-7CEB7CC4C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1233" y="278120"/>
            <a:ext cx="7735857" cy="610863"/>
          </a:xfrm>
        </p:spPr>
        <p:txBody>
          <a:bodyPr rtlCol="0">
            <a:normAutofit/>
          </a:bodyPr>
          <a:lstStyle/>
          <a:p>
            <a:r>
              <a:rPr lang="zh-CN" altLang="en-US" dirty="0"/>
              <a:t>程序设计基础</a:t>
            </a:r>
            <a:r>
              <a:rPr lang="en-US" altLang="zh-CN" dirty="0"/>
              <a:t>-</a:t>
            </a:r>
            <a:r>
              <a:rPr lang="en-US" altLang="zh-CN" sz="2800" dirty="0">
                <a:latin typeface="Consolas" panose="020B0609020204030204" pitchFamily="49" charset="0"/>
              </a:rPr>
              <a:t>0A</a:t>
            </a:r>
            <a:r>
              <a:rPr lang="zh-CN" altLang="en-US" sz="2800" dirty="0"/>
              <a:t>号功能调用注意事项</a:t>
            </a:r>
            <a:endParaRPr lang="zh-CN" altLang="en-US" sz="2800" dirty="0">
              <a:latin typeface="Consolas" panose="020B0609020204030204" pitchFamily="49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8F1A81D-7BC1-4ED3-A5AE-D705A01B0027}"/>
              </a:ext>
            </a:extLst>
          </p:cNvPr>
          <p:cNvSpPr txBox="1"/>
          <p:nvPr/>
        </p:nvSpPr>
        <p:spPr>
          <a:xfrm>
            <a:off x="251501" y="198830"/>
            <a:ext cx="88106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4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01</a:t>
            </a:r>
            <a:endParaRPr lang="zh-CN" altLang="en-US" sz="4400" dirty="0">
              <a:solidFill>
                <a:schemeClr val="bg1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cxnSp>
        <p:nvCxnSpPr>
          <p:cNvPr id="38" name="直接连接符​​(S) 32">
            <a:extLst>
              <a:ext uri="{FF2B5EF4-FFF2-40B4-BE49-F238E27FC236}">
                <a16:creationId xmlns:a16="http://schemas.microsoft.com/office/drawing/2014/main" id="{44FA863A-BCC7-480F-9582-D068990344C3}"/>
              </a:ext>
            </a:extLst>
          </p:cNvPr>
          <p:cNvCxnSpPr>
            <a:cxnSpLocks/>
          </p:cNvCxnSpPr>
          <p:nvPr/>
        </p:nvCxnSpPr>
        <p:spPr>
          <a:xfrm>
            <a:off x="691536" y="1642227"/>
            <a:ext cx="1350206" cy="0"/>
          </a:xfrm>
          <a:prstGeom prst="line">
            <a:avLst/>
          </a:prstGeom>
          <a:ln w="101600">
            <a:solidFill>
              <a:srgbClr val="4495A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文本占位符 3">
            <a:extLst>
              <a:ext uri="{FF2B5EF4-FFF2-40B4-BE49-F238E27FC236}">
                <a16:creationId xmlns:a16="http://schemas.microsoft.com/office/drawing/2014/main" id="{AAEAF377-295A-4D37-975B-EF01F2B826C3}"/>
              </a:ext>
            </a:extLst>
          </p:cNvPr>
          <p:cNvSpPr txBox="1">
            <a:spLocks/>
          </p:cNvSpPr>
          <p:nvPr/>
        </p:nvSpPr>
        <p:spPr>
          <a:xfrm>
            <a:off x="692035" y="1117056"/>
            <a:ext cx="5188065" cy="3937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/>
              <a:t>输入字符串的长度限制</a:t>
            </a:r>
          </a:p>
        </p:txBody>
      </p:sp>
      <p:sp>
        <p:nvSpPr>
          <p:cNvPr id="14" name="文本占位符 3">
            <a:extLst>
              <a:ext uri="{FF2B5EF4-FFF2-40B4-BE49-F238E27FC236}">
                <a16:creationId xmlns:a16="http://schemas.microsoft.com/office/drawing/2014/main" id="{24A4B366-93AE-4642-8328-C61BE70AC932}"/>
              </a:ext>
            </a:extLst>
          </p:cNvPr>
          <p:cNvSpPr txBox="1">
            <a:spLocks/>
          </p:cNvSpPr>
          <p:nvPr/>
        </p:nvSpPr>
        <p:spPr>
          <a:xfrm>
            <a:off x="1132569" y="1862212"/>
            <a:ext cx="7516130" cy="18080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输入字符串的长度受限于</a:t>
            </a:r>
            <a:r>
              <a:rPr lang="zh-CN" altLang="en-US" b="1" dirty="0">
                <a:solidFill>
                  <a:srgbClr val="7CA65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缓冲区的第一个字节数据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若缓冲区定义：</a:t>
            </a:r>
            <a:r>
              <a:rPr lang="pt-BR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BUF </a:t>
            </a:r>
            <a:r>
              <a:rPr lang="pt-BR" altLang="zh-CN" dirty="0">
                <a:solidFill>
                  <a:srgbClr val="0080FF"/>
                </a:solidFill>
                <a:latin typeface="Courier New" panose="02070309020205020404" pitchFamily="49" charset="0"/>
              </a:rPr>
              <a:t>DB</a:t>
            </a:r>
            <a:r>
              <a:rPr lang="pt-BR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10</a:t>
            </a:r>
            <a:r>
              <a:rPr lang="pt-BR" altLang="zh-CN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pt-BR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pt-BR" altLang="zh-CN" b="1" dirty="0">
                <a:solidFill>
                  <a:srgbClr val="000080"/>
                </a:solidFill>
                <a:latin typeface="Courier New" panose="02070309020205020404" pitchFamily="49" charset="0"/>
              </a:rPr>
              <a:t>?,</a:t>
            </a:r>
            <a:r>
              <a:rPr lang="pt-BR" altLang="zh-CN" dirty="0">
                <a:solidFill>
                  <a:srgbClr val="000000"/>
                </a:solidFill>
                <a:latin typeface="Courier New" panose="02070309020205020404" pitchFamily="49" charset="0"/>
              </a:rPr>
              <a:t> 10 </a:t>
            </a:r>
            <a:r>
              <a:rPr lang="pt-BR" altLang="zh-CN" dirty="0">
                <a:solidFill>
                  <a:srgbClr val="0080FF"/>
                </a:solidFill>
                <a:latin typeface="Courier New" panose="02070309020205020404" pitchFamily="49" charset="0"/>
              </a:rPr>
              <a:t>DUP</a:t>
            </a:r>
            <a:r>
              <a:rPr lang="pt-BR" altLang="zh-CN" b="1" dirty="0">
                <a:solidFill>
                  <a:srgbClr val="000080"/>
                </a:solidFill>
                <a:latin typeface="Courier New" panose="02070309020205020404" pitchFamily="49" charset="0"/>
              </a:rPr>
              <a:t>(0)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000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则最多可输入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9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个字符</a:t>
            </a:r>
          </a:p>
          <a:p>
            <a:pPr marL="1028666" lvl="1" indent="-342900">
              <a:buFont typeface="Wingdings" panose="05000000000000000000" pitchFamily="2" charset="2"/>
              <a:buChar char="n"/>
            </a:pPr>
            <a:r>
              <a:rPr lang="zh-CN" altLang="en-US" sz="2000" dirty="0"/>
              <a:t>字符串输入的</a:t>
            </a:r>
            <a:r>
              <a:rPr lang="zh-CN" altLang="en-US" sz="2000" b="1" dirty="0"/>
              <a:t>回车结束符也会保存于缓冲区中</a:t>
            </a:r>
          </a:p>
        </p:txBody>
      </p:sp>
      <p:cxnSp>
        <p:nvCxnSpPr>
          <p:cNvPr id="12" name="直接连接符​​(S) 32">
            <a:extLst>
              <a:ext uri="{FF2B5EF4-FFF2-40B4-BE49-F238E27FC236}">
                <a16:creationId xmlns:a16="http://schemas.microsoft.com/office/drawing/2014/main" id="{2AD847B9-75C5-4367-8DAF-423608AB580C}"/>
              </a:ext>
            </a:extLst>
          </p:cNvPr>
          <p:cNvCxnSpPr>
            <a:cxnSpLocks/>
          </p:cNvCxnSpPr>
          <p:nvPr/>
        </p:nvCxnSpPr>
        <p:spPr>
          <a:xfrm>
            <a:off x="691536" y="4230833"/>
            <a:ext cx="1350206" cy="0"/>
          </a:xfrm>
          <a:prstGeom prst="line">
            <a:avLst/>
          </a:prstGeom>
          <a:ln w="101600">
            <a:solidFill>
              <a:srgbClr val="4495A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文本占位符 3">
            <a:extLst>
              <a:ext uri="{FF2B5EF4-FFF2-40B4-BE49-F238E27FC236}">
                <a16:creationId xmlns:a16="http://schemas.microsoft.com/office/drawing/2014/main" id="{2EB382F3-5213-451E-AA30-99EA4A6DAE6A}"/>
              </a:ext>
            </a:extLst>
          </p:cNvPr>
          <p:cNvSpPr txBox="1">
            <a:spLocks/>
          </p:cNvSpPr>
          <p:nvPr/>
        </p:nvSpPr>
        <p:spPr>
          <a:xfrm>
            <a:off x="692035" y="3705662"/>
            <a:ext cx="5188065" cy="3937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/>
              <a:t>缓冲区初始化</a:t>
            </a:r>
          </a:p>
        </p:txBody>
      </p:sp>
      <p:sp>
        <p:nvSpPr>
          <p:cNvPr id="18" name="文本占位符 3">
            <a:extLst>
              <a:ext uri="{FF2B5EF4-FFF2-40B4-BE49-F238E27FC236}">
                <a16:creationId xmlns:a16="http://schemas.microsoft.com/office/drawing/2014/main" id="{9BC8B955-19D4-47FA-A0E4-A452DD38DCB6}"/>
              </a:ext>
            </a:extLst>
          </p:cNvPr>
          <p:cNvSpPr txBox="1">
            <a:spLocks/>
          </p:cNvSpPr>
          <p:nvPr/>
        </p:nvSpPr>
        <p:spPr>
          <a:xfrm>
            <a:off x="1132569" y="4450818"/>
            <a:ext cx="7516130" cy="18080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若输入的字符串最终需要输出，则可在缓冲区定义时，将其初始化为“</a:t>
            </a:r>
            <a:r>
              <a:rPr lang="en-US" altLang="zh-CN" dirty="0">
                <a:latin typeface="Consolas" panose="020B0609020204030204" pitchFamily="49" charset="0"/>
                <a:ea typeface="微软雅黑" panose="020B0503020204020204" pitchFamily="34" charset="-122"/>
              </a:rPr>
              <a:t>$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，以使输出的字符串能够正常结束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注意最后输入的回车符的处理</a:t>
            </a:r>
            <a:endParaRPr lang="zh-CN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6396756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>
            <a:extLst>
              <a:ext uri="{FF2B5EF4-FFF2-40B4-BE49-F238E27FC236}">
                <a16:creationId xmlns:a16="http://schemas.microsoft.com/office/drawing/2014/main" id="{53BA7E79-B0A8-4025-9E5E-EAC7789C8F66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7C041877-94E5-4D84-A050-73F304948E8F}" type="datetime5">
              <a:rPr lang="zh-CN" altLang="en-US" smtClean="0"/>
              <a:t>2024/10/23</a:t>
            </a:fld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353F689-2E51-BF4F-AE47-7CEB7CC4C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dirty="0"/>
              <a:t>顺序程序</a:t>
            </a:r>
            <a:r>
              <a:rPr lang="en-US" altLang="zh-CN" dirty="0"/>
              <a:t>-</a:t>
            </a:r>
            <a:r>
              <a:rPr lang="zh-CN" altLang="en-US" sz="2800" dirty="0"/>
              <a:t>程序设计概述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8F1A81D-7BC1-4ED3-A5AE-D705A01B0027}"/>
              </a:ext>
            </a:extLst>
          </p:cNvPr>
          <p:cNvSpPr txBox="1"/>
          <p:nvPr/>
        </p:nvSpPr>
        <p:spPr>
          <a:xfrm>
            <a:off x="251501" y="198830"/>
            <a:ext cx="88106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4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01</a:t>
            </a:r>
            <a:endParaRPr lang="zh-CN" altLang="en-US" sz="4400" dirty="0">
              <a:solidFill>
                <a:schemeClr val="bg1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cxnSp>
        <p:nvCxnSpPr>
          <p:cNvPr id="21" name="直接连接符​​(S) 32">
            <a:extLst>
              <a:ext uri="{FF2B5EF4-FFF2-40B4-BE49-F238E27FC236}">
                <a16:creationId xmlns:a16="http://schemas.microsoft.com/office/drawing/2014/main" id="{A4CEC0F3-0471-4B0B-87CC-9943DADB3A41}"/>
              </a:ext>
            </a:extLst>
          </p:cNvPr>
          <p:cNvCxnSpPr>
            <a:cxnSpLocks/>
          </p:cNvCxnSpPr>
          <p:nvPr/>
        </p:nvCxnSpPr>
        <p:spPr>
          <a:xfrm>
            <a:off x="691536" y="1642227"/>
            <a:ext cx="1350206" cy="0"/>
          </a:xfrm>
          <a:prstGeom prst="line">
            <a:avLst/>
          </a:prstGeom>
          <a:ln w="101600">
            <a:solidFill>
              <a:srgbClr val="4495A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文本占位符 3">
            <a:extLst>
              <a:ext uri="{FF2B5EF4-FFF2-40B4-BE49-F238E27FC236}">
                <a16:creationId xmlns:a16="http://schemas.microsoft.com/office/drawing/2014/main" id="{7F364775-61DA-4FB3-8AF3-1DBA41E67289}"/>
              </a:ext>
            </a:extLst>
          </p:cNvPr>
          <p:cNvSpPr txBox="1">
            <a:spLocks/>
          </p:cNvSpPr>
          <p:nvPr/>
        </p:nvSpPr>
        <p:spPr>
          <a:xfrm>
            <a:off x="692035" y="1117056"/>
            <a:ext cx="6026265" cy="3937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/>
              <a:t>汇编源程序编程基本步骤</a:t>
            </a:r>
          </a:p>
        </p:txBody>
      </p:sp>
      <p:sp>
        <p:nvSpPr>
          <p:cNvPr id="10" name="文本占位符 3">
            <a:extLst>
              <a:ext uri="{FF2B5EF4-FFF2-40B4-BE49-F238E27FC236}">
                <a16:creationId xmlns:a16="http://schemas.microsoft.com/office/drawing/2014/main" id="{ED63E77F-9AE4-4C13-A98D-41EADF6311C1}"/>
              </a:ext>
            </a:extLst>
          </p:cNvPr>
          <p:cNvSpPr txBox="1">
            <a:spLocks/>
          </p:cNvSpPr>
          <p:nvPr/>
        </p:nvSpPr>
        <p:spPr>
          <a:xfrm>
            <a:off x="1132569" y="1862211"/>
            <a:ext cx="7516130" cy="311618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分析问题，建立数学模型</a:t>
            </a:r>
          </a:p>
          <a:p>
            <a:pPr marL="457200" indent="-457200">
              <a:buFont typeface="+mj-lt"/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确定算法</a:t>
            </a:r>
          </a:p>
          <a:p>
            <a:pPr marL="457200" indent="-457200">
              <a:buFont typeface="+mj-lt"/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设计程序流程，画出</a:t>
            </a:r>
            <a:r>
              <a:rPr lang="zh-CN" altLang="en-US" b="1" dirty="0">
                <a:solidFill>
                  <a:srgbClr val="7CA655"/>
                </a:solidFill>
              </a:rPr>
              <a:t>程序流程图</a:t>
            </a:r>
          </a:p>
          <a:p>
            <a:pPr marL="457200" indent="-457200">
              <a:buFont typeface="+mj-lt"/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定义变量，分配内存单元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定义数据段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编写源程序</a:t>
            </a:r>
          </a:p>
          <a:p>
            <a:pPr marL="457200" indent="-457200">
              <a:buFont typeface="+mj-lt"/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上机调试、修改</a:t>
            </a:r>
            <a:endParaRPr lang="zh-CN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533222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>
            <a:extLst>
              <a:ext uri="{FF2B5EF4-FFF2-40B4-BE49-F238E27FC236}">
                <a16:creationId xmlns:a16="http://schemas.microsoft.com/office/drawing/2014/main" id="{53BA7E79-B0A8-4025-9E5E-EAC7789C8F66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7C041877-94E5-4D84-A050-73F304948E8F}" type="datetime5">
              <a:rPr lang="zh-CN" altLang="en-US" smtClean="0"/>
              <a:t>2024/10/23</a:t>
            </a:fld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353F689-2E51-BF4F-AE47-7CEB7CC4C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1233" y="278120"/>
            <a:ext cx="7601265" cy="610863"/>
          </a:xfrm>
        </p:spPr>
        <p:txBody>
          <a:bodyPr rtlCol="0"/>
          <a:lstStyle/>
          <a:p>
            <a:pPr rtl="0"/>
            <a:r>
              <a:rPr lang="zh-CN" altLang="en-US" dirty="0"/>
              <a:t>顺序程序</a:t>
            </a:r>
            <a:r>
              <a:rPr lang="en-US" altLang="zh-CN" dirty="0"/>
              <a:t>-</a:t>
            </a:r>
            <a:r>
              <a:rPr lang="zh-CN" altLang="en-US" sz="2800" dirty="0"/>
              <a:t>程序流程图的基本元素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8F1A81D-7BC1-4ED3-A5AE-D705A01B0027}"/>
              </a:ext>
            </a:extLst>
          </p:cNvPr>
          <p:cNvSpPr txBox="1"/>
          <p:nvPr/>
        </p:nvSpPr>
        <p:spPr>
          <a:xfrm>
            <a:off x="251501" y="198830"/>
            <a:ext cx="88106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4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01</a:t>
            </a:r>
            <a:endParaRPr lang="zh-CN" altLang="en-US" sz="4400" dirty="0">
              <a:solidFill>
                <a:schemeClr val="bg1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cxnSp>
        <p:nvCxnSpPr>
          <p:cNvPr id="21" name="直接连接符​​(S) 32">
            <a:extLst>
              <a:ext uri="{FF2B5EF4-FFF2-40B4-BE49-F238E27FC236}">
                <a16:creationId xmlns:a16="http://schemas.microsoft.com/office/drawing/2014/main" id="{A4CEC0F3-0471-4B0B-87CC-9943DADB3A41}"/>
              </a:ext>
            </a:extLst>
          </p:cNvPr>
          <p:cNvCxnSpPr>
            <a:cxnSpLocks/>
          </p:cNvCxnSpPr>
          <p:nvPr/>
        </p:nvCxnSpPr>
        <p:spPr>
          <a:xfrm>
            <a:off x="691536" y="1642227"/>
            <a:ext cx="1350206" cy="0"/>
          </a:xfrm>
          <a:prstGeom prst="line">
            <a:avLst/>
          </a:prstGeom>
          <a:ln w="101600">
            <a:solidFill>
              <a:srgbClr val="4495A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文本占位符 3">
            <a:extLst>
              <a:ext uri="{FF2B5EF4-FFF2-40B4-BE49-F238E27FC236}">
                <a16:creationId xmlns:a16="http://schemas.microsoft.com/office/drawing/2014/main" id="{7F364775-61DA-4FB3-8AF3-1DBA41E67289}"/>
              </a:ext>
            </a:extLst>
          </p:cNvPr>
          <p:cNvSpPr txBox="1">
            <a:spLocks/>
          </p:cNvSpPr>
          <p:nvPr/>
        </p:nvSpPr>
        <p:spPr>
          <a:xfrm>
            <a:off x="692035" y="1117056"/>
            <a:ext cx="6026265" cy="3937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/>
              <a:t>汇编源程序编程基本步骤</a:t>
            </a:r>
          </a:p>
        </p:txBody>
      </p:sp>
      <p:sp>
        <p:nvSpPr>
          <p:cNvPr id="10" name="文本占位符 3">
            <a:extLst>
              <a:ext uri="{FF2B5EF4-FFF2-40B4-BE49-F238E27FC236}">
                <a16:creationId xmlns:a16="http://schemas.microsoft.com/office/drawing/2014/main" id="{ED63E77F-9AE4-4C13-A98D-41EADF6311C1}"/>
              </a:ext>
            </a:extLst>
          </p:cNvPr>
          <p:cNvSpPr txBox="1">
            <a:spLocks/>
          </p:cNvSpPr>
          <p:nvPr/>
        </p:nvSpPr>
        <p:spPr>
          <a:xfrm>
            <a:off x="1132569" y="1862212"/>
            <a:ext cx="7516130" cy="318005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7CA655"/>
                </a:solidFill>
              </a:rPr>
              <a:t>起止框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：圆角矩形</a:t>
            </a:r>
          </a:p>
          <a:p>
            <a:pPr marL="1028666" lvl="1" indent="-342900">
              <a:buFont typeface="Wingdings" panose="05000000000000000000" pitchFamily="2" charset="2"/>
              <a:buChar char="n"/>
            </a:pPr>
            <a:r>
              <a:rPr lang="zh-CN" altLang="en-US" sz="2000" dirty="0"/>
              <a:t>一个出口，</a:t>
            </a:r>
            <a:r>
              <a:rPr lang="zh-CN" altLang="en-US" sz="2000" b="1" dirty="0"/>
              <a:t>或</a:t>
            </a:r>
            <a:r>
              <a:rPr lang="zh-CN" altLang="en-US" sz="2000" dirty="0"/>
              <a:t>一个入口</a:t>
            </a:r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7CA655"/>
                </a:solidFill>
              </a:rPr>
              <a:t>执行框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：矩形</a:t>
            </a:r>
            <a:endParaRPr lang="zh-CN" altLang="en-US" b="1" dirty="0">
              <a:solidFill>
                <a:srgbClr val="7CA655"/>
              </a:solidFill>
            </a:endParaRPr>
          </a:p>
          <a:p>
            <a:pPr marL="1028666" lvl="1" indent="-342900">
              <a:buFont typeface="Wingdings" panose="05000000000000000000" pitchFamily="2" charset="2"/>
              <a:buChar char="n"/>
            </a:pPr>
            <a:r>
              <a:rPr lang="zh-CN" altLang="en-US" sz="2000" dirty="0"/>
              <a:t>一个出口</a:t>
            </a:r>
            <a:r>
              <a:rPr lang="zh-CN" altLang="en-US" sz="2000" b="1" dirty="0"/>
              <a:t>和</a:t>
            </a:r>
            <a:r>
              <a:rPr lang="zh-CN" altLang="en-US" sz="2000" dirty="0"/>
              <a:t>一个入口</a:t>
            </a:r>
            <a:endParaRPr lang="en-US" altLang="zh-CN" sz="2000" dirty="0"/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7CA655"/>
                </a:solidFill>
              </a:rPr>
              <a:t>判断框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：菱形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028666" lvl="1" indent="-342900">
              <a:buFont typeface="Wingdings" panose="05000000000000000000" pitchFamily="2" charset="2"/>
              <a:buChar char="n"/>
            </a:pPr>
            <a:r>
              <a:rPr lang="zh-CN" altLang="en-US" sz="2000" dirty="0"/>
              <a:t>一个入口和</a:t>
            </a:r>
            <a:r>
              <a:rPr lang="zh-CN" altLang="en-US" sz="2000" b="1" dirty="0"/>
              <a:t>多个出口</a:t>
            </a:r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7CA655"/>
                </a:solidFill>
              </a:rPr>
              <a:t>流向线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：直线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折线箭头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028666" lvl="1" indent="-342900">
              <a:buFont typeface="Wingdings" panose="05000000000000000000" pitchFamily="2" charset="2"/>
              <a:buChar char="n"/>
            </a:pPr>
            <a:r>
              <a:rPr lang="zh-CN" altLang="en-US" sz="2000" dirty="0"/>
              <a:t>有向连接线</a:t>
            </a:r>
          </a:p>
        </p:txBody>
      </p:sp>
      <p:sp>
        <p:nvSpPr>
          <p:cNvPr id="9" name="AutoShape 4">
            <a:extLst>
              <a:ext uri="{FF2B5EF4-FFF2-40B4-BE49-F238E27FC236}">
                <a16:creationId xmlns:a16="http://schemas.microsoft.com/office/drawing/2014/main" id="{AF2BC210-ED92-43FA-814F-26969E6A15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1862211"/>
            <a:ext cx="1295400" cy="504825"/>
          </a:xfrm>
          <a:prstGeom prst="roundRect">
            <a:avLst>
              <a:gd name="adj" fmla="val 27516"/>
            </a:avLst>
          </a:prstGeom>
          <a:noFill/>
          <a:ln w="28575">
            <a:solidFill>
              <a:srgbClr val="2A2EF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eaLnBrk="0" hangingPunct="0">
              <a:lnSpc>
                <a:spcPct val="120000"/>
              </a:lnSpc>
              <a:spcBef>
                <a:spcPct val="20000"/>
              </a:spcBef>
              <a:spcAft>
                <a:spcPct val="1000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lnSpc>
                <a:spcPct val="120000"/>
              </a:lnSpc>
              <a:spcBef>
                <a:spcPct val="20000"/>
              </a:spcBef>
              <a:spcAft>
                <a:spcPct val="10000"/>
              </a:spcAft>
              <a:buClr>
                <a:srgbClr val="993300"/>
              </a:buClr>
              <a:buFont typeface="Wingdings" panose="05000000000000000000" pitchFamily="2" charset="2"/>
              <a:buChar char="ü"/>
              <a:defRPr sz="2400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20000"/>
              </a:lnSpc>
              <a:spcBef>
                <a:spcPct val="20000"/>
              </a:spcBef>
              <a:spcAft>
                <a:spcPct val="10000"/>
              </a:spcAft>
              <a:buClr>
                <a:srgbClr val="333300"/>
              </a:buClr>
              <a:buSzPct val="80000"/>
              <a:buFont typeface="Wingdings" panose="05000000000000000000" pitchFamily="2" charset="2"/>
              <a:buChar char="n"/>
              <a:defRPr sz="2200" b="1">
                <a:solidFill>
                  <a:srgbClr val="6600CC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zh-CN" altLang="en-US" b="0">
              <a:latin typeface="Tahoma" panose="020B0604030504040204" pitchFamily="34" charset="0"/>
            </a:endParaRP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CF76E89A-4D43-4139-8B1A-FFBA777C20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7831" y="2785078"/>
            <a:ext cx="1296988" cy="503237"/>
          </a:xfrm>
          <a:prstGeom prst="rect">
            <a:avLst/>
          </a:prstGeom>
          <a:noFill/>
          <a:ln w="28575" algn="ctr">
            <a:solidFill>
              <a:srgbClr val="2A2EF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eaLnBrk="0" hangingPunct="0">
              <a:lnSpc>
                <a:spcPct val="120000"/>
              </a:lnSpc>
              <a:spcBef>
                <a:spcPct val="20000"/>
              </a:spcBef>
              <a:spcAft>
                <a:spcPct val="1000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lnSpc>
                <a:spcPct val="120000"/>
              </a:lnSpc>
              <a:spcBef>
                <a:spcPct val="20000"/>
              </a:spcBef>
              <a:spcAft>
                <a:spcPct val="10000"/>
              </a:spcAft>
              <a:buClr>
                <a:srgbClr val="993300"/>
              </a:buClr>
              <a:buFont typeface="Wingdings" panose="05000000000000000000" pitchFamily="2" charset="2"/>
              <a:buChar char="ü"/>
              <a:defRPr sz="2400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20000"/>
              </a:lnSpc>
              <a:spcBef>
                <a:spcPct val="20000"/>
              </a:spcBef>
              <a:spcAft>
                <a:spcPct val="10000"/>
              </a:spcAft>
              <a:buClr>
                <a:srgbClr val="333300"/>
              </a:buClr>
              <a:buSzPct val="80000"/>
              <a:buFont typeface="Wingdings" panose="05000000000000000000" pitchFamily="2" charset="2"/>
              <a:buChar char="n"/>
              <a:defRPr sz="2200" b="1">
                <a:solidFill>
                  <a:srgbClr val="6600CC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zh-CN" altLang="en-US" b="0">
              <a:latin typeface="Tahoma" panose="020B0604030504040204" pitchFamily="34" charset="0"/>
            </a:endParaRPr>
          </a:p>
        </p:txBody>
      </p:sp>
      <p:sp>
        <p:nvSpPr>
          <p:cNvPr id="13" name="AutoShape 6">
            <a:extLst>
              <a:ext uri="{FF2B5EF4-FFF2-40B4-BE49-F238E27FC236}">
                <a16:creationId xmlns:a16="http://schemas.microsoft.com/office/drawing/2014/main" id="{E6B3D42A-A836-4311-B94B-1853D4EEA0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4163" y="3706357"/>
            <a:ext cx="1584325" cy="574675"/>
          </a:xfrm>
          <a:prstGeom prst="flowChartDecision">
            <a:avLst/>
          </a:prstGeom>
          <a:noFill/>
          <a:ln w="28575" algn="ctr">
            <a:solidFill>
              <a:srgbClr val="2A2EF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eaLnBrk="0" hangingPunct="0">
              <a:lnSpc>
                <a:spcPct val="120000"/>
              </a:lnSpc>
              <a:spcBef>
                <a:spcPct val="20000"/>
              </a:spcBef>
              <a:spcAft>
                <a:spcPct val="1000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lnSpc>
                <a:spcPct val="120000"/>
              </a:lnSpc>
              <a:spcBef>
                <a:spcPct val="20000"/>
              </a:spcBef>
              <a:spcAft>
                <a:spcPct val="10000"/>
              </a:spcAft>
              <a:buClr>
                <a:srgbClr val="993300"/>
              </a:buClr>
              <a:buFont typeface="Wingdings" panose="05000000000000000000" pitchFamily="2" charset="2"/>
              <a:buChar char="ü"/>
              <a:defRPr sz="2400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20000"/>
              </a:lnSpc>
              <a:spcBef>
                <a:spcPct val="20000"/>
              </a:spcBef>
              <a:spcAft>
                <a:spcPct val="10000"/>
              </a:spcAft>
              <a:buClr>
                <a:srgbClr val="333300"/>
              </a:buClr>
              <a:buSzPct val="80000"/>
              <a:buFont typeface="Wingdings" panose="05000000000000000000" pitchFamily="2" charset="2"/>
              <a:buChar char="n"/>
              <a:defRPr sz="2200" b="1">
                <a:solidFill>
                  <a:srgbClr val="6600CC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zh-CN" altLang="en-US" b="0">
              <a:latin typeface="Tahoma" panose="020B0604030504040204" pitchFamily="34" charset="0"/>
            </a:endParaRPr>
          </a:p>
        </p:txBody>
      </p:sp>
      <p:sp>
        <p:nvSpPr>
          <p:cNvPr id="14" name="Line 7">
            <a:extLst>
              <a:ext uri="{FF2B5EF4-FFF2-40B4-BE49-F238E27FC236}">
                <a16:creationId xmlns:a16="http://schemas.microsoft.com/office/drawing/2014/main" id="{DE5C2C3E-EC2A-4D08-B5CE-1658CF74C123}"/>
              </a:ext>
            </a:extLst>
          </p:cNvPr>
          <p:cNvSpPr>
            <a:spLocks noChangeShapeType="1"/>
          </p:cNvSpPr>
          <p:nvPr/>
        </p:nvSpPr>
        <p:spPr bwMode="auto">
          <a:xfrm>
            <a:off x="5399882" y="4699074"/>
            <a:ext cx="1512887" cy="0"/>
          </a:xfrm>
          <a:prstGeom prst="line">
            <a:avLst/>
          </a:prstGeom>
          <a:noFill/>
          <a:ln w="28575">
            <a:solidFill>
              <a:srgbClr val="2A2EF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4125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  <p:bldP spid="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>
            <a:extLst>
              <a:ext uri="{FF2B5EF4-FFF2-40B4-BE49-F238E27FC236}">
                <a16:creationId xmlns:a16="http://schemas.microsoft.com/office/drawing/2014/main" id="{53BA7E79-B0A8-4025-9E5E-EAC7789C8F66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7C041877-94E5-4D84-A050-73F304948E8F}" type="datetime5">
              <a:rPr lang="zh-CN" altLang="en-US" smtClean="0"/>
              <a:t>2024/10/23</a:t>
            </a:fld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353F689-2E51-BF4F-AE47-7CEB7CC4C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dirty="0"/>
              <a:t>分支程序</a:t>
            </a:r>
            <a:r>
              <a:rPr lang="en-US" altLang="zh-CN" dirty="0"/>
              <a:t>-</a:t>
            </a:r>
            <a:r>
              <a:rPr lang="zh-CN" altLang="en-US" sz="2800" dirty="0"/>
              <a:t>单分支结构程序示例</a:t>
            </a:r>
            <a:r>
              <a:rPr lang="en-US" altLang="zh-CN" sz="2800" dirty="0"/>
              <a:t>1</a:t>
            </a:r>
            <a:endParaRPr lang="zh-CN" altLang="en-US" sz="28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8F1A81D-7BC1-4ED3-A5AE-D705A01B0027}"/>
              </a:ext>
            </a:extLst>
          </p:cNvPr>
          <p:cNvSpPr txBox="1"/>
          <p:nvPr/>
        </p:nvSpPr>
        <p:spPr>
          <a:xfrm>
            <a:off x="251501" y="198830"/>
            <a:ext cx="88106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4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01</a:t>
            </a:r>
            <a:endParaRPr lang="zh-CN" altLang="en-US" sz="4400" dirty="0">
              <a:solidFill>
                <a:schemeClr val="bg1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sp>
        <p:nvSpPr>
          <p:cNvPr id="22" name="文本占位符 3">
            <a:extLst>
              <a:ext uri="{FF2B5EF4-FFF2-40B4-BE49-F238E27FC236}">
                <a16:creationId xmlns:a16="http://schemas.microsoft.com/office/drawing/2014/main" id="{7F364775-61DA-4FB3-8AF3-1DBA41E67289}"/>
              </a:ext>
            </a:extLst>
          </p:cNvPr>
          <p:cNvSpPr txBox="1">
            <a:spLocks/>
          </p:cNvSpPr>
          <p:nvPr/>
        </p:nvSpPr>
        <p:spPr>
          <a:xfrm>
            <a:off x="692034" y="1117056"/>
            <a:ext cx="8451963" cy="3937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/>
              <a:t>编写程序，完成 </a:t>
            </a:r>
            <a:r>
              <a:rPr lang="en-US" altLang="zh-CN" b="1" dirty="0">
                <a:latin typeface="Consolas" panose="020B0609020204030204" pitchFamily="49" charset="0"/>
              </a:rPr>
              <a:t>Z=|X-Y|</a:t>
            </a:r>
            <a:r>
              <a:rPr lang="en-US" altLang="zh-CN" b="1" dirty="0"/>
              <a:t> </a:t>
            </a:r>
            <a:r>
              <a:rPr lang="zh-CN" altLang="en-US" b="1" dirty="0"/>
              <a:t>的计算，假定 </a:t>
            </a:r>
            <a:r>
              <a:rPr lang="en-US" altLang="zh-CN" b="1" dirty="0">
                <a:latin typeface="Consolas" panose="020B0609020204030204" pitchFamily="49" charset="0"/>
              </a:rPr>
              <a:t>X</a:t>
            </a:r>
            <a:r>
              <a:rPr lang="zh-CN" altLang="en-US" b="1" dirty="0"/>
              <a:t>、</a:t>
            </a:r>
            <a:r>
              <a:rPr lang="en-US" altLang="zh-CN" b="1" dirty="0">
                <a:latin typeface="Consolas" panose="020B0609020204030204" pitchFamily="49" charset="0"/>
              </a:rPr>
              <a:t>Y</a:t>
            </a:r>
            <a:r>
              <a:rPr lang="en-US" altLang="zh-CN" b="1" dirty="0"/>
              <a:t> </a:t>
            </a:r>
            <a:r>
              <a:rPr lang="zh-CN" altLang="en-US" b="1" dirty="0"/>
              <a:t>为有符号字变量</a:t>
            </a:r>
          </a:p>
        </p:txBody>
      </p:sp>
      <p:cxnSp>
        <p:nvCxnSpPr>
          <p:cNvPr id="20" name="直接连接符​​(S) 32">
            <a:extLst>
              <a:ext uri="{FF2B5EF4-FFF2-40B4-BE49-F238E27FC236}">
                <a16:creationId xmlns:a16="http://schemas.microsoft.com/office/drawing/2014/main" id="{F03310E7-043F-4BBD-A504-C4018661690A}"/>
              </a:ext>
            </a:extLst>
          </p:cNvPr>
          <p:cNvCxnSpPr>
            <a:cxnSpLocks/>
          </p:cNvCxnSpPr>
          <p:nvPr/>
        </p:nvCxnSpPr>
        <p:spPr>
          <a:xfrm>
            <a:off x="691536" y="1642227"/>
            <a:ext cx="1350206" cy="0"/>
          </a:xfrm>
          <a:prstGeom prst="line">
            <a:avLst/>
          </a:prstGeom>
          <a:ln w="101600">
            <a:solidFill>
              <a:srgbClr val="4495A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文本占位符 3">
            <a:extLst>
              <a:ext uri="{FF2B5EF4-FFF2-40B4-BE49-F238E27FC236}">
                <a16:creationId xmlns:a16="http://schemas.microsoft.com/office/drawing/2014/main" id="{035AC203-1177-4D2C-8A1B-D3F6768DCABC}"/>
              </a:ext>
            </a:extLst>
          </p:cNvPr>
          <p:cNvSpPr txBox="1">
            <a:spLocks/>
          </p:cNvSpPr>
          <p:nvPr/>
        </p:nvSpPr>
        <p:spPr>
          <a:xfrm>
            <a:off x="1132569" y="1862211"/>
            <a:ext cx="3680731" cy="352258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思路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028666" lvl="1" indent="-342900">
              <a:buFont typeface="Wingdings" panose="05000000000000000000" pitchFamily="2" charset="2"/>
              <a:buChar char="n"/>
            </a:pPr>
            <a:r>
              <a:rPr lang="zh-CN" altLang="en-US" sz="2000" dirty="0"/>
              <a:t>减法：</a:t>
            </a:r>
            <a:r>
              <a:rPr lang="en-US" altLang="zh-CN" sz="2000" dirty="0">
                <a:latin typeface="Consolas" panose="020B0609020204030204" pitchFamily="49" charset="0"/>
              </a:rPr>
              <a:t>X-Y</a:t>
            </a:r>
            <a:r>
              <a:rPr lang="en-US" altLang="zh-CN" sz="1200" dirty="0">
                <a:latin typeface="Consolas" panose="020B0609020204030204" pitchFamily="49" charset="0"/>
                <a:sym typeface="Wingdings" panose="05000000000000000000" pitchFamily="2" charset="2"/>
              </a:rPr>
              <a:t>  </a:t>
            </a:r>
            <a:r>
              <a:rPr lang="en-US" altLang="zh-CN" sz="2000" dirty="0">
                <a:latin typeface="Consolas" panose="020B0609020204030204" pitchFamily="49" charset="0"/>
              </a:rPr>
              <a:t>AX</a:t>
            </a:r>
          </a:p>
          <a:p>
            <a:pPr marL="1028666" lvl="1" indent="-342900">
              <a:buFont typeface="Wingdings" panose="05000000000000000000" pitchFamily="2" charset="2"/>
              <a:buChar char="n"/>
            </a:pPr>
            <a:r>
              <a:rPr lang="zh-CN" altLang="en-US" sz="2000" dirty="0"/>
              <a:t>若 </a:t>
            </a:r>
            <a:r>
              <a:rPr lang="en-US" altLang="zh-CN" sz="2000" b="1" dirty="0">
                <a:solidFill>
                  <a:srgbClr val="7BA654"/>
                </a:solidFill>
                <a:latin typeface="Consolas" panose="020B0609020204030204" pitchFamily="49" charset="0"/>
              </a:rPr>
              <a:t>AX≥0</a:t>
            </a:r>
            <a:r>
              <a:rPr lang="zh-CN" altLang="en-US" sz="2000" dirty="0"/>
              <a:t>，则结果即为所求；否则，求 </a:t>
            </a:r>
            <a:r>
              <a:rPr lang="en-US" altLang="zh-CN" sz="2000" dirty="0">
                <a:latin typeface="Consolas" panose="020B0609020204030204" pitchFamily="49" charset="0"/>
              </a:rPr>
              <a:t>AX</a:t>
            </a:r>
            <a:r>
              <a:rPr lang="en-US" altLang="zh-CN" sz="2000" dirty="0"/>
              <a:t> </a:t>
            </a:r>
            <a:r>
              <a:rPr lang="zh-CN" altLang="en-US" sz="2000" dirty="0"/>
              <a:t>的</a:t>
            </a:r>
            <a:r>
              <a:rPr lang="zh-CN" altLang="en-US" sz="2000" b="1" dirty="0"/>
              <a:t>相反数</a:t>
            </a:r>
            <a:r>
              <a:rPr lang="zh-CN" altLang="en-US" sz="2000" dirty="0"/>
              <a:t>即可</a:t>
            </a:r>
            <a:endParaRPr lang="en-US" altLang="zh-CN" sz="2000" dirty="0"/>
          </a:p>
          <a:p>
            <a:pPr marL="457200" lvl="1" indent="-457200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程序段：</a:t>
            </a:r>
          </a:p>
          <a:p>
            <a:pPr marL="914353" lvl="2" indent="0">
              <a:spcBef>
                <a:spcPts val="0"/>
              </a:spcBef>
              <a:buNone/>
            </a:pPr>
            <a:r>
              <a:rPr lang="en-US" altLang="zh-CN" sz="20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SUB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000" b="1" dirty="0">
                <a:solidFill>
                  <a:srgbClr val="8080FF"/>
                </a:solidFill>
                <a:effectLst/>
                <a:latin typeface="Courier New" panose="02070309020205020404" pitchFamily="49" charset="0"/>
              </a:rPr>
              <a:t>AX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Y</a:t>
            </a:r>
          </a:p>
          <a:p>
            <a:pPr marL="914353" lvl="2" indent="0">
              <a:spcBef>
                <a:spcPts val="0"/>
              </a:spcBef>
              <a:buNone/>
            </a:pPr>
            <a:r>
              <a:rPr lang="en-US" altLang="zh-CN" sz="20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JNS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EXIT</a:t>
            </a:r>
          </a:p>
          <a:p>
            <a:pPr marL="914353" lvl="2" indent="0">
              <a:spcBef>
                <a:spcPts val="0"/>
              </a:spcBef>
              <a:buNone/>
            </a:pPr>
            <a:r>
              <a:rPr lang="en-US" altLang="zh-CN" sz="20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NEG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000" b="1" dirty="0">
                <a:solidFill>
                  <a:srgbClr val="8080FF"/>
                </a:solidFill>
                <a:effectLst/>
                <a:latin typeface="Courier New" panose="02070309020205020404" pitchFamily="49" charset="0"/>
              </a:rPr>
              <a:t>AX</a:t>
            </a:r>
            <a:endParaRPr lang="en-US" altLang="zh-CN" sz="20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spcBef>
                <a:spcPts val="0"/>
              </a:spcBef>
            </a:pPr>
            <a:r>
              <a:rPr lang="en-US" altLang="zh-CN" sz="20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EXIT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: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…… </a:t>
            </a:r>
            <a:endParaRPr lang="en-US" altLang="zh-CN" sz="1050" dirty="0">
              <a:effectLst/>
            </a:endParaRPr>
          </a:p>
          <a:p>
            <a:pPr marL="1028666" lvl="1" indent="-342900">
              <a:buFont typeface="Wingdings" panose="05000000000000000000" pitchFamily="2" charset="2"/>
              <a:buChar char="n"/>
            </a:pPr>
            <a:endParaRPr lang="zh-CN" altLang="en-US" sz="2000" b="1" dirty="0">
              <a:solidFill>
                <a:srgbClr val="7BA654"/>
              </a:solidFill>
            </a:endParaRPr>
          </a:p>
        </p:txBody>
      </p:sp>
      <p:sp>
        <p:nvSpPr>
          <p:cNvPr id="24" name="AutoShape 4">
            <a:extLst>
              <a:ext uri="{FF2B5EF4-FFF2-40B4-BE49-F238E27FC236}">
                <a16:creationId xmlns:a16="http://schemas.microsoft.com/office/drawing/2014/main" id="{9EF3369E-39C0-439E-BDD4-0D86215FAE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2225" y="1767007"/>
            <a:ext cx="1008063" cy="442674"/>
          </a:xfrm>
          <a:prstGeom prst="flowChartAlternateProcess">
            <a:avLst/>
          </a:prstGeom>
          <a:noFill/>
          <a:ln w="28575" algn="ctr">
            <a:solidFill>
              <a:srgbClr val="2A2EF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  始</a:t>
            </a:r>
          </a:p>
        </p:txBody>
      </p:sp>
      <p:sp>
        <p:nvSpPr>
          <p:cNvPr id="25" name="Rectangle 5">
            <a:extLst>
              <a:ext uri="{FF2B5EF4-FFF2-40B4-BE49-F238E27FC236}">
                <a16:creationId xmlns:a16="http://schemas.microsoft.com/office/drawing/2014/main" id="{C0B18F96-A51E-44A2-98DA-EE12514F4B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0425" y="2562195"/>
            <a:ext cx="1871663" cy="400110"/>
          </a:xfrm>
          <a:prstGeom prst="rect">
            <a:avLst/>
          </a:prstGeom>
          <a:noFill/>
          <a:ln w="28575" algn="ctr">
            <a:solidFill>
              <a:srgbClr val="2A2EF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X-Y </a:t>
            </a:r>
            <a:r>
              <a:rPr lang="en-US" altLang="zh-CN" sz="2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sym typeface="Wingdings" panose="05000000000000000000" pitchFamily="2" charset="2"/>
              </a:rPr>
              <a:t> AX</a:t>
            </a:r>
          </a:p>
        </p:txBody>
      </p:sp>
      <p:sp>
        <p:nvSpPr>
          <p:cNvPr id="26" name="Rectangle 6">
            <a:extLst>
              <a:ext uri="{FF2B5EF4-FFF2-40B4-BE49-F238E27FC236}">
                <a16:creationId xmlns:a16="http://schemas.microsoft.com/office/drawing/2014/main" id="{BF6962EB-9B97-4E13-93F9-96F87D2D5D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1863" y="4543395"/>
            <a:ext cx="1728787" cy="400110"/>
          </a:xfrm>
          <a:prstGeom prst="rect">
            <a:avLst/>
          </a:prstGeom>
          <a:noFill/>
          <a:ln w="28575" algn="ctr">
            <a:solidFill>
              <a:srgbClr val="2A2EF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0-AX </a:t>
            </a:r>
            <a:r>
              <a:rPr lang="en-US" altLang="zh-CN" sz="2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sym typeface="Wingdings" panose="05000000000000000000" pitchFamily="2" charset="2"/>
              </a:rPr>
              <a:t> AX</a:t>
            </a:r>
          </a:p>
        </p:txBody>
      </p:sp>
      <p:sp>
        <p:nvSpPr>
          <p:cNvPr id="27" name="AutoShape 7">
            <a:extLst>
              <a:ext uri="{FF2B5EF4-FFF2-40B4-BE49-F238E27FC236}">
                <a16:creationId xmlns:a16="http://schemas.microsoft.com/office/drawing/2014/main" id="{6F0E9FEE-B180-43DA-95FC-3814493D40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2725" y="3233212"/>
            <a:ext cx="3168650" cy="794802"/>
          </a:xfrm>
          <a:prstGeom prst="flowChartDecision">
            <a:avLst/>
          </a:prstGeom>
          <a:noFill/>
          <a:ln w="28575" algn="ctr">
            <a:solidFill>
              <a:srgbClr val="2A2EF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AX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≥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</a:p>
        </p:txBody>
      </p:sp>
      <p:sp>
        <p:nvSpPr>
          <p:cNvPr id="28" name="AutoShape 8">
            <a:extLst>
              <a:ext uri="{FF2B5EF4-FFF2-40B4-BE49-F238E27FC236}">
                <a16:creationId xmlns:a16="http://schemas.microsoft.com/office/drawing/2014/main" id="{92205AB7-8DDD-4C30-966A-7FD5C6F75F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8574" y="6088182"/>
            <a:ext cx="995363" cy="442674"/>
          </a:xfrm>
          <a:prstGeom prst="flowChartAlternateProcess">
            <a:avLst/>
          </a:prstGeom>
          <a:noFill/>
          <a:ln w="28575" algn="ctr">
            <a:solidFill>
              <a:srgbClr val="2A2EF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  束</a:t>
            </a:r>
          </a:p>
        </p:txBody>
      </p:sp>
      <p:cxnSp>
        <p:nvCxnSpPr>
          <p:cNvPr id="29" name="AutoShape 9">
            <a:extLst>
              <a:ext uri="{FF2B5EF4-FFF2-40B4-BE49-F238E27FC236}">
                <a16:creationId xmlns:a16="http://schemas.microsoft.com/office/drawing/2014/main" id="{72E9C278-4BC8-49B9-BD77-D552971152CD}"/>
              </a:ext>
            </a:extLst>
          </p:cNvPr>
          <p:cNvCxnSpPr>
            <a:cxnSpLocks noChangeShapeType="1"/>
            <a:stCxn id="24" idx="2"/>
            <a:endCxn id="25" idx="0"/>
          </p:cNvCxnSpPr>
          <p:nvPr/>
        </p:nvCxnSpPr>
        <p:spPr bwMode="auto">
          <a:xfrm>
            <a:off x="6876257" y="2209681"/>
            <a:ext cx="0" cy="352514"/>
          </a:xfrm>
          <a:prstGeom prst="straightConnector1">
            <a:avLst/>
          </a:prstGeom>
          <a:noFill/>
          <a:ln w="28575" algn="ctr">
            <a:solidFill>
              <a:srgbClr val="2A2EFC"/>
            </a:solidFill>
            <a:miter lim="800000"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cxnSp>
      <p:cxnSp>
        <p:nvCxnSpPr>
          <p:cNvPr id="30" name="AutoShape 10">
            <a:extLst>
              <a:ext uri="{FF2B5EF4-FFF2-40B4-BE49-F238E27FC236}">
                <a16:creationId xmlns:a16="http://schemas.microsoft.com/office/drawing/2014/main" id="{73EA665C-48CD-4D2E-8B29-C68AB26EBC67}"/>
              </a:ext>
            </a:extLst>
          </p:cNvPr>
          <p:cNvCxnSpPr>
            <a:cxnSpLocks noChangeShapeType="1"/>
            <a:stCxn id="25" idx="2"/>
            <a:endCxn id="27" idx="0"/>
          </p:cNvCxnSpPr>
          <p:nvPr/>
        </p:nvCxnSpPr>
        <p:spPr bwMode="auto">
          <a:xfrm>
            <a:off x="6876257" y="2962305"/>
            <a:ext cx="793" cy="270907"/>
          </a:xfrm>
          <a:prstGeom prst="straightConnector1">
            <a:avLst/>
          </a:prstGeom>
          <a:noFill/>
          <a:ln w="28575" algn="ctr">
            <a:solidFill>
              <a:srgbClr val="2A2EFC"/>
            </a:solidFill>
            <a:miter lim="800000"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cxnSp>
      <p:cxnSp>
        <p:nvCxnSpPr>
          <p:cNvPr id="31" name="AutoShape 11">
            <a:extLst>
              <a:ext uri="{FF2B5EF4-FFF2-40B4-BE49-F238E27FC236}">
                <a16:creationId xmlns:a16="http://schemas.microsoft.com/office/drawing/2014/main" id="{110712E2-AFE2-4659-8903-9CECB84E6274}"/>
              </a:ext>
            </a:extLst>
          </p:cNvPr>
          <p:cNvCxnSpPr>
            <a:cxnSpLocks noChangeShapeType="1"/>
            <a:stCxn id="27" idx="2"/>
            <a:endCxn id="26" idx="0"/>
          </p:cNvCxnSpPr>
          <p:nvPr/>
        </p:nvCxnSpPr>
        <p:spPr bwMode="auto">
          <a:xfrm flipH="1">
            <a:off x="6876257" y="4028014"/>
            <a:ext cx="793" cy="515381"/>
          </a:xfrm>
          <a:prstGeom prst="straightConnector1">
            <a:avLst/>
          </a:prstGeom>
          <a:noFill/>
          <a:ln w="28575" algn="ctr">
            <a:solidFill>
              <a:srgbClr val="2A2EFC"/>
            </a:solidFill>
            <a:miter lim="800000"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cxnSp>
      <p:cxnSp>
        <p:nvCxnSpPr>
          <p:cNvPr id="32" name="AutoShape 12">
            <a:extLst>
              <a:ext uri="{FF2B5EF4-FFF2-40B4-BE49-F238E27FC236}">
                <a16:creationId xmlns:a16="http://schemas.microsoft.com/office/drawing/2014/main" id="{1A914F7C-9917-43BD-B8DC-84DC463F690C}"/>
              </a:ext>
            </a:extLst>
          </p:cNvPr>
          <p:cNvCxnSpPr>
            <a:cxnSpLocks noChangeShapeType="1"/>
            <a:stCxn id="26" idx="2"/>
            <a:endCxn id="36" idx="0"/>
          </p:cNvCxnSpPr>
          <p:nvPr/>
        </p:nvCxnSpPr>
        <p:spPr bwMode="auto">
          <a:xfrm>
            <a:off x="6876257" y="4943505"/>
            <a:ext cx="0" cy="422245"/>
          </a:xfrm>
          <a:prstGeom prst="straightConnector1">
            <a:avLst/>
          </a:prstGeom>
          <a:noFill/>
          <a:ln w="28575" algn="ctr">
            <a:solidFill>
              <a:srgbClr val="2A2EFC"/>
            </a:solidFill>
            <a:miter lim="800000"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cxnSp>
      <p:cxnSp>
        <p:nvCxnSpPr>
          <p:cNvPr id="33" name="AutoShape 13">
            <a:extLst>
              <a:ext uri="{FF2B5EF4-FFF2-40B4-BE49-F238E27FC236}">
                <a16:creationId xmlns:a16="http://schemas.microsoft.com/office/drawing/2014/main" id="{F8BF88C1-7F82-40C7-A102-81689CB1C820}"/>
              </a:ext>
            </a:extLst>
          </p:cNvPr>
          <p:cNvCxnSpPr>
            <a:cxnSpLocks noChangeShapeType="1"/>
            <a:stCxn id="27" idx="3"/>
            <a:endCxn id="36" idx="0"/>
          </p:cNvCxnSpPr>
          <p:nvPr/>
        </p:nvCxnSpPr>
        <p:spPr bwMode="auto">
          <a:xfrm flipH="1">
            <a:off x="6876257" y="3630613"/>
            <a:ext cx="1585118" cy="1735137"/>
          </a:xfrm>
          <a:prstGeom prst="bentConnector4">
            <a:avLst>
              <a:gd name="adj1" fmla="val -20465"/>
              <a:gd name="adj2" fmla="val 87070"/>
            </a:avLst>
          </a:prstGeom>
          <a:noFill/>
          <a:ln w="28575" algn="ctr">
            <a:solidFill>
              <a:srgbClr val="2A2EF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cxnSp>
      <p:sp>
        <p:nvSpPr>
          <p:cNvPr id="34" name="Rectangle 14">
            <a:extLst>
              <a:ext uri="{FF2B5EF4-FFF2-40B4-BE49-F238E27FC236}">
                <a16:creationId xmlns:a16="http://schemas.microsoft.com/office/drawing/2014/main" id="{614849F4-28E8-4728-8EDA-AE60BF7E67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9788" y="3262313"/>
            <a:ext cx="35137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spcAft>
                <a:spcPct val="1000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spcAft>
                <a:spcPct val="10000"/>
              </a:spcAft>
              <a:buClr>
                <a:srgbClr val="993300"/>
              </a:buClr>
              <a:buFont typeface="Wingdings" panose="05000000000000000000" pitchFamily="2" charset="2"/>
              <a:buChar char="ü"/>
              <a:defRPr sz="2400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spcAft>
                <a:spcPct val="10000"/>
              </a:spcAft>
              <a:buClr>
                <a:srgbClr val="333300"/>
              </a:buClr>
              <a:buSzPct val="80000"/>
              <a:buFont typeface="Wingdings" panose="05000000000000000000" pitchFamily="2" charset="2"/>
              <a:buChar char="n"/>
              <a:defRPr sz="2200" b="1">
                <a:solidFill>
                  <a:srgbClr val="6600CC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</a:p>
        </p:txBody>
      </p:sp>
      <p:sp>
        <p:nvSpPr>
          <p:cNvPr id="35" name="Rectangle 15">
            <a:extLst>
              <a:ext uri="{FF2B5EF4-FFF2-40B4-BE49-F238E27FC236}">
                <a16:creationId xmlns:a16="http://schemas.microsoft.com/office/drawing/2014/main" id="{A4E32383-A8E5-4483-B6FE-17CAF66359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9925" y="4076700"/>
            <a:ext cx="40267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spcAft>
                <a:spcPct val="10000"/>
              </a:spcAft>
              <a:buClr>
                <a:schemeClr val="folHlink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spcAft>
                <a:spcPct val="10000"/>
              </a:spcAft>
              <a:buClr>
                <a:srgbClr val="993300"/>
              </a:buClr>
              <a:buFont typeface="Wingdings" panose="05000000000000000000" pitchFamily="2" charset="2"/>
              <a:buChar char="ü"/>
              <a:defRPr sz="2400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spcAft>
                <a:spcPct val="10000"/>
              </a:spcAft>
              <a:buClr>
                <a:srgbClr val="333300"/>
              </a:buClr>
              <a:buSzPct val="80000"/>
              <a:buFont typeface="Wingdings" panose="05000000000000000000" pitchFamily="2" charset="2"/>
              <a:buChar char="n"/>
              <a:defRPr sz="2200" b="1">
                <a:solidFill>
                  <a:srgbClr val="6600CC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</a:p>
        </p:txBody>
      </p:sp>
      <p:sp>
        <p:nvSpPr>
          <p:cNvPr id="36" name="Rectangle 16">
            <a:extLst>
              <a:ext uri="{FF2B5EF4-FFF2-40B4-BE49-F238E27FC236}">
                <a16:creationId xmlns:a16="http://schemas.microsoft.com/office/drawing/2014/main" id="{798B8A9D-B381-462C-B524-8DD53EC3D3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0425" y="5365750"/>
            <a:ext cx="1871663" cy="409575"/>
          </a:xfrm>
          <a:prstGeom prst="rect">
            <a:avLst/>
          </a:prstGeom>
          <a:noFill/>
          <a:ln w="28575" algn="ctr">
            <a:solidFill>
              <a:srgbClr val="2A2EF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AX </a:t>
            </a:r>
            <a:r>
              <a:rPr lang="en-US" altLang="zh-CN" sz="2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sym typeface="Wingdings" panose="05000000000000000000" pitchFamily="2" charset="2"/>
              </a:rPr>
              <a:t> Z</a:t>
            </a:r>
          </a:p>
        </p:txBody>
      </p:sp>
      <p:cxnSp>
        <p:nvCxnSpPr>
          <p:cNvPr id="37" name="AutoShape 17">
            <a:extLst>
              <a:ext uri="{FF2B5EF4-FFF2-40B4-BE49-F238E27FC236}">
                <a16:creationId xmlns:a16="http://schemas.microsoft.com/office/drawing/2014/main" id="{BD67764F-292A-4404-99CB-61A271B67C4F}"/>
              </a:ext>
            </a:extLst>
          </p:cNvPr>
          <p:cNvCxnSpPr>
            <a:cxnSpLocks noChangeShapeType="1"/>
            <a:stCxn id="36" idx="2"/>
            <a:endCxn id="28" idx="0"/>
          </p:cNvCxnSpPr>
          <p:nvPr/>
        </p:nvCxnSpPr>
        <p:spPr bwMode="auto">
          <a:xfrm rot="5400000">
            <a:off x="6719829" y="5931753"/>
            <a:ext cx="312857" cy="1"/>
          </a:xfrm>
          <a:prstGeom prst="bentConnector3">
            <a:avLst>
              <a:gd name="adj1" fmla="val 50000"/>
            </a:avLst>
          </a:prstGeom>
          <a:noFill/>
          <a:ln w="28575" algn="ctr">
            <a:solidFill>
              <a:srgbClr val="2A2EFC"/>
            </a:solidFill>
            <a:miter lim="800000"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3188347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75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25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0"/>
                            </p:stCondLst>
                            <p:childTnLst>
                              <p:par>
                                <p:cTn id="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750"/>
                            </p:stCondLst>
                            <p:childTnLst>
                              <p:par>
                                <p:cTn id="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000"/>
                            </p:stCondLst>
                            <p:childTnLst>
                              <p:par>
                                <p:cTn id="5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250"/>
                            </p:stCondLst>
                            <p:childTnLst>
                              <p:par>
                                <p:cTn id="5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6" grpId="0" animBg="1"/>
      <p:bldP spid="27" grpId="0" animBg="1"/>
      <p:bldP spid="28" grpId="0" animBg="1"/>
      <p:bldP spid="34" grpId="0"/>
      <p:bldP spid="35" grpId="0"/>
      <p:bldP spid="3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>
            <a:extLst>
              <a:ext uri="{FF2B5EF4-FFF2-40B4-BE49-F238E27FC236}">
                <a16:creationId xmlns:a16="http://schemas.microsoft.com/office/drawing/2014/main" id="{53BA7E79-B0A8-4025-9E5E-EAC7789C8F66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7C041877-94E5-4D84-A050-73F304948E8F}" type="datetime5">
              <a:rPr lang="zh-CN" altLang="en-US" smtClean="0"/>
              <a:t>2024/10/23</a:t>
            </a:fld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353F689-2E51-BF4F-AE47-7CEB7CC4C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dirty="0"/>
              <a:t>实验一：基本编程方法练习</a:t>
            </a:r>
            <a:endParaRPr lang="zh-CN" altLang="en-US" sz="28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8F1A81D-7BC1-4ED3-A5AE-D705A01B0027}"/>
              </a:ext>
            </a:extLst>
          </p:cNvPr>
          <p:cNvSpPr txBox="1"/>
          <p:nvPr/>
        </p:nvSpPr>
        <p:spPr>
          <a:xfrm>
            <a:off x="251501" y="198830"/>
            <a:ext cx="88106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4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02</a:t>
            </a:r>
            <a:endParaRPr lang="zh-CN" altLang="en-US" sz="4400" dirty="0">
              <a:solidFill>
                <a:schemeClr val="bg1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cxnSp>
        <p:nvCxnSpPr>
          <p:cNvPr id="21" name="直接连接符​​(S) 32">
            <a:extLst>
              <a:ext uri="{FF2B5EF4-FFF2-40B4-BE49-F238E27FC236}">
                <a16:creationId xmlns:a16="http://schemas.microsoft.com/office/drawing/2014/main" id="{A4CEC0F3-0471-4B0B-87CC-9943DADB3A41}"/>
              </a:ext>
            </a:extLst>
          </p:cNvPr>
          <p:cNvCxnSpPr>
            <a:cxnSpLocks/>
          </p:cNvCxnSpPr>
          <p:nvPr/>
        </p:nvCxnSpPr>
        <p:spPr>
          <a:xfrm>
            <a:off x="691536" y="1642227"/>
            <a:ext cx="1350206" cy="0"/>
          </a:xfrm>
          <a:prstGeom prst="line">
            <a:avLst/>
          </a:prstGeom>
          <a:ln w="101600">
            <a:solidFill>
              <a:srgbClr val="4495A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文本占位符 3">
            <a:extLst>
              <a:ext uri="{FF2B5EF4-FFF2-40B4-BE49-F238E27FC236}">
                <a16:creationId xmlns:a16="http://schemas.microsoft.com/office/drawing/2014/main" id="{7F364775-61DA-4FB3-8AF3-1DBA41E67289}"/>
              </a:ext>
            </a:extLst>
          </p:cNvPr>
          <p:cNvSpPr txBox="1">
            <a:spLocks/>
          </p:cNvSpPr>
          <p:nvPr/>
        </p:nvSpPr>
        <p:spPr>
          <a:xfrm>
            <a:off x="692035" y="1117056"/>
            <a:ext cx="6026265" cy="3937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/>
              <a:t>实验目的</a:t>
            </a:r>
          </a:p>
        </p:txBody>
      </p:sp>
      <p:sp>
        <p:nvSpPr>
          <p:cNvPr id="10" name="文本占位符 3">
            <a:extLst>
              <a:ext uri="{FF2B5EF4-FFF2-40B4-BE49-F238E27FC236}">
                <a16:creationId xmlns:a16="http://schemas.microsoft.com/office/drawing/2014/main" id="{ED63E77F-9AE4-4C13-A98D-41EADF6311C1}"/>
              </a:ext>
            </a:extLst>
          </p:cNvPr>
          <p:cNvSpPr txBox="1">
            <a:spLocks/>
          </p:cNvSpPr>
          <p:nvPr/>
        </p:nvSpPr>
        <p:spPr>
          <a:xfrm>
            <a:off x="1132569" y="1862211"/>
            <a:ext cx="7516130" cy="311618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通过编制简单的程序，练习汇编语言基本编程方法；</a:t>
            </a:r>
          </a:p>
          <a:p>
            <a:pPr marL="457200" indent="-457200">
              <a:buFont typeface="+mj-lt"/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练习在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Debug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状态下调试程序的方法。</a:t>
            </a:r>
          </a:p>
        </p:txBody>
      </p:sp>
    </p:spTree>
    <p:extLst>
      <p:ext uri="{BB962C8B-B14F-4D97-AF65-F5344CB8AC3E}">
        <p14:creationId xmlns:p14="http://schemas.microsoft.com/office/powerpoint/2010/main" val="13470154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>
            <a:extLst>
              <a:ext uri="{FF2B5EF4-FFF2-40B4-BE49-F238E27FC236}">
                <a16:creationId xmlns:a16="http://schemas.microsoft.com/office/drawing/2014/main" id="{53BA7E79-B0A8-4025-9E5E-EAC7789C8F66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7C041877-94E5-4D84-A050-73F304948E8F}" type="datetime5">
              <a:rPr lang="zh-CN" altLang="en-US" smtClean="0"/>
              <a:t>2024/10/23</a:t>
            </a:fld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353F689-2E51-BF4F-AE47-7CEB7CC4C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dirty="0"/>
              <a:t>实验一：基本编程方法练习</a:t>
            </a:r>
            <a:endParaRPr lang="zh-CN" altLang="en-US" sz="28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8F1A81D-7BC1-4ED3-A5AE-D705A01B0027}"/>
              </a:ext>
            </a:extLst>
          </p:cNvPr>
          <p:cNvSpPr txBox="1"/>
          <p:nvPr/>
        </p:nvSpPr>
        <p:spPr>
          <a:xfrm>
            <a:off x="251501" y="198830"/>
            <a:ext cx="88106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4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02</a:t>
            </a:r>
            <a:endParaRPr lang="zh-CN" altLang="en-US" sz="4400" dirty="0">
              <a:solidFill>
                <a:schemeClr val="bg1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cxnSp>
        <p:nvCxnSpPr>
          <p:cNvPr id="21" name="直接连接符​​(S) 32">
            <a:extLst>
              <a:ext uri="{FF2B5EF4-FFF2-40B4-BE49-F238E27FC236}">
                <a16:creationId xmlns:a16="http://schemas.microsoft.com/office/drawing/2014/main" id="{A4CEC0F3-0471-4B0B-87CC-9943DADB3A41}"/>
              </a:ext>
            </a:extLst>
          </p:cNvPr>
          <p:cNvCxnSpPr>
            <a:cxnSpLocks/>
          </p:cNvCxnSpPr>
          <p:nvPr/>
        </p:nvCxnSpPr>
        <p:spPr>
          <a:xfrm>
            <a:off x="691536" y="1642227"/>
            <a:ext cx="1350206" cy="0"/>
          </a:xfrm>
          <a:prstGeom prst="line">
            <a:avLst/>
          </a:prstGeom>
          <a:ln w="101600">
            <a:solidFill>
              <a:srgbClr val="4495A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文本占位符 3">
            <a:extLst>
              <a:ext uri="{FF2B5EF4-FFF2-40B4-BE49-F238E27FC236}">
                <a16:creationId xmlns:a16="http://schemas.microsoft.com/office/drawing/2014/main" id="{7F364775-61DA-4FB3-8AF3-1DBA41E67289}"/>
              </a:ext>
            </a:extLst>
          </p:cNvPr>
          <p:cNvSpPr txBox="1">
            <a:spLocks/>
          </p:cNvSpPr>
          <p:nvPr/>
        </p:nvSpPr>
        <p:spPr>
          <a:xfrm>
            <a:off x="692035" y="1117056"/>
            <a:ext cx="6026265" cy="3937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/>
              <a:t>实验内容</a:t>
            </a:r>
          </a:p>
        </p:txBody>
      </p:sp>
      <p:sp>
        <p:nvSpPr>
          <p:cNvPr id="10" name="文本占位符 3">
            <a:extLst>
              <a:ext uri="{FF2B5EF4-FFF2-40B4-BE49-F238E27FC236}">
                <a16:creationId xmlns:a16="http://schemas.microsoft.com/office/drawing/2014/main" id="{ED63E77F-9AE4-4C13-A98D-41EADF6311C1}"/>
              </a:ext>
            </a:extLst>
          </p:cNvPr>
          <p:cNvSpPr txBox="1">
            <a:spLocks/>
          </p:cNvSpPr>
          <p:nvPr/>
        </p:nvSpPr>
        <p:spPr>
          <a:xfrm>
            <a:off x="691536" y="1862211"/>
            <a:ext cx="7858630" cy="311618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eaLnBrk="1" hangingPunct="1">
              <a:lnSpc>
                <a:spcPct val="150000"/>
              </a:lnSpc>
              <a:buAutoNum type="arabicPeriod"/>
            </a:pPr>
            <a:r>
              <a:rPr lang="zh-CN" altLang="zh-CN" sz="2400" dirty="0"/>
              <a:t>试编写程序，完成下面公式的计算。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400" dirty="0"/>
              <a:t>   A </a:t>
            </a:r>
            <a:r>
              <a:rPr lang="zh-CN" altLang="zh-CN" sz="2400" dirty="0"/>
              <a:t>←（</a:t>
            </a:r>
            <a:r>
              <a:rPr lang="en-US" altLang="zh-CN" sz="2400" dirty="0"/>
              <a:t>X-Y+24</a:t>
            </a:r>
            <a:r>
              <a:rPr lang="zh-CN" altLang="zh-CN" sz="2400" dirty="0"/>
              <a:t>）</a:t>
            </a:r>
            <a:r>
              <a:rPr lang="en-US" altLang="zh-CN" sz="2400" dirty="0"/>
              <a:t>/ Z</a:t>
            </a:r>
            <a:r>
              <a:rPr lang="zh-CN" altLang="zh-CN" sz="2400" dirty="0"/>
              <a:t>的商，</a:t>
            </a:r>
            <a:r>
              <a:rPr lang="en-US" altLang="zh-CN" sz="2400" dirty="0"/>
              <a:t>B </a:t>
            </a:r>
            <a:r>
              <a:rPr lang="zh-CN" altLang="zh-CN" sz="2400" dirty="0"/>
              <a:t>←（</a:t>
            </a:r>
            <a:r>
              <a:rPr lang="en-US" altLang="zh-CN" sz="2400" dirty="0"/>
              <a:t>X-Y+24</a:t>
            </a:r>
            <a:r>
              <a:rPr lang="zh-CN" altLang="zh-CN" sz="2400" dirty="0"/>
              <a:t>）</a:t>
            </a:r>
            <a:r>
              <a:rPr lang="en-US" altLang="zh-CN" sz="2400" dirty="0"/>
              <a:t>/ Z</a:t>
            </a:r>
            <a:r>
              <a:rPr lang="zh-CN" altLang="zh-CN" sz="2400" dirty="0"/>
              <a:t>的余数</a:t>
            </a:r>
            <a:r>
              <a:rPr lang="en-US" altLang="zh-CN" sz="2400" dirty="0"/>
              <a:t> 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zh-CN" sz="2400" dirty="0"/>
              <a:t>其中，变量</a:t>
            </a:r>
            <a:r>
              <a:rPr lang="en-US" altLang="zh-CN" sz="2400" dirty="0"/>
              <a:t>X</a:t>
            </a:r>
            <a:r>
              <a:rPr lang="zh-CN" altLang="zh-CN" sz="2400" dirty="0"/>
              <a:t>和</a:t>
            </a:r>
            <a:r>
              <a:rPr lang="en-US" altLang="zh-CN" sz="2400" dirty="0"/>
              <a:t>Y</a:t>
            </a:r>
            <a:r>
              <a:rPr lang="zh-CN" altLang="zh-CN" sz="2400" dirty="0"/>
              <a:t>是</a:t>
            </a:r>
            <a:r>
              <a:rPr lang="en-US" altLang="zh-CN" sz="2400" dirty="0"/>
              <a:t>32</a:t>
            </a:r>
            <a:r>
              <a:rPr lang="zh-CN" altLang="zh-CN" sz="2400" dirty="0"/>
              <a:t>位有符号数，变量</a:t>
            </a:r>
            <a:r>
              <a:rPr lang="en-US" altLang="zh-CN" sz="2400" dirty="0"/>
              <a:t>A</a:t>
            </a:r>
            <a:r>
              <a:rPr lang="zh-CN" altLang="zh-CN" sz="2400" dirty="0"/>
              <a:t>、</a:t>
            </a:r>
            <a:r>
              <a:rPr lang="en-US" altLang="zh-CN" sz="2400" dirty="0"/>
              <a:t>B</a:t>
            </a:r>
            <a:r>
              <a:rPr lang="zh-CN" altLang="zh-CN" sz="2400" dirty="0"/>
              <a:t>、</a:t>
            </a:r>
            <a:r>
              <a:rPr lang="en-US" altLang="zh-CN" sz="2400" dirty="0"/>
              <a:t>Z</a:t>
            </a:r>
            <a:r>
              <a:rPr lang="zh-CN" altLang="zh-CN" sz="2400" dirty="0"/>
              <a:t>是</a:t>
            </a:r>
            <a:r>
              <a:rPr lang="en-US" altLang="zh-CN" sz="2400" dirty="0"/>
              <a:t>16</a:t>
            </a:r>
            <a:r>
              <a:rPr lang="zh-CN" altLang="zh-CN" sz="2400" dirty="0"/>
              <a:t>位有符号数。</a:t>
            </a:r>
          </a:p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连接符​​(S) 32">
            <a:extLst>
              <a:ext uri="{FF2B5EF4-FFF2-40B4-BE49-F238E27FC236}">
                <a16:creationId xmlns:a16="http://schemas.microsoft.com/office/drawing/2014/main" id="{6C10304B-3BD5-4991-AC49-57E072F112EE}"/>
              </a:ext>
            </a:extLst>
          </p:cNvPr>
          <p:cNvCxnSpPr>
            <a:cxnSpLocks/>
          </p:cNvCxnSpPr>
          <p:nvPr/>
        </p:nvCxnSpPr>
        <p:spPr>
          <a:xfrm>
            <a:off x="691536" y="4918827"/>
            <a:ext cx="1350206" cy="0"/>
          </a:xfrm>
          <a:prstGeom prst="line">
            <a:avLst/>
          </a:prstGeom>
          <a:ln w="101600">
            <a:solidFill>
              <a:srgbClr val="4495A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文本占位符 3">
            <a:extLst>
              <a:ext uri="{FF2B5EF4-FFF2-40B4-BE49-F238E27FC236}">
                <a16:creationId xmlns:a16="http://schemas.microsoft.com/office/drawing/2014/main" id="{70DA2247-57EC-4B25-9489-32F90A1CE2E9}"/>
              </a:ext>
            </a:extLst>
          </p:cNvPr>
          <p:cNvSpPr txBox="1">
            <a:spLocks/>
          </p:cNvSpPr>
          <p:nvPr/>
        </p:nvSpPr>
        <p:spPr>
          <a:xfrm>
            <a:off x="692035" y="4393656"/>
            <a:ext cx="6026265" cy="3937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/>
              <a:t>编程提示</a:t>
            </a:r>
          </a:p>
        </p:txBody>
      </p:sp>
      <p:sp>
        <p:nvSpPr>
          <p:cNvPr id="13" name="文本占位符 3">
            <a:extLst>
              <a:ext uri="{FF2B5EF4-FFF2-40B4-BE49-F238E27FC236}">
                <a16:creationId xmlns:a16="http://schemas.microsoft.com/office/drawing/2014/main" id="{E85AC0BD-C4AC-4506-8B7D-4F25C52ED00D}"/>
              </a:ext>
            </a:extLst>
          </p:cNvPr>
          <p:cNvSpPr txBox="1">
            <a:spLocks/>
          </p:cNvSpPr>
          <p:nvPr/>
        </p:nvSpPr>
        <p:spPr>
          <a:xfrm>
            <a:off x="691536" y="5021787"/>
            <a:ext cx="7858630" cy="116311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eaLnBrk="1" hangingPunct="1">
              <a:lnSpc>
                <a:spcPct val="150000"/>
              </a:lnSpc>
              <a:buAutoNum type="arabicPeriod"/>
            </a:pPr>
            <a:r>
              <a:rPr lang="zh-CN" altLang="en-US" sz="2400" dirty="0"/>
              <a:t>请大家参考第三章</a:t>
            </a:r>
            <a:r>
              <a:rPr lang="en-US" altLang="zh-CN" sz="2400" dirty="0"/>
              <a:t>PPT</a:t>
            </a:r>
            <a:r>
              <a:rPr lang="zh-CN" altLang="en-US" dirty="0"/>
              <a:t>，</a:t>
            </a:r>
            <a:r>
              <a:rPr lang="en-US" altLang="zh-CN" sz="2400" dirty="0"/>
              <a:t> (C-120+A×B)/C</a:t>
            </a:r>
          </a:p>
          <a:p>
            <a:pPr marL="457200" indent="-457200" eaLnBrk="1" hangingPunct="1">
              <a:lnSpc>
                <a:spcPct val="150000"/>
              </a:lnSpc>
              <a:buAutoNum type="arabicPeriod"/>
            </a:pPr>
            <a:r>
              <a:rPr lang="zh-CN" altLang="en-US" sz="2400" dirty="0"/>
              <a:t>除数不能为</a:t>
            </a:r>
            <a:r>
              <a:rPr lang="en-US" altLang="zh-CN" sz="2400" dirty="0"/>
              <a:t>0</a:t>
            </a:r>
            <a:endParaRPr lang="zh-CN" altLang="zh-CN" sz="2400" dirty="0"/>
          </a:p>
        </p:txBody>
      </p:sp>
    </p:spTree>
    <p:extLst>
      <p:ext uri="{BB962C8B-B14F-4D97-AF65-F5344CB8AC3E}">
        <p14:creationId xmlns:p14="http://schemas.microsoft.com/office/powerpoint/2010/main" val="20235917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>
            <a:extLst>
              <a:ext uri="{FF2B5EF4-FFF2-40B4-BE49-F238E27FC236}">
                <a16:creationId xmlns:a16="http://schemas.microsoft.com/office/drawing/2014/main" id="{53BA7E79-B0A8-4025-9E5E-EAC7789C8F66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7C041877-94E5-4D84-A050-73F304948E8F}" type="datetime5">
              <a:rPr lang="zh-CN" altLang="en-US" smtClean="0"/>
              <a:t>2024/10/23</a:t>
            </a:fld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353F689-2E51-BF4F-AE47-7CEB7CC4C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dirty="0"/>
              <a:t>实验一：基本编程方法练习</a:t>
            </a:r>
            <a:endParaRPr lang="zh-CN" altLang="en-US" sz="28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8F1A81D-7BC1-4ED3-A5AE-D705A01B0027}"/>
              </a:ext>
            </a:extLst>
          </p:cNvPr>
          <p:cNvSpPr txBox="1"/>
          <p:nvPr/>
        </p:nvSpPr>
        <p:spPr>
          <a:xfrm>
            <a:off x="251501" y="198830"/>
            <a:ext cx="88106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4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02</a:t>
            </a:r>
            <a:endParaRPr lang="zh-CN" altLang="en-US" sz="4400" dirty="0">
              <a:solidFill>
                <a:schemeClr val="bg1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cxnSp>
        <p:nvCxnSpPr>
          <p:cNvPr id="21" name="直接连接符​​(S) 32">
            <a:extLst>
              <a:ext uri="{FF2B5EF4-FFF2-40B4-BE49-F238E27FC236}">
                <a16:creationId xmlns:a16="http://schemas.microsoft.com/office/drawing/2014/main" id="{A4CEC0F3-0471-4B0B-87CC-9943DADB3A41}"/>
              </a:ext>
            </a:extLst>
          </p:cNvPr>
          <p:cNvCxnSpPr>
            <a:cxnSpLocks/>
          </p:cNvCxnSpPr>
          <p:nvPr/>
        </p:nvCxnSpPr>
        <p:spPr>
          <a:xfrm>
            <a:off x="691536" y="1642227"/>
            <a:ext cx="1350206" cy="0"/>
          </a:xfrm>
          <a:prstGeom prst="line">
            <a:avLst/>
          </a:prstGeom>
          <a:ln w="101600">
            <a:solidFill>
              <a:srgbClr val="4495A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文本占位符 3">
            <a:extLst>
              <a:ext uri="{FF2B5EF4-FFF2-40B4-BE49-F238E27FC236}">
                <a16:creationId xmlns:a16="http://schemas.microsoft.com/office/drawing/2014/main" id="{7F364775-61DA-4FB3-8AF3-1DBA41E67289}"/>
              </a:ext>
            </a:extLst>
          </p:cNvPr>
          <p:cNvSpPr txBox="1">
            <a:spLocks/>
          </p:cNvSpPr>
          <p:nvPr/>
        </p:nvSpPr>
        <p:spPr>
          <a:xfrm>
            <a:off x="692035" y="1117056"/>
            <a:ext cx="6026265" cy="3937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/>
              <a:t>实验内容</a:t>
            </a:r>
          </a:p>
        </p:txBody>
      </p:sp>
      <p:sp>
        <p:nvSpPr>
          <p:cNvPr id="10" name="文本占位符 3">
            <a:extLst>
              <a:ext uri="{FF2B5EF4-FFF2-40B4-BE49-F238E27FC236}">
                <a16:creationId xmlns:a16="http://schemas.microsoft.com/office/drawing/2014/main" id="{ED63E77F-9AE4-4C13-A98D-41EADF6311C1}"/>
              </a:ext>
            </a:extLst>
          </p:cNvPr>
          <p:cNvSpPr txBox="1">
            <a:spLocks/>
          </p:cNvSpPr>
          <p:nvPr/>
        </p:nvSpPr>
        <p:spPr>
          <a:xfrm>
            <a:off x="691536" y="1862212"/>
            <a:ext cx="7858630" cy="10714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2400" dirty="0"/>
              <a:t>2. </a:t>
            </a:r>
            <a:r>
              <a:rPr lang="zh-CN" altLang="zh-CN" dirty="0"/>
              <a:t>试将字节数据</a:t>
            </a:r>
            <a:r>
              <a:rPr lang="en-US" altLang="zh-CN" dirty="0"/>
              <a:t> B1 </a:t>
            </a:r>
            <a:r>
              <a:rPr lang="zh-CN" altLang="zh-CN" dirty="0"/>
              <a:t>拆分成两个半字节数据，分别存放于其后两个单元</a:t>
            </a:r>
            <a:r>
              <a:rPr lang="en-US" altLang="zh-CN" dirty="0"/>
              <a:t> X </a:t>
            </a:r>
            <a:r>
              <a:rPr lang="zh-CN" altLang="zh-CN" dirty="0"/>
              <a:t>和</a:t>
            </a:r>
            <a:r>
              <a:rPr lang="en-US" altLang="zh-CN" dirty="0"/>
              <a:t> Y </a:t>
            </a:r>
            <a:r>
              <a:rPr lang="zh-CN" altLang="zh-CN" dirty="0"/>
              <a:t>中</a:t>
            </a:r>
            <a:r>
              <a:rPr lang="zh-CN" altLang="en-US" dirty="0"/>
              <a:t>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连接符​​(S) 32">
            <a:extLst>
              <a:ext uri="{FF2B5EF4-FFF2-40B4-BE49-F238E27FC236}">
                <a16:creationId xmlns:a16="http://schemas.microsoft.com/office/drawing/2014/main" id="{6C10304B-3BD5-4991-AC49-57E072F112EE}"/>
              </a:ext>
            </a:extLst>
          </p:cNvPr>
          <p:cNvCxnSpPr>
            <a:cxnSpLocks/>
          </p:cNvCxnSpPr>
          <p:nvPr/>
        </p:nvCxnSpPr>
        <p:spPr>
          <a:xfrm>
            <a:off x="691536" y="3678855"/>
            <a:ext cx="1350206" cy="0"/>
          </a:xfrm>
          <a:prstGeom prst="line">
            <a:avLst/>
          </a:prstGeom>
          <a:ln w="101600">
            <a:solidFill>
              <a:srgbClr val="4495A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文本占位符 3">
            <a:extLst>
              <a:ext uri="{FF2B5EF4-FFF2-40B4-BE49-F238E27FC236}">
                <a16:creationId xmlns:a16="http://schemas.microsoft.com/office/drawing/2014/main" id="{70DA2247-57EC-4B25-9489-32F90A1CE2E9}"/>
              </a:ext>
            </a:extLst>
          </p:cNvPr>
          <p:cNvSpPr txBox="1">
            <a:spLocks/>
          </p:cNvSpPr>
          <p:nvPr/>
        </p:nvSpPr>
        <p:spPr>
          <a:xfrm>
            <a:off x="692035" y="3153684"/>
            <a:ext cx="6026265" cy="3937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/>
              <a:t>编程提示</a:t>
            </a:r>
          </a:p>
        </p:txBody>
      </p:sp>
      <p:sp>
        <p:nvSpPr>
          <p:cNvPr id="13" name="文本占位符 3">
            <a:extLst>
              <a:ext uri="{FF2B5EF4-FFF2-40B4-BE49-F238E27FC236}">
                <a16:creationId xmlns:a16="http://schemas.microsoft.com/office/drawing/2014/main" id="{E85AC0BD-C4AC-4506-8B7D-4F25C52ED00D}"/>
              </a:ext>
            </a:extLst>
          </p:cNvPr>
          <p:cNvSpPr txBox="1">
            <a:spLocks/>
          </p:cNvSpPr>
          <p:nvPr/>
        </p:nvSpPr>
        <p:spPr>
          <a:xfrm>
            <a:off x="691536" y="3781813"/>
            <a:ext cx="7858630" cy="241578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eaLnBrk="1" hangingPunct="1">
              <a:buAutoNum type="arabicPeriod"/>
            </a:pPr>
            <a:r>
              <a:rPr lang="en-US" altLang="zh-CN" sz="2400" dirty="0">
                <a:latin typeface="Consolas" panose="020B0609020204030204" pitchFamily="49" charset="0"/>
              </a:rPr>
              <a:t>B1 </a:t>
            </a:r>
            <a:r>
              <a:rPr lang="zh-CN" altLang="en-US" sz="2400" dirty="0">
                <a:latin typeface="Consolas" panose="020B0609020204030204" pitchFamily="49" charset="0"/>
              </a:rPr>
              <a:t>变量自定义具体的数值，</a:t>
            </a:r>
            <a:r>
              <a:rPr lang="en-US" altLang="zh-CN" sz="2400" dirty="0">
                <a:latin typeface="Consolas" panose="020B0609020204030204" pitchFamily="49" charset="0"/>
              </a:rPr>
              <a:t>X</a:t>
            </a:r>
            <a:r>
              <a:rPr lang="zh-CN" altLang="en-US" sz="2400" dirty="0">
                <a:latin typeface="Consolas" panose="020B0609020204030204" pitchFamily="49" charset="0"/>
              </a:rPr>
              <a:t>、</a:t>
            </a:r>
            <a:r>
              <a:rPr lang="en-US" altLang="zh-CN" sz="2400" dirty="0">
                <a:latin typeface="Consolas" panose="020B0609020204030204" pitchFamily="49" charset="0"/>
              </a:rPr>
              <a:t>Y </a:t>
            </a:r>
            <a:r>
              <a:rPr lang="zh-CN" altLang="en-US" sz="2400" dirty="0">
                <a:latin typeface="Consolas" panose="020B0609020204030204" pitchFamily="49" charset="0"/>
              </a:rPr>
              <a:t>变量的数值由程序赋值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marL="457200" indent="-457200" eaLnBrk="1" hangingPunct="1">
              <a:buAutoNum type="arabicPeriod"/>
            </a:pPr>
            <a:r>
              <a:rPr lang="zh-CN" altLang="en-US" sz="2400" dirty="0">
                <a:latin typeface="Consolas" panose="020B0609020204030204" pitchFamily="49" charset="0"/>
              </a:rPr>
              <a:t>若 </a:t>
            </a:r>
            <a:r>
              <a:rPr lang="en-US" altLang="zh-CN" sz="2400" dirty="0">
                <a:latin typeface="Consolas" panose="020B0609020204030204" pitchFamily="49" charset="0"/>
              </a:rPr>
              <a:t>B1 = </a:t>
            </a:r>
            <a:r>
              <a:rPr lang="en-US" altLang="zh-CN" sz="2400" dirty="0">
                <a:solidFill>
                  <a:srgbClr val="FF0000"/>
                </a:solidFill>
                <a:latin typeface="Consolas" panose="020B0609020204030204" pitchFamily="49" charset="0"/>
              </a:rPr>
              <a:t>b</a:t>
            </a:r>
            <a:r>
              <a:rPr lang="en-US" altLang="zh-CN" sz="2400" baseline="-25000" dirty="0">
                <a:solidFill>
                  <a:srgbClr val="FF0000"/>
                </a:solidFill>
                <a:latin typeface="Consolas" panose="020B0609020204030204" pitchFamily="49" charset="0"/>
              </a:rPr>
              <a:t>7</a:t>
            </a:r>
            <a:r>
              <a:rPr lang="en-US" altLang="zh-CN" sz="2400" dirty="0">
                <a:solidFill>
                  <a:srgbClr val="FF0000"/>
                </a:solidFill>
                <a:latin typeface="Consolas" panose="020B0609020204030204" pitchFamily="49" charset="0"/>
              </a:rPr>
              <a:t>b</a:t>
            </a:r>
            <a:r>
              <a:rPr lang="en-US" altLang="zh-CN" sz="2400" baseline="-25000" dirty="0">
                <a:solidFill>
                  <a:srgbClr val="FF0000"/>
                </a:solidFill>
                <a:latin typeface="Consolas" panose="020B0609020204030204" pitchFamily="49" charset="0"/>
              </a:rPr>
              <a:t>6</a:t>
            </a:r>
            <a:r>
              <a:rPr lang="en-US" altLang="zh-CN" sz="2400" dirty="0">
                <a:solidFill>
                  <a:srgbClr val="FF0000"/>
                </a:solidFill>
                <a:latin typeface="Consolas" panose="020B0609020204030204" pitchFamily="49" charset="0"/>
              </a:rPr>
              <a:t>b</a:t>
            </a:r>
            <a:r>
              <a:rPr lang="en-US" altLang="zh-CN" sz="2400" baseline="-25000" dirty="0">
                <a:solidFill>
                  <a:srgbClr val="FF0000"/>
                </a:solidFill>
                <a:latin typeface="Consolas" panose="020B0609020204030204" pitchFamily="49" charset="0"/>
              </a:rPr>
              <a:t>5</a:t>
            </a:r>
            <a:r>
              <a:rPr lang="en-US" altLang="zh-CN" sz="2400" dirty="0">
                <a:solidFill>
                  <a:srgbClr val="FF0000"/>
                </a:solidFill>
                <a:latin typeface="Consolas" panose="020B0609020204030204" pitchFamily="49" charset="0"/>
              </a:rPr>
              <a:t>b</a:t>
            </a:r>
            <a:r>
              <a:rPr lang="en-US" altLang="zh-CN" sz="2400" baseline="-25000" dirty="0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US" altLang="zh-CN" sz="2400" dirty="0">
                <a:solidFill>
                  <a:srgbClr val="2A2EFC"/>
                </a:solidFill>
                <a:latin typeface="Consolas" panose="020B0609020204030204" pitchFamily="49" charset="0"/>
              </a:rPr>
              <a:t>b</a:t>
            </a:r>
            <a:r>
              <a:rPr lang="en-US" altLang="zh-CN" sz="2400" baseline="-25000" dirty="0">
                <a:solidFill>
                  <a:srgbClr val="2A2EFC"/>
                </a:solidFill>
                <a:latin typeface="Consolas" panose="020B0609020204030204" pitchFamily="49" charset="0"/>
              </a:rPr>
              <a:t>3</a:t>
            </a:r>
            <a:r>
              <a:rPr lang="en-US" altLang="zh-CN" sz="2400" dirty="0">
                <a:solidFill>
                  <a:srgbClr val="2A2EFC"/>
                </a:solidFill>
                <a:latin typeface="Consolas" panose="020B0609020204030204" pitchFamily="49" charset="0"/>
              </a:rPr>
              <a:t>b</a:t>
            </a:r>
            <a:r>
              <a:rPr lang="en-US" altLang="zh-CN" sz="2400" baseline="-25000" dirty="0">
                <a:solidFill>
                  <a:srgbClr val="2A2EFC"/>
                </a:solidFill>
                <a:latin typeface="Consolas" panose="020B0609020204030204" pitchFamily="49" charset="0"/>
              </a:rPr>
              <a:t>2</a:t>
            </a:r>
            <a:r>
              <a:rPr lang="en-US" altLang="zh-CN" sz="2400" dirty="0">
                <a:solidFill>
                  <a:srgbClr val="2A2EFC"/>
                </a:solidFill>
                <a:latin typeface="Consolas" panose="020B0609020204030204" pitchFamily="49" charset="0"/>
              </a:rPr>
              <a:t>b</a:t>
            </a:r>
            <a:r>
              <a:rPr lang="en-US" altLang="zh-CN" sz="2400" baseline="-25000" dirty="0">
                <a:solidFill>
                  <a:srgbClr val="2A2EFC"/>
                </a:solidFill>
                <a:latin typeface="Consolas" panose="020B0609020204030204" pitchFamily="49" charset="0"/>
              </a:rPr>
              <a:t>1</a:t>
            </a:r>
            <a:r>
              <a:rPr lang="en-US" altLang="zh-CN" sz="2400" dirty="0">
                <a:solidFill>
                  <a:srgbClr val="2A2EFC"/>
                </a:solidFill>
                <a:latin typeface="Consolas" panose="020B0609020204030204" pitchFamily="49" charset="0"/>
              </a:rPr>
              <a:t>b</a:t>
            </a:r>
            <a:r>
              <a:rPr lang="en-US" altLang="zh-CN" sz="2400" baseline="-25000" dirty="0">
                <a:solidFill>
                  <a:srgbClr val="2A2EFC"/>
                </a:solidFill>
                <a:latin typeface="Consolas" panose="020B0609020204030204" pitchFamily="49" charset="0"/>
              </a:rPr>
              <a:t>0</a:t>
            </a:r>
            <a:r>
              <a:rPr lang="en-US" altLang="zh-CN" sz="2400" dirty="0">
                <a:latin typeface="Consolas" panose="020B0609020204030204" pitchFamily="49" charset="0"/>
              </a:rPr>
              <a:t>B = 0</a:t>
            </a:r>
            <a:r>
              <a:rPr lang="en-US" altLang="zh-CN" sz="2400" dirty="0">
                <a:solidFill>
                  <a:srgbClr val="FF0000"/>
                </a:solidFill>
                <a:latin typeface="Consolas" panose="020B0609020204030204" pitchFamily="49" charset="0"/>
              </a:rPr>
              <a:t>b</a:t>
            </a:r>
            <a:r>
              <a:rPr lang="en-US" altLang="zh-CN" sz="2400" baseline="-25000" dirty="0">
                <a:solidFill>
                  <a:srgbClr val="FF0000"/>
                </a:solidFill>
                <a:latin typeface="Consolas" panose="020B0609020204030204" pitchFamily="49" charset="0"/>
              </a:rPr>
              <a:t>h</a:t>
            </a:r>
            <a:r>
              <a:rPr lang="en-US" altLang="zh-CN" sz="2400" dirty="0">
                <a:solidFill>
                  <a:srgbClr val="2A2EFC"/>
                </a:solidFill>
                <a:latin typeface="Consolas" panose="020B0609020204030204" pitchFamily="49" charset="0"/>
              </a:rPr>
              <a:t>b</a:t>
            </a:r>
            <a:r>
              <a:rPr lang="en-US" altLang="zh-CN" sz="2400" baseline="-25000" dirty="0">
                <a:solidFill>
                  <a:srgbClr val="2A2EFC"/>
                </a:solidFill>
                <a:latin typeface="Consolas" panose="020B0609020204030204" pitchFamily="49" charset="0"/>
              </a:rPr>
              <a:t>l</a:t>
            </a:r>
            <a:r>
              <a:rPr lang="en-US" altLang="zh-CN" sz="2400" dirty="0">
                <a:latin typeface="Consolas" panose="020B0609020204030204" pitchFamily="49" charset="0"/>
              </a:rPr>
              <a:t>H</a:t>
            </a:r>
            <a:r>
              <a:rPr lang="zh-CN" altLang="en-US" sz="2400" dirty="0">
                <a:latin typeface="Consolas" panose="020B0609020204030204" pitchFamily="49" charset="0"/>
              </a:rPr>
              <a:t>，则 </a:t>
            </a:r>
            <a:r>
              <a:rPr lang="en-US" altLang="zh-CN" sz="2400" dirty="0">
                <a:latin typeface="Consolas" panose="020B0609020204030204" pitchFamily="49" charset="0"/>
              </a:rPr>
              <a:t>X = </a:t>
            </a:r>
            <a:r>
              <a:rPr lang="en-US" altLang="zh-CN" sz="2400" dirty="0">
                <a:solidFill>
                  <a:srgbClr val="FF0000"/>
                </a:solidFill>
                <a:latin typeface="Consolas" panose="020B0609020204030204" pitchFamily="49" charset="0"/>
              </a:rPr>
              <a:t>b</a:t>
            </a:r>
            <a:r>
              <a:rPr lang="en-US" altLang="zh-CN" sz="2400" baseline="-25000" dirty="0">
                <a:solidFill>
                  <a:srgbClr val="FF0000"/>
                </a:solidFill>
                <a:latin typeface="Consolas" panose="020B0609020204030204" pitchFamily="49" charset="0"/>
              </a:rPr>
              <a:t>7</a:t>
            </a:r>
            <a:r>
              <a:rPr lang="en-US" altLang="zh-CN" sz="2400" dirty="0">
                <a:solidFill>
                  <a:srgbClr val="FF0000"/>
                </a:solidFill>
                <a:latin typeface="Consolas" panose="020B0609020204030204" pitchFamily="49" charset="0"/>
              </a:rPr>
              <a:t>b</a:t>
            </a:r>
            <a:r>
              <a:rPr lang="en-US" altLang="zh-CN" sz="2400" baseline="-25000" dirty="0">
                <a:solidFill>
                  <a:srgbClr val="FF0000"/>
                </a:solidFill>
                <a:latin typeface="Consolas" panose="020B0609020204030204" pitchFamily="49" charset="0"/>
              </a:rPr>
              <a:t>6</a:t>
            </a:r>
            <a:r>
              <a:rPr lang="en-US" altLang="zh-CN" sz="2400" dirty="0">
                <a:solidFill>
                  <a:srgbClr val="FF0000"/>
                </a:solidFill>
                <a:latin typeface="Consolas" panose="020B0609020204030204" pitchFamily="49" charset="0"/>
              </a:rPr>
              <a:t>b</a:t>
            </a:r>
            <a:r>
              <a:rPr lang="en-US" altLang="zh-CN" sz="2400" baseline="-25000" dirty="0">
                <a:solidFill>
                  <a:srgbClr val="FF0000"/>
                </a:solidFill>
                <a:latin typeface="Consolas" panose="020B0609020204030204" pitchFamily="49" charset="0"/>
              </a:rPr>
              <a:t>5</a:t>
            </a:r>
            <a:r>
              <a:rPr lang="en-US" altLang="zh-CN" sz="2400" dirty="0">
                <a:solidFill>
                  <a:srgbClr val="FF0000"/>
                </a:solidFill>
                <a:latin typeface="Consolas" panose="020B0609020204030204" pitchFamily="49" charset="0"/>
              </a:rPr>
              <a:t>b</a:t>
            </a:r>
            <a:r>
              <a:rPr lang="en-US" altLang="zh-CN" sz="2400" baseline="-25000" dirty="0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US" altLang="zh-CN" sz="2400" dirty="0">
                <a:latin typeface="Consolas" panose="020B0609020204030204" pitchFamily="49" charset="0"/>
              </a:rPr>
              <a:t>B = </a:t>
            </a:r>
            <a:r>
              <a:rPr lang="en-US" altLang="zh-CN" sz="2400" dirty="0">
                <a:solidFill>
                  <a:srgbClr val="FF0000"/>
                </a:solidFill>
                <a:latin typeface="Consolas" panose="020B0609020204030204" pitchFamily="49" charset="0"/>
              </a:rPr>
              <a:t>0b</a:t>
            </a:r>
            <a:r>
              <a:rPr lang="en-US" altLang="zh-CN" sz="2400" baseline="-25000" dirty="0">
                <a:solidFill>
                  <a:srgbClr val="FF0000"/>
                </a:solidFill>
                <a:latin typeface="Consolas" panose="020B0609020204030204" pitchFamily="49" charset="0"/>
              </a:rPr>
              <a:t>h</a:t>
            </a:r>
            <a:r>
              <a:rPr lang="en-US" altLang="zh-CN" sz="2400" dirty="0">
                <a:latin typeface="Consolas" panose="020B0609020204030204" pitchFamily="49" charset="0"/>
              </a:rPr>
              <a:t>H</a:t>
            </a:r>
            <a:r>
              <a:rPr lang="zh-CN" altLang="en-US" sz="2400" dirty="0">
                <a:latin typeface="Consolas" panose="020B0609020204030204" pitchFamily="49" charset="0"/>
              </a:rPr>
              <a:t>，</a:t>
            </a:r>
            <a:r>
              <a:rPr lang="en-US" altLang="zh-CN" sz="2400" dirty="0">
                <a:latin typeface="Consolas" panose="020B0609020204030204" pitchFamily="49" charset="0"/>
              </a:rPr>
              <a:t> Y = </a:t>
            </a:r>
            <a:r>
              <a:rPr lang="en-US" altLang="zh-CN" sz="2400" dirty="0">
                <a:solidFill>
                  <a:srgbClr val="2A2EFC"/>
                </a:solidFill>
                <a:latin typeface="Consolas" panose="020B0609020204030204" pitchFamily="49" charset="0"/>
              </a:rPr>
              <a:t>b</a:t>
            </a:r>
            <a:r>
              <a:rPr lang="en-US" altLang="zh-CN" sz="2400" baseline="-25000" dirty="0">
                <a:solidFill>
                  <a:srgbClr val="2A2EFC"/>
                </a:solidFill>
                <a:latin typeface="Consolas" panose="020B0609020204030204" pitchFamily="49" charset="0"/>
              </a:rPr>
              <a:t>3</a:t>
            </a:r>
            <a:r>
              <a:rPr lang="en-US" altLang="zh-CN" sz="2400" dirty="0">
                <a:solidFill>
                  <a:srgbClr val="2A2EFC"/>
                </a:solidFill>
                <a:latin typeface="Consolas" panose="020B0609020204030204" pitchFamily="49" charset="0"/>
              </a:rPr>
              <a:t>b</a:t>
            </a:r>
            <a:r>
              <a:rPr lang="en-US" altLang="zh-CN" sz="2400" baseline="-25000" dirty="0">
                <a:solidFill>
                  <a:srgbClr val="2A2EFC"/>
                </a:solidFill>
                <a:latin typeface="Consolas" panose="020B0609020204030204" pitchFamily="49" charset="0"/>
              </a:rPr>
              <a:t>2</a:t>
            </a:r>
            <a:r>
              <a:rPr lang="en-US" altLang="zh-CN" sz="2400" dirty="0">
                <a:solidFill>
                  <a:srgbClr val="2A2EFC"/>
                </a:solidFill>
                <a:latin typeface="Consolas" panose="020B0609020204030204" pitchFamily="49" charset="0"/>
              </a:rPr>
              <a:t>b</a:t>
            </a:r>
            <a:r>
              <a:rPr lang="en-US" altLang="zh-CN" sz="2400" baseline="-25000" dirty="0">
                <a:solidFill>
                  <a:srgbClr val="2A2EFC"/>
                </a:solidFill>
                <a:latin typeface="Consolas" panose="020B0609020204030204" pitchFamily="49" charset="0"/>
              </a:rPr>
              <a:t>1</a:t>
            </a:r>
            <a:r>
              <a:rPr lang="en-US" altLang="zh-CN" sz="2400" dirty="0">
                <a:solidFill>
                  <a:srgbClr val="2A2EFC"/>
                </a:solidFill>
                <a:latin typeface="Consolas" panose="020B0609020204030204" pitchFamily="49" charset="0"/>
              </a:rPr>
              <a:t>b</a:t>
            </a:r>
            <a:r>
              <a:rPr lang="en-US" altLang="zh-CN" sz="2400" baseline="-25000" dirty="0">
                <a:solidFill>
                  <a:srgbClr val="2A2EFC"/>
                </a:solidFill>
                <a:latin typeface="Consolas" panose="020B0609020204030204" pitchFamily="49" charset="0"/>
              </a:rPr>
              <a:t>0</a:t>
            </a:r>
            <a:r>
              <a:rPr lang="en-US" altLang="zh-CN" sz="2400" dirty="0">
                <a:latin typeface="Consolas" panose="020B0609020204030204" pitchFamily="49" charset="0"/>
              </a:rPr>
              <a:t>B = </a:t>
            </a:r>
            <a:r>
              <a:rPr lang="en-US" altLang="zh-CN" sz="2400" dirty="0">
                <a:solidFill>
                  <a:srgbClr val="2A2EFC"/>
                </a:solidFill>
                <a:latin typeface="Consolas" panose="020B0609020204030204" pitchFamily="49" charset="0"/>
              </a:rPr>
              <a:t>0b</a:t>
            </a:r>
            <a:r>
              <a:rPr lang="en-US" altLang="zh-CN" sz="2400" baseline="-25000" dirty="0">
                <a:solidFill>
                  <a:srgbClr val="2A2EFC"/>
                </a:solidFill>
                <a:latin typeface="Consolas" panose="020B0609020204030204" pitchFamily="49" charset="0"/>
              </a:rPr>
              <a:t>l</a:t>
            </a:r>
            <a:r>
              <a:rPr lang="en-US" altLang="zh-CN" sz="2400" dirty="0">
                <a:latin typeface="Consolas" panose="020B0609020204030204" pitchFamily="49" charset="0"/>
              </a:rPr>
              <a:t>H</a:t>
            </a:r>
            <a:endParaRPr lang="zh-CN" altLang="zh-CN" sz="2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47146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>
            <a:extLst>
              <a:ext uri="{FF2B5EF4-FFF2-40B4-BE49-F238E27FC236}">
                <a16:creationId xmlns:a16="http://schemas.microsoft.com/office/drawing/2014/main" id="{53BA7E79-B0A8-4025-9E5E-EAC7789C8F66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7C041877-94E5-4D84-A050-73F304948E8F}" type="datetime5">
              <a:rPr lang="zh-CN" altLang="en-US" smtClean="0"/>
              <a:t>2024/10/23</a:t>
            </a:fld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353F689-2E51-BF4F-AE47-7CEB7CC4C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dirty="0"/>
              <a:t>实验一：基本编程方法练习</a:t>
            </a:r>
            <a:endParaRPr lang="zh-CN" altLang="en-US" sz="28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8F1A81D-7BC1-4ED3-A5AE-D705A01B0027}"/>
              </a:ext>
            </a:extLst>
          </p:cNvPr>
          <p:cNvSpPr txBox="1"/>
          <p:nvPr/>
        </p:nvSpPr>
        <p:spPr>
          <a:xfrm>
            <a:off x="251501" y="198830"/>
            <a:ext cx="88106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4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02</a:t>
            </a:r>
            <a:endParaRPr lang="zh-CN" altLang="en-US" sz="4400" dirty="0">
              <a:solidFill>
                <a:schemeClr val="bg1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cxnSp>
        <p:nvCxnSpPr>
          <p:cNvPr id="21" name="直接连接符​​(S) 32">
            <a:extLst>
              <a:ext uri="{FF2B5EF4-FFF2-40B4-BE49-F238E27FC236}">
                <a16:creationId xmlns:a16="http://schemas.microsoft.com/office/drawing/2014/main" id="{A4CEC0F3-0471-4B0B-87CC-9943DADB3A41}"/>
              </a:ext>
            </a:extLst>
          </p:cNvPr>
          <p:cNvCxnSpPr>
            <a:cxnSpLocks/>
          </p:cNvCxnSpPr>
          <p:nvPr/>
        </p:nvCxnSpPr>
        <p:spPr>
          <a:xfrm>
            <a:off x="691536" y="1642227"/>
            <a:ext cx="1350206" cy="0"/>
          </a:xfrm>
          <a:prstGeom prst="line">
            <a:avLst/>
          </a:prstGeom>
          <a:ln w="101600">
            <a:solidFill>
              <a:srgbClr val="4495A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文本占位符 3">
            <a:extLst>
              <a:ext uri="{FF2B5EF4-FFF2-40B4-BE49-F238E27FC236}">
                <a16:creationId xmlns:a16="http://schemas.microsoft.com/office/drawing/2014/main" id="{7F364775-61DA-4FB3-8AF3-1DBA41E67289}"/>
              </a:ext>
            </a:extLst>
          </p:cNvPr>
          <p:cNvSpPr txBox="1">
            <a:spLocks/>
          </p:cNvSpPr>
          <p:nvPr/>
        </p:nvSpPr>
        <p:spPr>
          <a:xfrm>
            <a:off x="692035" y="1117056"/>
            <a:ext cx="6026265" cy="3937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/>
              <a:t>实验内容</a:t>
            </a:r>
          </a:p>
        </p:txBody>
      </p:sp>
      <p:sp>
        <p:nvSpPr>
          <p:cNvPr id="10" name="文本占位符 3">
            <a:extLst>
              <a:ext uri="{FF2B5EF4-FFF2-40B4-BE49-F238E27FC236}">
                <a16:creationId xmlns:a16="http://schemas.microsoft.com/office/drawing/2014/main" id="{ED63E77F-9AE4-4C13-A98D-41EADF6311C1}"/>
              </a:ext>
            </a:extLst>
          </p:cNvPr>
          <p:cNvSpPr txBox="1">
            <a:spLocks/>
          </p:cNvSpPr>
          <p:nvPr/>
        </p:nvSpPr>
        <p:spPr>
          <a:xfrm>
            <a:off x="691536" y="1862212"/>
            <a:ext cx="7858630" cy="10714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dirty="0"/>
              <a:t>3</a:t>
            </a:r>
            <a:r>
              <a:rPr lang="en-US" altLang="zh-CN" sz="2400" dirty="0"/>
              <a:t>. </a:t>
            </a:r>
            <a:r>
              <a:rPr lang="zh-CN" altLang="zh-CN" dirty="0"/>
              <a:t>从键盘接收两个不大于</a:t>
            </a:r>
            <a:r>
              <a:rPr lang="en-US" altLang="zh-CN" dirty="0"/>
              <a:t> 5 </a:t>
            </a:r>
            <a:r>
              <a:rPr lang="zh-CN" altLang="zh-CN" dirty="0"/>
              <a:t>的十进制数字，并以十进制数据形式显示其和。</a:t>
            </a:r>
          </a:p>
          <a:p>
            <a:pPr eaLnBrk="1" hangingPunct="1">
              <a:lnSpc>
                <a:spcPct val="150000"/>
              </a:lnSpc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连接符​​(S) 32">
            <a:extLst>
              <a:ext uri="{FF2B5EF4-FFF2-40B4-BE49-F238E27FC236}">
                <a16:creationId xmlns:a16="http://schemas.microsoft.com/office/drawing/2014/main" id="{6C10304B-3BD5-4991-AC49-57E072F112EE}"/>
              </a:ext>
            </a:extLst>
          </p:cNvPr>
          <p:cNvCxnSpPr>
            <a:cxnSpLocks/>
          </p:cNvCxnSpPr>
          <p:nvPr/>
        </p:nvCxnSpPr>
        <p:spPr>
          <a:xfrm>
            <a:off x="691536" y="3678855"/>
            <a:ext cx="1350206" cy="0"/>
          </a:xfrm>
          <a:prstGeom prst="line">
            <a:avLst/>
          </a:prstGeom>
          <a:ln w="101600">
            <a:solidFill>
              <a:srgbClr val="4495A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文本占位符 3">
            <a:extLst>
              <a:ext uri="{FF2B5EF4-FFF2-40B4-BE49-F238E27FC236}">
                <a16:creationId xmlns:a16="http://schemas.microsoft.com/office/drawing/2014/main" id="{70DA2247-57EC-4B25-9489-32F90A1CE2E9}"/>
              </a:ext>
            </a:extLst>
          </p:cNvPr>
          <p:cNvSpPr txBox="1">
            <a:spLocks/>
          </p:cNvSpPr>
          <p:nvPr/>
        </p:nvSpPr>
        <p:spPr>
          <a:xfrm>
            <a:off x="692035" y="3153684"/>
            <a:ext cx="6026265" cy="3937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/>
              <a:t>编程提示</a:t>
            </a:r>
          </a:p>
        </p:txBody>
      </p:sp>
      <p:sp>
        <p:nvSpPr>
          <p:cNvPr id="13" name="文本占位符 3">
            <a:extLst>
              <a:ext uri="{FF2B5EF4-FFF2-40B4-BE49-F238E27FC236}">
                <a16:creationId xmlns:a16="http://schemas.microsoft.com/office/drawing/2014/main" id="{E85AC0BD-C4AC-4506-8B7D-4F25C52ED00D}"/>
              </a:ext>
            </a:extLst>
          </p:cNvPr>
          <p:cNvSpPr txBox="1">
            <a:spLocks/>
          </p:cNvSpPr>
          <p:nvPr/>
        </p:nvSpPr>
        <p:spPr>
          <a:xfrm>
            <a:off x="691536" y="3781813"/>
            <a:ext cx="7858630" cy="241578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eaLnBrk="1" hangingPunct="1">
              <a:buAutoNum type="arabicPeriod"/>
            </a:pPr>
            <a:r>
              <a:rPr lang="zh-CN" altLang="en-US" sz="2400" dirty="0">
                <a:latin typeface="Consolas" panose="020B0609020204030204" pitchFamily="49" charset="0"/>
              </a:rPr>
              <a:t>仅考虑一位数据 </a:t>
            </a:r>
            <a:r>
              <a:rPr lang="en-US" altLang="zh-CN" sz="2400" dirty="0">
                <a:latin typeface="Consolas" panose="020B0609020204030204" pitchFamily="49" charset="0"/>
              </a:rPr>
              <a:t>(</a:t>
            </a:r>
            <a:r>
              <a:rPr lang="en-US" altLang="zh-CN" dirty="0">
                <a:latin typeface="Consolas" panose="020B0609020204030204" pitchFamily="49" charset="0"/>
              </a:rPr>
              <a:t>&lt;5</a:t>
            </a:r>
            <a:r>
              <a:rPr lang="en-US" altLang="zh-CN" sz="2400" dirty="0">
                <a:latin typeface="Consolas" panose="020B0609020204030204" pitchFamily="49" charset="0"/>
              </a:rPr>
              <a:t>) </a:t>
            </a:r>
            <a:r>
              <a:rPr lang="zh-CN" altLang="en-US" sz="2400" dirty="0">
                <a:latin typeface="Consolas" panose="020B0609020204030204" pitchFamily="49" charset="0"/>
              </a:rPr>
              <a:t>的输入输出，暂时不考虑多位数据；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marL="457200" indent="-457200" eaLnBrk="1" hangingPunct="1">
              <a:buAutoNum type="arabicPeriod"/>
            </a:pPr>
            <a:r>
              <a:rPr lang="zh-CN" altLang="en-US" dirty="0">
                <a:latin typeface="Consolas" panose="020B0609020204030204" pitchFamily="49" charset="0"/>
              </a:rPr>
              <a:t>注意数值与 </a:t>
            </a:r>
            <a:r>
              <a:rPr lang="en-US" altLang="zh-CN" dirty="0">
                <a:latin typeface="Consolas" panose="020B0609020204030204" pitchFamily="49" charset="0"/>
              </a:rPr>
              <a:t>ASCII </a:t>
            </a:r>
            <a:r>
              <a:rPr lang="zh-CN" altLang="en-US" dirty="0">
                <a:latin typeface="Consolas" panose="020B0609020204030204" pitchFamily="49" charset="0"/>
              </a:rPr>
              <a:t>码的转换</a:t>
            </a:r>
            <a:endParaRPr lang="zh-CN" altLang="zh-CN" sz="2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67819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>
            <a:extLst>
              <a:ext uri="{FF2B5EF4-FFF2-40B4-BE49-F238E27FC236}">
                <a16:creationId xmlns:a16="http://schemas.microsoft.com/office/drawing/2014/main" id="{53BA7E79-B0A8-4025-9E5E-EAC7789C8F66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7C041877-94E5-4D84-A050-73F304948E8F}" type="datetime5">
              <a:rPr lang="zh-CN" altLang="en-US" smtClean="0"/>
              <a:t>2024/10/23</a:t>
            </a:fld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353F689-2E51-BF4F-AE47-7CEB7CC4C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dirty="0"/>
              <a:t>实验一：基本编程方法练习</a:t>
            </a:r>
            <a:endParaRPr lang="zh-CN" altLang="en-US" sz="28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8F1A81D-7BC1-4ED3-A5AE-D705A01B0027}"/>
              </a:ext>
            </a:extLst>
          </p:cNvPr>
          <p:cNvSpPr txBox="1"/>
          <p:nvPr/>
        </p:nvSpPr>
        <p:spPr>
          <a:xfrm>
            <a:off x="251501" y="198830"/>
            <a:ext cx="88106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4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02</a:t>
            </a:r>
            <a:endParaRPr lang="zh-CN" altLang="en-US" sz="4400" dirty="0">
              <a:solidFill>
                <a:schemeClr val="bg1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cxnSp>
        <p:nvCxnSpPr>
          <p:cNvPr id="21" name="直接连接符​​(S) 32">
            <a:extLst>
              <a:ext uri="{FF2B5EF4-FFF2-40B4-BE49-F238E27FC236}">
                <a16:creationId xmlns:a16="http://schemas.microsoft.com/office/drawing/2014/main" id="{A4CEC0F3-0471-4B0B-87CC-9943DADB3A41}"/>
              </a:ext>
            </a:extLst>
          </p:cNvPr>
          <p:cNvCxnSpPr>
            <a:cxnSpLocks/>
          </p:cNvCxnSpPr>
          <p:nvPr/>
        </p:nvCxnSpPr>
        <p:spPr>
          <a:xfrm>
            <a:off x="691536" y="1642227"/>
            <a:ext cx="1350206" cy="0"/>
          </a:xfrm>
          <a:prstGeom prst="line">
            <a:avLst/>
          </a:prstGeom>
          <a:ln w="101600">
            <a:solidFill>
              <a:srgbClr val="4495A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文本占位符 3">
            <a:extLst>
              <a:ext uri="{FF2B5EF4-FFF2-40B4-BE49-F238E27FC236}">
                <a16:creationId xmlns:a16="http://schemas.microsoft.com/office/drawing/2014/main" id="{7F364775-61DA-4FB3-8AF3-1DBA41E67289}"/>
              </a:ext>
            </a:extLst>
          </p:cNvPr>
          <p:cNvSpPr txBox="1">
            <a:spLocks/>
          </p:cNvSpPr>
          <p:nvPr/>
        </p:nvSpPr>
        <p:spPr>
          <a:xfrm>
            <a:off x="692035" y="1117056"/>
            <a:ext cx="6026265" cy="3937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/>
              <a:t>简单的伪代码</a:t>
            </a:r>
            <a:endParaRPr lang="en-US" altLang="zh-CN" b="1" dirty="0"/>
          </a:p>
        </p:txBody>
      </p:sp>
      <p:sp>
        <p:nvSpPr>
          <p:cNvPr id="14" name="内容占位符 4">
            <a:extLst>
              <a:ext uri="{FF2B5EF4-FFF2-40B4-BE49-F238E27FC236}">
                <a16:creationId xmlns:a16="http://schemas.microsoft.com/office/drawing/2014/main" id="{C074FEF1-BC94-4866-A8AB-120186461A3B}"/>
              </a:ext>
            </a:extLst>
          </p:cNvPr>
          <p:cNvSpPr txBox="1">
            <a:spLocks/>
          </p:cNvSpPr>
          <p:nvPr/>
        </p:nvSpPr>
        <p:spPr>
          <a:xfrm>
            <a:off x="228600" y="1812837"/>
            <a:ext cx="4305300" cy="4876800"/>
          </a:xfrm>
          <a:prstGeom prst="rect">
            <a:avLst/>
          </a:prstGeom>
        </p:spPr>
        <p:txBody>
          <a:bodyPr/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data segment</a:t>
            </a:r>
          </a:p>
          <a:p>
            <a:pPr marL="355600" lvl="1" indent="0">
              <a:buFont typeface="Wingdings" panose="05000000000000000000" pitchFamily="2" charset="2"/>
              <a:buNone/>
            </a:pPr>
            <a:r>
              <a:rPr lang="en-US" altLang="zh-CN" dirty="0"/>
              <a:t>x </a:t>
            </a:r>
            <a:r>
              <a:rPr lang="en-US" altLang="zh-CN" dirty="0" err="1"/>
              <a:t>db</a:t>
            </a:r>
            <a:r>
              <a:rPr lang="en-US" altLang="zh-CN" dirty="0"/>
              <a:t> ?</a:t>
            </a:r>
          </a:p>
          <a:p>
            <a:pPr marL="355600" lvl="1" indent="0">
              <a:buFont typeface="Wingdings" panose="05000000000000000000" pitchFamily="2" charset="2"/>
              <a:buNone/>
            </a:pPr>
            <a:r>
              <a:rPr lang="en-US" altLang="zh-CN" dirty="0"/>
              <a:t>y </a:t>
            </a:r>
            <a:r>
              <a:rPr lang="en-US" altLang="zh-CN" dirty="0" err="1"/>
              <a:t>db</a:t>
            </a:r>
            <a:r>
              <a:rPr lang="en-US" altLang="zh-CN" dirty="0"/>
              <a:t> ?</a:t>
            </a:r>
          </a:p>
          <a:p>
            <a:pPr marL="355600" lvl="1" indent="0">
              <a:buFont typeface="Wingdings" panose="05000000000000000000" pitchFamily="2" charset="2"/>
              <a:buNone/>
            </a:pPr>
            <a:r>
              <a:rPr lang="en-US" altLang="zh-CN" dirty="0"/>
              <a:t>str1 </a:t>
            </a:r>
            <a:r>
              <a:rPr lang="en-US" altLang="zh-CN" dirty="0" err="1"/>
              <a:t>db</a:t>
            </a:r>
            <a:r>
              <a:rPr lang="en-US" altLang="zh-CN" dirty="0"/>
              <a:t> 'please enter a number (0-4).$'</a:t>
            </a:r>
          </a:p>
          <a:p>
            <a:r>
              <a:rPr lang="en-US" altLang="zh-CN" dirty="0"/>
              <a:t>data ends</a:t>
            </a:r>
            <a:endParaRPr lang="zh-CN" altLang="en-US" dirty="0"/>
          </a:p>
        </p:txBody>
      </p:sp>
      <p:sp>
        <p:nvSpPr>
          <p:cNvPr id="15" name="内容占位符 5">
            <a:extLst>
              <a:ext uri="{FF2B5EF4-FFF2-40B4-BE49-F238E27FC236}">
                <a16:creationId xmlns:a16="http://schemas.microsoft.com/office/drawing/2014/main" id="{26849645-F5D5-4C4D-AB95-AB125C67766E}"/>
              </a:ext>
            </a:extLst>
          </p:cNvPr>
          <p:cNvSpPr txBox="1">
            <a:spLocks/>
          </p:cNvSpPr>
          <p:nvPr/>
        </p:nvSpPr>
        <p:spPr>
          <a:xfrm>
            <a:off x="4062046" y="1812837"/>
            <a:ext cx="5081954" cy="4876800"/>
          </a:xfrm>
          <a:prstGeom prst="rect">
            <a:avLst/>
          </a:prstGeom>
        </p:spPr>
        <p:txBody>
          <a:bodyPr/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start:</a:t>
            </a:r>
          </a:p>
          <a:p>
            <a:pPr marL="355600" lvl="1" indent="0">
              <a:buFont typeface="Wingdings" panose="05000000000000000000" pitchFamily="2" charset="2"/>
              <a:buNone/>
            </a:pPr>
            <a:r>
              <a:rPr lang="en-US" altLang="zh-CN" dirty="0"/>
              <a:t>……</a:t>
            </a:r>
          </a:p>
          <a:p>
            <a:pPr marL="355600" lvl="1" indent="0">
              <a:buFont typeface="Wingdings" panose="05000000000000000000" pitchFamily="2" charset="2"/>
              <a:buNone/>
            </a:pPr>
            <a:r>
              <a:rPr lang="en-US" altLang="zh-CN" sz="2000" dirty="0"/>
              <a:t>; </a:t>
            </a:r>
            <a:r>
              <a:rPr lang="zh-CN" altLang="en-US" sz="2000" dirty="0"/>
              <a:t>显示提示字符串</a:t>
            </a:r>
          </a:p>
          <a:p>
            <a:pPr marL="355600" lvl="1" indent="0">
              <a:buFont typeface="Wingdings" panose="05000000000000000000" pitchFamily="2" charset="2"/>
              <a:buNone/>
            </a:pPr>
            <a:r>
              <a:rPr lang="en-US" altLang="zh-CN" sz="2000" dirty="0"/>
              <a:t>; </a:t>
            </a:r>
            <a:r>
              <a:rPr lang="zh-CN" altLang="en-US" sz="2000" dirty="0"/>
              <a:t>单字符输入</a:t>
            </a:r>
          </a:p>
          <a:p>
            <a:pPr marL="355600" lvl="1" indent="0">
              <a:buFont typeface="Wingdings" panose="05000000000000000000" pitchFamily="2" charset="2"/>
              <a:buNone/>
            </a:pPr>
            <a:r>
              <a:rPr lang="en-US" altLang="zh-CN" sz="2000" dirty="0"/>
              <a:t>; </a:t>
            </a:r>
            <a:r>
              <a:rPr lang="zh-CN" altLang="en-US" sz="2000" dirty="0"/>
              <a:t>将 </a:t>
            </a:r>
            <a:r>
              <a:rPr lang="en-US" altLang="zh-CN" sz="2000" dirty="0"/>
              <a:t>ASCII </a:t>
            </a:r>
            <a:r>
              <a:rPr lang="zh-CN" altLang="en-US" sz="2000" dirty="0"/>
              <a:t>码转为输入的数字，用于处理</a:t>
            </a:r>
          </a:p>
          <a:p>
            <a:pPr marL="355600" lvl="1" indent="0">
              <a:buFont typeface="Wingdings" panose="05000000000000000000" pitchFamily="2" charset="2"/>
              <a:buNone/>
            </a:pPr>
            <a:r>
              <a:rPr lang="en-US" altLang="zh-CN" sz="2000" dirty="0"/>
              <a:t>; </a:t>
            </a:r>
            <a:r>
              <a:rPr lang="zh-CN" altLang="en-US" sz="2000" dirty="0"/>
              <a:t>显示换行</a:t>
            </a:r>
          </a:p>
          <a:p>
            <a:pPr marL="355600" lvl="1" indent="0">
              <a:buFont typeface="Wingdings" panose="05000000000000000000" pitchFamily="2" charset="2"/>
              <a:buNone/>
            </a:pPr>
            <a:r>
              <a:rPr lang="en-US" altLang="zh-CN" sz="2000" dirty="0"/>
              <a:t>; </a:t>
            </a:r>
            <a:r>
              <a:rPr lang="zh-CN" altLang="en-US" sz="2000" dirty="0"/>
              <a:t>再次显示 提示字符串</a:t>
            </a:r>
          </a:p>
          <a:p>
            <a:pPr marL="355600" lvl="1" indent="0">
              <a:buFont typeface="Wingdings" panose="05000000000000000000" pitchFamily="2" charset="2"/>
              <a:buNone/>
            </a:pPr>
            <a:r>
              <a:rPr lang="en-US" altLang="zh-CN" sz="2000" dirty="0"/>
              <a:t>; </a:t>
            </a:r>
            <a:r>
              <a:rPr lang="zh-CN" altLang="en-US" sz="2000" dirty="0"/>
              <a:t>单字符输入并保存</a:t>
            </a:r>
          </a:p>
          <a:p>
            <a:pPr marL="355600" lvl="1" indent="0">
              <a:buFont typeface="Wingdings" panose="05000000000000000000" pitchFamily="2" charset="2"/>
              <a:buNone/>
            </a:pPr>
            <a:r>
              <a:rPr lang="en-US" altLang="zh-CN" sz="2000" dirty="0"/>
              <a:t>; </a:t>
            </a:r>
            <a:r>
              <a:rPr lang="zh-CN" altLang="en-US" sz="2000" dirty="0"/>
              <a:t>显示换行</a:t>
            </a:r>
          </a:p>
          <a:p>
            <a:pPr marL="355600" lvl="1" indent="0">
              <a:buFont typeface="Wingdings" panose="05000000000000000000" pitchFamily="2" charset="2"/>
              <a:buNone/>
            </a:pPr>
            <a:r>
              <a:rPr lang="en-US" altLang="zh-CN" sz="2000" dirty="0"/>
              <a:t>; </a:t>
            </a:r>
            <a:r>
              <a:rPr lang="zh-CN" altLang="en-US" sz="2000" dirty="0"/>
              <a:t>相加并显示结果</a:t>
            </a:r>
            <a:endParaRPr lang="en-US" altLang="zh-CN" sz="2000" dirty="0"/>
          </a:p>
          <a:p>
            <a:r>
              <a:rPr lang="en-US" altLang="zh-CN" dirty="0"/>
              <a:t>end start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306802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>
            <a:extLst>
              <a:ext uri="{FF2B5EF4-FFF2-40B4-BE49-F238E27FC236}">
                <a16:creationId xmlns:a16="http://schemas.microsoft.com/office/drawing/2014/main" id="{53BA7E79-B0A8-4025-9E5E-EAC7789C8F66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7C041877-94E5-4D84-A050-73F304948E8F}" type="datetime5">
              <a:rPr lang="zh-CN" altLang="en-US" smtClean="0"/>
              <a:t>2024/10/23</a:t>
            </a:fld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353F689-2E51-BF4F-AE47-7CEB7CC4C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dirty="0"/>
              <a:t>实验一：基本编程方法练习</a:t>
            </a:r>
            <a:endParaRPr lang="zh-CN" altLang="en-US" sz="28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8F1A81D-7BC1-4ED3-A5AE-D705A01B0027}"/>
              </a:ext>
            </a:extLst>
          </p:cNvPr>
          <p:cNvSpPr txBox="1"/>
          <p:nvPr/>
        </p:nvSpPr>
        <p:spPr>
          <a:xfrm>
            <a:off x="251501" y="198830"/>
            <a:ext cx="88106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4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02</a:t>
            </a:r>
            <a:endParaRPr lang="zh-CN" altLang="en-US" sz="4400" dirty="0">
              <a:solidFill>
                <a:schemeClr val="bg1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cxnSp>
        <p:nvCxnSpPr>
          <p:cNvPr id="21" name="直接连接符​​(S) 32">
            <a:extLst>
              <a:ext uri="{FF2B5EF4-FFF2-40B4-BE49-F238E27FC236}">
                <a16:creationId xmlns:a16="http://schemas.microsoft.com/office/drawing/2014/main" id="{A4CEC0F3-0471-4B0B-87CC-9943DADB3A41}"/>
              </a:ext>
            </a:extLst>
          </p:cNvPr>
          <p:cNvCxnSpPr>
            <a:cxnSpLocks/>
          </p:cNvCxnSpPr>
          <p:nvPr/>
        </p:nvCxnSpPr>
        <p:spPr>
          <a:xfrm>
            <a:off x="691536" y="1642227"/>
            <a:ext cx="1350206" cy="0"/>
          </a:xfrm>
          <a:prstGeom prst="line">
            <a:avLst/>
          </a:prstGeom>
          <a:ln w="101600">
            <a:solidFill>
              <a:srgbClr val="4495A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文本占位符 3">
            <a:extLst>
              <a:ext uri="{FF2B5EF4-FFF2-40B4-BE49-F238E27FC236}">
                <a16:creationId xmlns:a16="http://schemas.microsoft.com/office/drawing/2014/main" id="{7F364775-61DA-4FB3-8AF3-1DBA41E67289}"/>
              </a:ext>
            </a:extLst>
          </p:cNvPr>
          <p:cNvSpPr txBox="1">
            <a:spLocks/>
          </p:cNvSpPr>
          <p:nvPr/>
        </p:nvSpPr>
        <p:spPr>
          <a:xfrm>
            <a:off x="692035" y="1117056"/>
            <a:ext cx="6026265" cy="3937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/>
              <a:t>实验内容</a:t>
            </a:r>
          </a:p>
        </p:txBody>
      </p:sp>
      <p:sp>
        <p:nvSpPr>
          <p:cNvPr id="10" name="文本占位符 3">
            <a:extLst>
              <a:ext uri="{FF2B5EF4-FFF2-40B4-BE49-F238E27FC236}">
                <a16:creationId xmlns:a16="http://schemas.microsoft.com/office/drawing/2014/main" id="{ED63E77F-9AE4-4C13-A98D-41EADF6311C1}"/>
              </a:ext>
            </a:extLst>
          </p:cNvPr>
          <p:cNvSpPr txBox="1">
            <a:spLocks/>
          </p:cNvSpPr>
          <p:nvPr/>
        </p:nvSpPr>
        <p:spPr>
          <a:xfrm>
            <a:off x="691536" y="1862212"/>
            <a:ext cx="7858630" cy="10714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400" dirty="0"/>
              <a:t>4. </a:t>
            </a:r>
            <a:r>
              <a:rPr lang="zh-CN" altLang="en-US" sz="2400" dirty="0"/>
              <a:t>从键盘接收一个字符串（假定输入字符串长度大于</a:t>
            </a:r>
            <a:r>
              <a:rPr lang="en-US" altLang="zh-CN" sz="2400" dirty="0"/>
              <a:t>3</a:t>
            </a:r>
            <a:r>
              <a:rPr lang="zh-CN" altLang="en-US" sz="2400" dirty="0"/>
              <a:t>），试换行输出该字符串中第二个字符开始的连续</a:t>
            </a:r>
            <a:r>
              <a:rPr lang="en-US" altLang="zh-CN" sz="2400" dirty="0"/>
              <a:t>2</a:t>
            </a:r>
            <a:r>
              <a:rPr lang="zh-CN" altLang="en-US" sz="2400" dirty="0"/>
              <a:t>个字符。 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连接符​​(S) 32">
            <a:extLst>
              <a:ext uri="{FF2B5EF4-FFF2-40B4-BE49-F238E27FC236}">
                <a16:creationId xmlns:a16="http://schemas.microsoft.com/office/drawing/2014/main" id="{6C10304B-3BD5-4991-AC49-57E072F112EE}"/>
              </a:ext>
            </a:extLst>
          </p:cNvPr>
          <p:cNvCxnSpPr>
            <a:cxnSpLocks/>
          </p:cNvCxnSpPr>
          <p:nvPr/>
        </p:nvCxnSpPr>
        <p:spPr>
          <a:xfrm>
            <a:off x="691536" y="3678855"/>
            <a:ext cx="1350206" cy="0"/>
          </a:xfrm>
          <a:prstGeom prst="line">
            <a:avLst/>
          </a:prstGeom>
          <a:ln w="101600">
            <a:solidFill>
              <a:srgbClr val="4495A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文本占位符 3">
            <a:extLst>
              <a:ext uri="{FF2B5EF4-FFF2-40B4-BE49-F238E27FC236}">
                <a16:creationId xmlns:a16="http://schemas.microsoft.com/office/drawing/2014/main" id="{70DA2247-57EC-4B25-9489-32F90A1CE2E9}"/>
              </a:ext>
            </a:extLst>
          </p:cNvPr>
          <p:cNvSpPr txBox="1">
            <a:spLocks/>
          </p:cNvSpPr>
          <p:nvPr/>
        </p:nvSpPr>
        <p:spPr>
          <a:xfrm>
            <a:off x="692035" y="3153684"/>
            <a:ext cx="6026265" cy="3937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/>
              <a:t>编程提示</a:t>
            </a:r>
          </a:p>
        </p:txBody>
      </p:sp>
      <p:sp>
        <p:nvSpPr>
          <p:cNvPr id="13" name="文本占位符 3">
            <a:extLst>
              <a:ext uri="{FF2B5EF4-FFF2-40B4-BE49-F238E27FC236}">
                <a16:creationId xmlns:a16="http://schemas.microsoft.com/office/drawing/2014/main" id="{E85AC0BD-C4AC-4506-8B7D-4F25C52ED00D}"/>
              </a:ext>
            </a:extLst>
          </p:cNvPr>
          <p:cNvSpPr txBox="1">
            <a:spLocks/>
          </p:cNvSpPr>
          <p:nvPr/>
        </p:nvSpPr>
        <p:spPr>
          <a:xfrm>
            <a:off x="691536" y="3781813"/>
            <a:ext cx="7858630" cy="241578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eaLnBrk="1" hangingPunct="1">
              <a:buAutoNum type="arabicPeriod"/>
            </a:pPr>
            <a:r>
              <a:rPr lang="zh-CN" altLang="en-US" sz="2400" dirty="0">
                <a:latin typeface="Consolas" panose="020B0609020204030204" pitchFamily="49" charset="0"/>
              </a:rPr>
              <a:t>该程序应先使用 </a:t>
            </a:r>
            <a:r>
              <a:rPr lang="en-US" altLang="zh-CN" sz="2400" dirty="0">
                <a:latin typeface="Consolas" panose="020B0609020204030204" pitchFamily="49" charset="0"/>
              </a:rPr>
              <a:t>DOS </a:t>
            </a:r>
            <a:r>
              <a:rPr lang="zh-CN" altLang="en-US" sz="2400" dirty="0">
                <a:latin typeface="Consolas" panose="020B0609020204030204" pitchFamily="49" charset="0"/>
              </a:rPr>
              <a:t>功能调用接收一个字符串；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marL="457200" indent="-457200" eaLnBrk="1" hangingPunct="1">
              <a:buAutoNum type="arabicPeriod"/>
            </a:pPr>
            <a:r>
              <a:rPr lang="zh-CN" altLang="en-US" sz="2400" dirty="0">
                <a:latin typeface="Consolas" panose="020B0609020204030204" pitchFamily="49" charset="0"/>
              </a:rPr>
              <a:t>显示其中的子串，要求从</a:t>
            </a:r>
            <a:r>
              <a:rPr lang="zh-CN" altLang="en-US" sz="2400" b="1" dirty="0">
                <a:latin typeface="Consolas" panose="020B0609020204030204" pitchFamily="49" charset="0"/>
              </a:rPr>
              <a:t>第二个字符</a:t>
            </a:r>
            <a:r>
              <a:rPr lang="zh-CN" altLang="en-US" sz="2400" dirty="0">
                <a:latin typeface="Consolas" panose="020B0609020204030204" pitchFamily="49" charset="0"/>
              </a:rPr>
              <a:t>开始，连续显示 </a:t>
            </a:r>
            <a:r>
              <a:rPr lang="en-US" altLang="zh-CN" sz="2400" dirty="0">
                <a:latin typeface="Consolas" panose="020B0609020204030204" pitchFamily="49" charset="0"/>
              </a:rPr>
              <a:t>2 </a:t>
            </a:r>
            <a:r>
              <a:rPr lang="zh-CN" altLang="en-US" sz="2400" dirty="0">
                <a:latin typeface="Consolas" panose="020B0609020204030204" pitchFamily="49" charset="0"/>
              </a:rPr>
              <a:t>个字符。可使用</a:t>
            </a:r>
            <a:r>
              <a:rPr lang="zh-CN" altLang="en-US" sz="2400" b="1" dirty="0">
                <a:solidFill>
                  <a:srgbClr val="2A2EFC"/>
                </a:solidFill>
                <a:latin typeface="Consolas" panose="020B0609020204030204" pitchFamily="49" charset="0"/>
              </a:rPr>
              <a:t>字符串显示</a:t>
            </a:r>
            <a:r>
              <a:rPr lang="zh-CN" altLang="en-US" sz="2400" dirty="0">
                <a:latin typeface="Consolas" panose="020B0609020204030204" pitchFamily="49" charset="0"/>
              </a:rPr>
              <a:t>的 </a:t>
            </a:r>
            <a:r>
              <a:rPr lang="en-US" altLang="zh-CN" sz="2400" dirty="0">
                <a:latin typeface="Consolas" panose="020B0609020204030204" pitchFamily="49" charset="0"/>
              </a:rPr>
              <a:t>DOS </a:t>
            </a:r>
            <a:r>
              <a:rPr lang="zh-CN" altLang="en-US" sz="2400" dirty="0">
                <a:latin typeface="Consolas" panose="020B0609020204030204" pitchFamily="49" charset="0"/>
              </a:rPr>
              <a:t>功能调用，也可以使用</a:t>
            </a:r>
            <a:r>
              <a:rPr lang="zh-CN" altLang="en-US" b="1" dirty="0">
                <a:solidFill>
                  <a:srgbClr val="2A2EFC"/>
                </a:solidFill>
                <a:latin typeface="Consolas" panose="020B0609020204030204" pitchFamily="49" charset="0"/>
              </a:rPr>
              <a:t>单字符显示</a:t>
            </a:r>
            <a:r>
              <a:rPr lang="zh-CN" altLang="en-US" sz="2400" dirty="0">
                <a:latin typeface="Consolas" panose="020B0609020204030204" pitchFamily="49" charset="0"/>
              </a:rPr>
              <a:t>的 </a:t>
            </a:r>
            <a:r>
              <a:rPr lang="en-US" altLang="zh-CN" sz="2400" dirty="0">
                <a:latin typeface="Consolas" panose="020B0609020204030204" pitchFamily="49" charset="0"/>
              </a:rPr>
              <a:t>DOS </a:t>
            </a:r>
            <a:r>
              <a:rPr lang="zh-CN" altLang="en-US" sz="2400" dirty="0">
                <a:latin typeface="Consolas" panose="020B0609020204030204" pitchFamily="49" charset="0"/>
              </a:rPr>
              <a:t>功能调用，重复显示两次。</a:t>
            </a:r>
          </a:p>
          <a:p>
            <a:pPr marL="457200" indent="-457200" eaLnBrk="1" hangingPunct="1">
              <a:buAutoNum type="arabicPeriod"/>
            </a:pPr>
            <a:endParaRPr lang="zh-CN" altLang="zh-CN" sz="2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63706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>
            <a:extLst>
              <a:ext uri="{FF2B5EF4-FFF2-40B4-BE49-F238E27FC236}">
                <a16:creationId xmlns:a16="http://schemas.microsoft.com/office/drawing/2014/main" id="{53BA7E79-B0A8-4025-9E5E-EAC7789C8F66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7C041877-94E5-4D84-A050-73F304948E8F}" type="datetime5">
              <a:rPr lang="zh-CN" altLang="en-US" smtClean="0"/>
              <a:t>2024/10/23</a:t>
            </a:fld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353F689-2E51-BF4F-AE47-7CEB7CC4C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dirty="0"/>
              <a:t>实验一：基本编程方法练习</a:t>
            </a:r>
            <a:endParaRPr lang="zh-CN" altLang="en-US" sz="28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8F1A81D-7BC1-4ED3-A5AE-D705A01B0027}"/>
              </a:ext>
            </a:extLst>
          </p:cNvPr>
          <p:cNvSpPr txBox="1"/>
          <p:nvPr/>
        </p:nvSpPr>
        <p:spPr>
          <a:xfrm>
            <a:off x="251501" y="198830"/>
            <a:ext cx="88106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4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02</a:t>
            </a:r>
            <a:endParaRPr lang="zh-CN" altLang="en-US" sz="4400" dirty="0">
              <a:solidFill>
                <a:schemeClr val="bg1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cxnSp>
        <p:nvCxnSpPr>
          <p:cNvPr id="21" name="直接连接符​​(S) 32">
            <a:extLst>
              <a:ext uri="{FF2B5EF4-FFF2-40B4-BE49-F238E27FC236}">
                <a16:creationId xmlns:a16="http://schemas.microsoft.com/office/drawing/2014/main" id="{A4CEC0F3-0471-4B0B-87CC-9943DADB3A41}"/>
              </a:ext>
            </a:extLst>
          </p:cNvPr>
          <p:cNvCxnSpPr>
            <a:cxnSpLocks/>
          </p:cNvCxnSpPr>
          <p:nvPr/>
        </p:nvCxnSpPr>
        <p:spPr>
          <a:xfrm>
            <a:off x="691536" y="1642227"/>
            <a:ext cx="1350206" cy="0"/>
          </a:xfrm>
          <a:prstGeom prst="line">
            <a:avLst/>
          </a:prstGeom>
          <a:ln w="101600">
            <a:solidFill>
              <a:srgbClr val="4495A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文本占位符 3">
            <a:extLst>
              <a:ext uri="{FF2B5EF4-FFF2-40B4-BE49-F238E27FC236}">
                <a16:creationId xmlns:a16="http://schemas.microsoft.com/office/drawing/2014/main" id="{7F364775-61DA-4FB3-8AF3-1DBA41E67289}"/>
              </a:ext>
            </a:extLst>
          </p:cNvPr>
          <p:cNvSpPr txBox="1">
            <a:spLocks/>
          </p:cNvSpPr>
          <p:nvPr/>
        </p:nvSpPr>
        <p:spPr>
          <a:xfrm>
            <a:off x="692035" y="1117056"/>
            <a:ext cx="6026265" cy="3937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/>
              <a:t>简单的伪代码</a:t>
            </a:r>
            <a:endParaRPr lang="en-US" altLang="zh-CN" b="1" dirty="0"/>
          </a:p>
        </p:txBody>
      </p:sp>
      <p:sp>
        <p:nvSpPr>
          <p:cNvPr id="9" name="内容占位符 4">
            <a:extLst>
              <a:ext uri="{FF2B5EF4-FFF2-40B4-BE49-F238E27FC236}">
                <a16:creationId xmlns:a16="http://schemas.microsoft.com/office/drawing/2014/main" id="{845B9AF2-9F72-424F-8FE0-D94F097BC0FA}"/>
              </a:ext>
            </a:extLst>
          </p:cNvPr>
          <p:cNvSpPr txBox="1">
            <a:spLocks/>
          </p:cNvSpPr>
          <p:nvPr/>
        </p:nvSpPr>
        <p:spPr>
          <a:xfrm>
            <a:off x="228600" y="1789111"/>
            <a:ext cx="4305300" cy="4876800"/>
          </a:xfrm>
          <a:prstGeom prst="rect">
            <a:avLst/>
          </a:prstGeom>
        </p:spPr>
        <p:txBody>
          <a:bodyPr/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data segment</a:t>
            </a:r>
          </a:p>
          <a:p>
            <a:pPr lvl="1"/>
            <a:r>
              <a:rPr lang="en-US" altLang="zh-CN"/>
              <a:t>str1 db 'please enter a string.$'</a:t>
            </a:r>
          </a:p>
          <a:p>
            <a:pPr lvl="1"/>
            <a:r>
              <a:rPr lang="en-US" altLang="zh-CN"/>
              <a:t>str2 db *, ?, *dup(?)</a:t>
            </a:r>
          </a:p>
          <a:p>
            <a:r>
              <a:rPr lang="en-US" altLang="zh-CN"/>
              <a:t>data ends</a:t>
            </a:r>
            <a:endParaRPr lang="en-US" altLang="zh-CN" dirty="0"/>
          </a:p>
        </p:txBody>
      </p:sp>
      <p:sp>
        <p:nvSpPr>
          <p:cNvPr id="10" name="内容占位符 5">
            <a:extLst>
              <a:ext uri="{FF2B5EF4-FFF2-40B4-BE49-F238E27FC236}">
                <a16:creationId xmlns:a16="http://schemas.microsoft.com/office/drawing/2014/main" id="{534AF9CE-860F-4C26-8C50-8CDE46415FB0}"/>
              </a:ext>
            </a:extLst>
          </p:cNvPr>
          <p:cNvSpPr txBox="1">
            <a:spLocks/>
          </p:cNvSpPr>
          <p:nvPr/>
        </p:nvSpPr>
        <p:spPr>
          <a:xfrm>
            <a:off x="4686300" y="1789111"/>
            <a:ext cx="4305300" cy="4876800"/>
          </a:xfrm>
          <a:prstGeom prst="rect">
            <a:avLst/>
          </a:prstGeom>
        </p:spPr>
        <p:txBody>
          <a:bodyPr/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start:</a:t>
            </a:r>
          </a:p>
          <a:p>
            <a:pPr lvl="1"/>
            <a:r>
              <a:rPr lang="en-US" altLang="zh-CN"/>
              <a:t>……</a:t>
            </a:r>
          </a:p>
          <a:p>
            <a:pPr lvl="1"/>
            <a:r>
              <a:rPr lang="en-US" altLang="zh-CN"/>
              <a:t>9</a:t>
            </a:r>
            <a:r>
              <a:rPr lang="zh-CN" altLang="en-US"/>
              <a:t>号功能显示</a:t>
            </a:r>
            <a:r>
              <a:rPr lang="en-US" altLang="zh-CN"/>
              <a:t>str1</a:t>
            </a:r>
            <a:r>
              <a:rPr lang="zh-CN" altLang="en-US"/>
              <a:t>字符串的内容</a:t>
            </a:r>
          </a:p>
          <a:p>
            <a:pPr lvl="1"/>
            <a:r>
              <a:rPr lang="en-US" altLang="zh-CN"/>
              <a:t>10</a:t>
            </a:r>
            <a:r>
              <a:rPr lang="zh-CN" altLang="en-US"/>
              <a:t>号功能输入字符串。</a:t>
            </a:r>
            <a:endParaRPr lang="en-US" altLang="zh-CN"/>
          </a:p>
          <a:p>
            <a:pPr lvl="1"/>
            <a:r>
              <a:rPr lang="en-US" altLang="zh-CN"/>
              <a:t>mov dl,str2+2</a:t>
            </a:r>
          </a:p>
          <a:p>
            <a:pPr lvl="1"/>
            <a:r>
              <a:rPr lang="en-US" altLang="zh-CN"/>
              <a:t>2</a:t>
            </a:r>
            <a:r>
              <a:rPr lang="zh-CN" altLang="en-US"/>
              <a:t>号功能显示单字符</a:t>
            </a:r>
            <a:endParaRPr lang="en-US" altLang="zh-CN"/>
          </a:p>
          <a:p>
            <a:pPr lvl="1"/>
            <a:r>
              <a:rPr lang="en-US" altLang="zh-CN"/>
              <a:t>……</a:t>
            </a:r>
          </a:p>
          <a:p>
            <a:r>
              <a:rPr lang="en-US" altLang="zh-CN"/>
              <a:t>code ends</a:t>
            </a:r>
          </a:p>
          <a:p>
            <a:r>
              <a:rPr lang="en-US" altLang="zh-CN"/>
              <a:t>end start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946855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>
            <a:extLst>
              <a:ext uri="{FF2B5EF4-FFF2-40B4-BE49-F238E27FC236}">
                <a16:creationId xmlns:a16="http://schemas.microsoft.com/office/drawing/2014/main" id="{53BA7E79-B0A8-4025-9E5E-EAC7789C8F66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7C041877-94E5-4D84-A050-73F304948E8F}" type="datetime5">
              <a:rPr lang="zh-CN" altLang="en-US" smtClean="0"/>
              <a:t>2024/10/23</a:t>
            </a:fld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353F689-2E51-BF4F-AE47-7CEB7CC4C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dirty="0"/>
              <a:t>实验一：基本编程方法练习</a:t>
            </a:r>
            <a:endParaRPr lang="zh-CN" altLang="en-US" sz="28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8F1A81D-7BC1-4ED3-A5AE-D705A01B0027}"/>
              </a:ext>
            </a:extLst>
          </p:cNvPr>
          <p:cNvSpPr txBox="1"/>
          <p:nvPr/>
        </p:nvSpPr>
        <p:spPr>
          <a:xfrm>
            <a:off x="251501" y="198830"/>
            <a:ext cx="88106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4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02</a:t>
            </a:r>
            <a:endParaRPr lang="zh-CN" altLang="en-US" sz="4400" dirty="0">
              <a:solidFill>
                <a:schemeClr val="bg1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cxnSp>
        <p:nvCxnSpPr>
          <p:cNvPr id="21" name="直接连接符​​(S) 32">
            <a:extLst>
              <a:ext uri="{FF2B5EF4-FFF2-40B4-BE49-F238E27FC236}">
                <a16:creationId xmlns:a16="http://schemas.microsoft.com/office/drawing/2014/main" id="{A4CEC0F3-0471-4B0B-87CC-9943DADB3A41}"/>
              </a:ext>
            </a:extLst>
          </p:cNvPr>
          <p:cNvCxnSpPr>
            <a:cxnSpLocks/>
          </p:cNvCxnSpPr>
          <p:nvPr/>
        </p:nvCxnSpPr>
        <p:spPr>
          <a:xfrm>
            <a:off x="691536" y="1642227"/>
            <a:ext cx="1350206" cy="0"/>
          </a:xfrm>
          <a:prstGeom prst="line">
            <a:avLst/>
          </a:prstGeom>
          <a:ln w="101600">
            <a:solidFill>
              <a:srgbClr val="4495A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文本占位符 3">
            <a:extLst>
              <a:ext uri="{FF2B5EF4-FFF2-40B4-BE49-F238E27FC236}">
                <a16:creationId xmlns:a16="http://schemas.microsoft.com/office/drawing/2014/main" id="{7F364775-61DA-4FB3-8AF3-1DBA41E67289}"/>
              </a:ext>
            </a:extLst>
          </p:cNvPr>
          <p:cNvSpPr txBox="1">
            <a:spLocks/>
          </p:cNvSpPr>
          <p:nvPr/>
        </p:nvSpPr>
        <p:spPr>
          <a:xfrm>
            <a:off x="692035" y="1117056"/>
            <a:ext cx="6026265" cy="3937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/>
              <a:t>注意事项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111E8197-1232-45CC-BEC7-7AC1D6DF97CE}"/>
              </a:ext>
            </a:extLst>
          </p:cNvPr>
          <p:cNvSpPr txBox="1">
            <a:spLocks/>
          </p:cNvSpPr>
          <p:nvPr/>
        </p:nvSpPr>
        <p:spPr>
          <a:xfrm>
            <a:off x="251501" y="1981200"/>
            <a:ext cx="4305300" cy="4876800"/>
          </a:xfrm>
          <a:prstGeom prst="rect">
            <a:avLst/>
          </a:prstGeom>
        </p:spPr>
        <p:txBody>
          <a:bodyPr/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u"/>
            </a:pPr>
            <a:r>
              <a:rPr lang="en-US" altLang="zh-CN" dirty="0">
                <a:latin typeface="Consolas" panose="020B0609020204030204" pitchFamily="49" charset="0"/>
              </a:rPr>
              <a:t>1.</a:t>
            </a:r>
            <a:r>
              <a:rPr lang="zh-CN" altLang="en-US" dirty="0">
                <a:latin typeface="Consolas" panose="020B0609020204030204" pitchFamily="49" charset="0"/>
              </a:rPr>
              <a:t>输入之前需要有提示语句。</a:t>
            </a:r>
            <a:endParaRPr lang="en-US" altLang="zh-CN" dirty="0">
              <a:latin typeface="Consolas" panose="020B0609020204030204" pitchFamily="49" charset="0"/>
            </a:endParaRP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pPr>
              <a:buFont typeface="Wingdings" panose="05000000000000000000" pitchFamily="2" charset="2"/>
              <a:buChar char="u"/>
            </a:pPr>
            <a:r>
              <a:rPr lang="en-US" altLang="zh-CN" dirty="0">
                <a:latin typeface="Consolas" panose="020B0609020204030204" pitchFamily="49" charset="0"/>
              </a:rPr>
              <a:t>2.</a:t>
            </a:r>
            <a:r>
              <a:rPr lang="zh-CN" altLang="en-US" dirty="0">
                <a:latin typeface="Consolas" panose="020B0609020204030204" pitchFamily="49" charset="0"/>
              </a:rPr>
              <a:t>必要时输出换行符</a:t>
            </a:r>
            <a:endParaRPr lang="en-US" altLang="zh-CN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CN" dirty="0">
                <a:latin typeface="Consolas" panose="020B0609020204030204" pitchFamily="49" charset="0"/>
              </a:rPr>
              <a:t>MOV DL,0AH		</a:t>
            </a:r>
          </a:p>
          <a:p>
            <a:pPr marL="0" indent="0">
              <a:buNone/>
            </a:pPr>
            <a:r>
              <a:rPr lang="en-US" altLang="zh-CN" dirty="0">
                <a:latin typeface="Consolas" panose="020B0609020204030204" pitchFamily="49" charset="0"/>
              </a:rPr>
              <a:t>MOV AH,02H</a:t>
            </a:r>
          </a:p>
          <a:p>
            <a:pPr marL="0" indent="0">
              <a:buNone/>
            </a:pPr>
            <a:r>
              <a:rPr lang="en-US" altLang="zh-CN" dirty="0">
                <a:latin typeface="Consolas" panose="020B0609020204030204" pitchFamily="49" charset="0"/>
              </a:rPr>
              <a:t>INT 21H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12" name="内容占位符 3">
            <a:extLst>
              <a:ext uri="{FF2B5EF4-FFF2-40B4-BE49-F238E27FC236}">
                <a16:creationId xmlns:a16="http://schemas.microsoft.com/office/drawing/2014/main" id="{BBB85AD2-C612-43B1-AA7E-0E155251DDB9}"/>
              </a:ext>
            </a:extLst>
          </p:cNvPr>
          <p:cNvSpPr txBox="1">
            <a:spLocks/>
          </p:cNvSpPr>
          <p:nvPr/>
        </p:nvSpPr>
        <p:spPr>
          <a:xfrm>
            <a:off x="4709201" y="1981200"/>
            <a:ext cx="4305300" cy="4876800"/>
          </a:xfrm>
          <a:prstGeom prst="rect">
            <a:avLst/>
          </a:prstGeom>
        </p:spPr>
        <p:txBody>
          <a:bodyPr/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u"/>
            </a:pPr>
            <a:r>
              <a:rPr lang="en-US" altLang="zh-CN" dirty="0">
                <a:latin typeface="Consolas" panose="020B0609020204030204" pitchFamily="49" charset="0"/>
              </a:rPr>
              <a:t>3.</a:t>
            </a:r>
            <a:r>
              <a:rPr lang="zh-CN" altLang="en-US" dirty="0">
                <a:latin typeface="Consolas" panose="020B0609020204030204" pitchFamily="49" charset="0"/>
              </a:rPr>
              <a:t>输入字符串真正的第一个字符传送至</a:t>
            </a:r>
            <a:r>
              <a:rPr lang="en-US" altLang="zh-CN" dirty="0">
                <a:latin typeface="Consolas" panose="020B0609020204030204" pitchFamily="49" charset="0"/>
              </a:rPr>
              <a:t>DL</a:t>
            </a:r>
            <a:r>
              <a:rPr lang="zh-CN" altLang="en-US" dirty="0">
                <a:latin typeface="Consolas" panose="020B0609020204030204" pitchFamily="49" charset="0"/>
              </a:rPr>
              <a:t>寄存器：</a:t>
            </a:r>
            <a:endParaRPr lang="en-US" altLang="zh-CN" dirty="0">
              <a:latin typeface="Consolas" panose="020B0609020204030204" pitchFamily="49" charset="0"/>
            </a:endParaRPr>
          </a:p>
          <a:p>
            <a:pPr>
              <a:buFont typeface="Wingdings" panose="05000000000000000000" pitchFamily="2" charset="2"/>
              <a:buChar char="u"/>
            </a:pPr>
            <a:endParaRPr lang="en-US" altLang="zh-CN" dirty="0">
              <a:latin typeface="Consolas" panose="020B0609020204030204" pitchFamily="49" charset="0"/>
            </a:endParaRPr>
          </a:p>
          <a:p>
            <a:pPr marL="0" lvl="1" indent="0">
              <a:buNone/>
            </a:pPr>
            <a:r>
              <a:rPr lang="en-US" altLang="zh-CN" sz="2800" dirty="0">
                <a:latin typeface="Consolas" panose="020B0609020204030204" pitchFamily="49" charset="0"/>
              </a:rPr>
              <a:t>MOV DL, str2+2</a:t>
            </a:r>
          </a:p>
          <a:p>
            <a:endParaRPr lang="zh-CN" alt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06246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0" y="2336505"/>
            <a:ext cx="3677533" cy="610863"/>
          </a:xfrm>
        </p:spPr>
        <p:txBody>
          <a:bodyPr rtlCol="0"/>
          <a:lstStyle/>
          <a:p>
            <a:pPr rtl="0"/>
            <a:r>
              <a:rPr lang="en-US" altLang="zh-CN" dirty="0"/>
              <a:t>Q&amp;A</a:t>
            </a:r>
            <a:endParaRPr lang="zh-CN" altLang="en-US" dirty="0"/>
          </a:p>
        </p:txBody>
      </p:sp>
      <p:graphicFrame>
        <p:nvGraphicFramePr>
          <p:cNvPr id="8" name="表格 5">
            <a:extLst>
              <a:ext uri="{FF2B5EF4-FFF2-40B4-BE49-F238E27FC236}">
                <a16:creationId xmlns:a16="http://schemas.microsoft.com/office/drawing/2014/main" id="{5A0EA0D3-1502-4624-B339-9BB7DC2183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9627091"/>
              </p:ext>
            </p:extLst>
          </p:nvPr>
        </p:nvGraphicFramePr>
        <p:xfrm>
          <a:off x="4474441" y="3648767"/>
          <a:ext cx="4669559" cy="1112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09232">
                  <a:extLst>
                    <a:ext uri="{9D8B030D-6E8A-4147-A177-3AD203B41FA5}">
                      <a16:colId xmlns:a16="http://schemas.microsoft.com/office/drawing/2014/main" val="210663870"/>
                    </a:ext>
                  </a:extLst>
                </a:gridCol>
                <a:gridCol w="3460327">
                  <a:extLst>
                    <a:ext uri="{9D8B030D-6E8A-4147-A177-3AD203B41FA5}">
                      <a16:colId xmlns:a16="http://schemas.microsoft.com/office/drawing/2014/main" val="2037245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7CA6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主讲教师：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7CA6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舒高峰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0855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7CA6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电子邮箱：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7CA6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gaofeng.shu@henu.edu.cn</a:t>
                      </a:r>
                      <a:endParaRPr lang="zh-CN" altLang="en-US" dirty="0">
                        <a:solidFill>
                          <a:srgbClr val="7CA65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32275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7CA6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联系电话：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7CA6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13161693313</a:t>
                      </a:r>
                      <a:endParaRPr lang="zh-CN" altLang="en-US" dirty="0">
                        <a:solidFill>
                          <a:srgbClr val="7CA65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2539682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83E0A6D0-A87B-444E-933E-864A045045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41" t="14722" r="19725" b="39167"/>
          <a:stretch/>
        </p:blipFill>
        <p:spPr bwMode="auto">
          <a:xfrm>
            <a:off x="376237" y="2181917"/>
            <a:ext cx="3210804" cy="3162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7570282"/>
      </p:ext>
    </p:extLst>
  </p:cSld>
  <p:clrMapOvr>
    <a:masterClrMapping/>
  </p:clrMapOvr>
</p:sld>
</file>

<file path=ppt/theme/theme1.xml><?xml version="1.0" encoding="utf-8"?>
<a:theme xmlns:a="http://schemas.openxmlformats.org/drawingml/2006/main" name="主题 1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prstDash val="sysDash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noFill/>
        <a:ln w="28575" algn="ctr">
          <a:solidFill>
            <a:srgbClr val="2A2EFC"/>
          </a:solidFill>
          <a:miter lim="800000"/>
          <a:headEnd type="none" w="med" len="med"/>
          <a:tailEnd type="triangle" w="med" len="med"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</a:extLst>
      </a:spPr>
      <a:bodyPr/>
      <a:lstStyle/>
    </a:lnDef>
  </a:objectDefaults>
  <a:extraClrSchemeLst/>
  <a:extLst>
    <a:ext uri="{05A4C25C-085E-4340-85A3-A5531E510DB2}">
      <thm15:themeFamily xmlns:thm15="http://schemas.microsoft.com/office/thememl/2012/main" name="Office_49129312_TF78853419_Win32.potx" id="{FEA4CB16-C2D0-46F5-9641-B9A026203A1A}" vid="{5C498265-2782-41B8-A880-232BDCBBAE6E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D20B6E4-879E-4E6C-BDE7-261540CD376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9EC1AB0-9704-404D-B6D3-819D938AC55B}">
  <ds:schemaRefs>
    <ds:schemaRef ds:uri="71af3243-3dd4-4a8d-8c0d-dd76da1f02a5"/>
    <ds:schemaRef ds:uri="http://schemas.microsoft.com/office/infopath/2007/PartnerControls"/>
    <ds:schemaRef ds:uri="http://www.w3.org/XML/1998/namespace"/>
    <ds:schemaRef ds:uri="http://purl.org/dc/terms/"/>
    <ds:schemaRef ds:uri="16c05727-aa75-4e4a-9b5f-8a80a1165891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http://purl.org/dc/dcmitype/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94F21D10-BD83-491A-AAA6-945C2DB1EB0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几何图形年度演示文稿</Template>
  <TotalTime>8127</TotalTime>
  <Words>1406</Words>
  <Application>Microsoft Office PowerPoint</Application>
  <PresentationFormat>全屏显示(4:3)</PresentationFormat>
  <Paragraphs>259</Paragraphs>
  <Slides>19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7" baseType="lpstr">
      <vt:lpstr>Microsoft YaHei UI</vt:lpstr>
      <vt:lpstr>微软雅黑</vt:lpstr>
      <vt:lpstr>Arial</vt:lpstr>
      <vt:lpstr>Consolas</vt:lpstr>
      <vt:lpstr>Courier New</vt:lpstr>
      <vt:lpstr>Tahoma</vt:lpstr>
      <vt:lpstr>Wingdings</vt:lpstr>
      <vt:lpstr>主题 1</vt:lpstr>
      <vt:lpstr>汇编语言与接口技术</vt:lpstr>
      <vt:lpstr>程序设计基础-DOS功能调用的使用方法</vt:lpstr>
      <vt:lpstr>程序设计基础-单字符输入(01号功能调用)</vt:lpstr>
      <vt:lpstr>程序设计基础-单字符输出(02号功能调用)</vt:lpstr>
      <vt:lpstr>程序设计基础-字符串输出(09号功能调用)</vt:lpstr>
      <vt:lpstr>程序设计基础-字符串输入(0A号功能调用)</vt:lpstr>
      <vt:lpstr>程序设计基础-0A号功能调用注意事项</vt:lpstr>
      <vt:lpstr>顺序程序-程序设计概述</vt:lpstr>
      <vt:lpstr>顺序程序-程序流程图的基本元素</vt:lpstr>
      <vt:lpstr>分支程序-单分支结构程序示例1</vt:lpstr>
      <vt:lpstr>实验一：基本编程方法练习</vt:lpstr>
      <vt:lpstr>实验一：基本编程方法练习</vt:lpstr>
      <vt:lpstr>实验一：基本编程方法练习</vt:lpstr>
      <vt:lpstr>实验一：基本编程方法练习</vt:lpstr>
      <vt:lpstr>实验一：基本编程方法练习</vt:lpstr>
      <vt:lpstr>实验一：基本编程方法练习</vt:lpstr>
      <vt:lpstr>实验一：基本编程方法练习</vt:lpstr>
      <vt:lpstr>实验一：基本编程方法练习</vt:lpstr>
      <vt:lpstr>Q&amp;A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年度审核</dc:title>
  <dc:creator>Shu Gavin</dc:creator>
  <cp:lastModifiedBy>Yingying Zhang</cp:lastModifiedBy>
  <cp:revision>627</cp:revision>
  <dcterms:created xsi:type="dcterms:W3CDTF">2021-08-26T12:49:00Z</dcterms:created>
  <dcterms:modified xsi:type="dcterms:W3CDTF">2024-10-23T13:58:12Z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