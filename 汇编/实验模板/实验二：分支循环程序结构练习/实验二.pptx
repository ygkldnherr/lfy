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350" r:id="rId5"/>
    <p:sldId id="531" r:id="rId6"/>
    <p:sldId id="533" r:id="rId7"/>
    <p:sldId id="534" r:id="rId8"/>
    <p:sldId id="535" r:id="rId9"/>
    <p:sldId id="536" r:id="rId10"/>
    <p:sldId id="537" r:id="rId11"/>
    <p:sldId id="538" r:id="rId12"/>
    <p:sldId id="539" r:id="rId13"/>
    <p:sldId id="540" r:id="rId14"/>
    <p:sldId id="376" r:id="rId15"/>
  </p:sldIdLst>
  <p:sldSz cx="9144000" cy="6858000" type="screen4x3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  <p:cmAuthor id="4" name="Shu Gavin" initials="SG" lastIdx="1" clrIdx="3">
    <p:extLst>
      <p:ext uri="{19B8F6BF-5375-455C-9EA6-DF929625EA0E}">
        <p15:presenceInfo xmlns:p15="http://schemas.microsoft.com/office/powerpoint/2012/main" userId="4a08d0a9c143c99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A654"/>
    <a:srgbClr val="2A2EFC"/>
    <a:srgbClr val="B0D8DE"/>
    <a:srgbClr val="FF6600"/>
    <a:srgbClr val="E5EDDD"/>
    <a:srgbClr val="A9D4DB"/>
    <a:srgbClr val="7CA655"/>
    <a:srgbClr val="DDEEF1"/>
    <a:srgbClr val="4495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96357" autoAdjust="0"/>
  </p:normalViewPr>
  <p:slideViewPr>
    <p:cSldViewPr snapToGrid="0">
      <p:cViewPr varScale="1">
        <p:scale>
          <a:sx n="109" d="100"/>
          <a:sy n="109" d="100"/>
        </p:scale>
        <p:origin x="7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3070"/>
    </p:cViewPr>
  </p:sorterViewPr>
  <p:notesViewPr>
    <p:cSldViewPr snapToGrid="0" showGuides="1">
      <p:cViewPr varScale="1">
        <p:scale>
          <a:sx n="96" d="100"/>
          <a:sy n="96" d="100"/>
        </p:scale>
        <p:origin x="28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AF33185-96C5-40F1-AF05-4E87E69D6235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89C7E07-3C67-C64C-8DA0-0404F6303970}" type="slidenum">
              <a:rPr lang="en-US" altLang="zh-CN" smtClean="0"/>
              <a:pPr/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FB62A3-876D-4AE7-92FC-7D715007F8A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AA22C1-D23F-4E95-A23F-136BBD4E416C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1627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09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956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5629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44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5856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220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0602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9193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3064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209A11-7F86-431F-912B-610647EA1CB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1DF1DE0-D9F3-4E20-9572-F488B7E02BD5}" type="datetime5">
              <a:rPr lang="zh-CN" altLang="en-US" smtClean="0"/>
              <a:t>2024/11/6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6078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8801" y="1088968"/>
            <a:ext cx="7030376" cy="1704244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1844110"/>
            <a:ext cx="5630788" cy="5013890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3413" y="3528585"/>
            <a:ext cx="4118678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</p:txBody>
      </p:sp>
      <p:cxnSp>
        <p:nvCxnSpPr>
          <p:cNvPr id="13" name="直接连接符​​(S)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4343413" y="3166971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D32C69-3D6C-4A0A-82A5-5A51E1B224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rgbClr val="4495A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0" y="80112"/>
            <a:ext cx="2266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摘要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6982880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33" name="直接连接符​​(S)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714375" y="1749799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9897" y="2286009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70761" y="2789842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69897" y="4273620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6" name="文本占位符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69895" y="3265954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8" name="文本占位符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69895" y="3769787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6391CC-FD99-450E-91E0-5212718826BC}" type="datetime5">
              <a:rPr lang="zh-CN" altLang="en-US" smtClean="0"/>
              <a:t>2024/11/6</a:t>
            </a:fld>
            <a:endParaRPr lang="zh-CN" altLang="en-US" dirty="0"/>
          </a:p>
        </p:txBody>
      </p:sp>
      <p:grpSp>
        <p:nvGrpSpPr>
          <p:cNvPr id="35" name="组 8">
            <a:extLst>
              <a:ext uri="{FF2B5EF4-FFF2-40B4-BE49-F238E27FC236}">
                <a16:creationId xmlns:a16="http://schemas.microsoft.com/office/drawing/2014/main" id="{8C1F6FDC-00AE-4417-AF76-384D40B9A9A8}"/>
              </a:ext>
            </a:extLst>
          </p:cNvPr>
          <p:cNvGrpSpPr>
            <a:grpSpLocks/>
          </p:cNvGrpSpPr>
          <p:nvPr userDrawn="1"/>
        </p:nvGrpSpPr>
        <p:grpSpPr bwMode="auto">
          <a:xfrm rot="5400000" flipV="1">
            <a:off x="6476050" y="41998"/>
            <a:ext cx="2709948" cy="2625953"/>
            <a:chOff x="0" y="12289"/>
            <a:chExt cx="3550" cy="3551"/>
          </a:xfrm>
        </p:grpSpPr>
        <p:sp>
          <p:nvSpPr>
            <p:cNvPr id="36" name="任意多边形(F) 9">
              <a:extLst>
                <a:ext uri="{FF2B5EF4-FFF2-40B4-BE49-F238E27FC236}">
                  <a16:creationId xmlns:a16="http://schemas.microsoft.com/office/drawing/2014/main" id="{9F55D973-02AC-4EA2-97FE-B9F0C609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(F) 10">
              <a:extLst>
                <a:ext uri="{FF2B5EF4-FFF2-40B4-BE49-F238E27FC236}">
                  <a16:creationId xmlns:a16="http://schemas.microsoft.com/office/drawing/2014/main" id="{F2FA2998-3A91-480C-977D-59B0BF0C3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 11">
              <a:extLst>
                <a:ext uri="{FF2B5EF4-FFF2-40B4-BE49-F238E27FC236}">
                  <a16:creationId xmlns:a16="http://schemas.microsoft.com/office/drawing/2014/main" id="{C5F4F4E8-C72E-46B0-99FD-EBC6AF2D6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29" name="组 8">
            <a:extLst>
              <a:ext uri="{FF2B5EF4-FFF2-40B4-BE49-F238E27FC236}">
                <a16:creationId xmlns:a16="http://schemas.microsoft.com/office/drawing/2014/main" id="{3696B84C-13CD-4FC5-8948-CE254B70689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30" name="任意多边形(F) 9">
              <a:extLst>
                <a:ext uri="{FF2B5EF4-FFF2-40B4-BE49-F238E27FC236}">
                  <a16:creationId xmlns:a16="http://schemas.microsoft.com/office/drawing/2014/main" id="{B46A553D-C016-46E0-9C70-BD733010E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" name="任意多边形(F) 10">
              <a:extLst>
                <a:ext uri="{FF2B5EF4-FFF2-40B4-BE49-F238E27FC236}">
                  <a16:creationId xmlns:a16="http://schemas.microsoft.com/office/drawing/2014/main" id="{7D82B289-71A7-4BEB-9CF8-A66E8460B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" name="任意多边形 11">
              <a:extLst>
                <a:ext uri="{FF2B5EF4-FFF2-40B4-BE49-F238E27FC236}">
                  <a16:creationId xmlns:a16="http://schemas.microsoft.com/office/drawing/2014/main" id="{EC9D530F-C9DA-41BE-BB5C-6BC9E2950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18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1728">
          <p15:clr>
            <a:srgbClr val="FBAE40"/>
          </p15:clr>
        </p15:guide>
        <p15:guide id="4" pos="4302">
          <p15:clr>
            <a:srgbClr val="FBAE40"/>
          </p15:clr>
        </p15:guide>
        <p15:guide id="5" pos="1458">
          <p15:clr>
            <a:srgbClr val="FBAE40"/>
          </p15:clr>
        </p15:guide>
        <p15:guide id="6" pos="3006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014">
          <p15:clr>
            <a:srgbClr val="FBAE40"/>
          </p15:clr>
        </p15:guide>
        <p15:guide id="11" pos="27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1371596"/>
            <a:ext cx="4572000" cy="5508947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单击图标添加图片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4" y="278120"/>
            <a:ext cx="7258932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17" name="直接连接符​​(S)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308693" y="963604"/>
            <a:ext cx="8527736" cy="0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035" y="1371596"/>
            <a:ext cx="3429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</p:txBody>
      </p:sp>
      <p:cxnSp>
        <p:nvCxnSpPr>
          <p:cNvPr id="24" name="直接连接符​​(S) 20">
            <a:extLst>
              <a:ext uri="{FF2B5EF4-FFF2-40B4-BE49-F238E27FC236}">
                <a16:creationId xmlns:a16="http://schemas.microsoft.com/office/drawing/2014/main" id="{1C33D278-C9B4-43D1-91E6-FBBAE44E06E6}"/>
              </a:ext>
            </a:extLst>
          </p:cNvPr>
          <p:cNvCxnSpPr>
            <a:cxnSpLocks/>
          </p:cNvCxnSpPr>
          <p:nvPr userDrawn="1"/>
        </p:nvCxnSpPr>
        <p:spPr>
          <a:xfrm>
            <a:off x="1141976" y="157971"/>
            <a:ext cx="0" cy="731012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日期占位符 1">
            <a:extLst>
              <a:ext uri="{FF2B5EF4-FFF2-40B4-BE49-F238E27FC236}">
                <a16:creationId xmlns:a16="http://schemas.microsoft.com/office/drawing/2014/main" id="{2CC5C624-8420-4E91-BF40-58AEFB63F462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FDD3B7-618C-4C65-8DF8-B2A07C6895F2}" type="datetime5">
              <a:rPr lang="zh-CN" altLang="en-US" smtClean="0"/>
              <a:t>2024/11/6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6" pos="261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表占位符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714376" y="1939108"/>
            <a:ext cx="7764608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单击图标添加图表</a:t>
            </a:r>
          </a:p>
        </p:txBody>
      </p:sp>
      <p:grpSp>
        <p:nvGrpSpPr>
          <p:cNvPr id="7" name="组 8">
            <a:extLst>
              <a:ext uri="{FF2B5EF4-FFF2-40B4-BE49-F238E27FC236}">
                <a16:creationId xmlns:a16="http://schemas.microsoft.com/office/drawing/2014/main" id="{33E9911B-11E6-435F-BD39-ECE556CFD82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8" name="任意多边形(F) 9">
              <a:extLst>
                <a:ext uri="{FF2B5EF4-FFF2-40B4-BE49-F238E27FC236}">
                  <a16:creationId xmlns:a16="http://schemas.microsoft.com/office/drawing/2014/main" id="{39977DC1-C12A-442B-98DD-9E007381F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9" name="任意多边形(F) 10">
              <a:extLst>
                <a:ext uri="{FF2B5EF4-FFF2-40B4-BE49-F238E27FC236}">
                  <a16:creationId xmlns:a16="http://schemas.microsoft.com/office/drawing/2014/main" id="{65609B2D-C92B-4137-A673-7CD23A448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 11">
              <a:extLst>
                <a:ext uri="{FF2B5EF4-FFF2-40B4-BE49-F238E27FC236}">
                  <a16:creationId xmlns:a16="http://schemas.microsoft.com/office/drawing/2014/main" id="{BE8AE377-17DA-409C-9FA0-1390A4360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1" name="标题 1">
            <a:extLst>
              <a:ext uri="{FF2B5EF4-FFF2-40B4-BE49-F238E27FC236}">
                <a16:creationId xmlns:a16="http://schemas.microsoft.com/office/drawing/2014/main" id="{863CD07C-C73D-41F2-A03B-28C2E3EAF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4" y="278120"/>
            <a:ext cx="7258932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12" name="直接连接符​​(S) 16">
            <a:extLst>
              <a:ext uri="{FF2B5EF4-FFF2-40B4-BE49-F238E27FC236}">
                <a16:creationId xmlns:a16="http://schemas.microsoft.com/office/drawing/2014/main" id="{106D1B7E-9A21-4C5D-8A44-066B6B6A66CC}"/>
              </a:ext>
            </a:extLst>
          </p:cNvPr>
          <p:cNvCxnSpPr>
            <a:cxnSpLocks/>
          </p:cNvCxnSpPr>
          <p:nvPr userDrawn="1"/>
        </p:nvCxnSpPr>
        <p:spPr>
          <a:xfrm>
            <a:off x="308693" y="963604"/>
            <a:ext cx="8527736" cy="0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​​(S) 20">
            <a:extLst>
              <a:ext uri="{FF2B5EF4-FFF2-40B4-BE49-F238E27FC236}">
                <a16:creationId xmlns:a16="http://schemas.microsoft.com/office/drawing/2014/main" id="{327F2DD1-E51E-4CB6-ACF5-ED7C49C60CB5}"/>
              </a:ext>
            </a:extLst>
          </p:cNvPr>
          <p:cNvCxnSpPr>
            <a:cxnSpLocks/>
          </p:cNvCxnSpPr>
          <p:nvPr userDrawn="1"/>
        </p:nvCxnSpPr>
        <p:spPr>
          <a:xfrm>
            <a:off x="1141976" y="157971"/>
            <a:ext cx="0" cy="731012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日期占位符 1">
            <a:extLst>
              <a:ext uri="{FF2B5EF4-FFF2-40B4-BE49-F238E27FC236}">
                <a16:creationId xmlns:a16="http://schemas.microsoft.com/office/drawing/2014/main" id="{3DBEA8B4-9F74-46F9-A1E1-C69F04644E75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D204038-36F5-4D5C-9342-448BC76326C2}" type="datetime5">
              <a:rPr lang="zh-CN" altLang="en-US" smtClean="0"/>
              <a:t>2024/11/6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AEE0F078-228F-4C21-9130-4AAF298B58C2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9336DD3-195A-4BDA-BB5F-107A80012942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zh-CN" altLang="en-US" noProof="0"/>
              <a:t>单击以编辑 </a:t>
            </a:r>
          </a:p>
        </p:txBody>
      </p:sp>
      <p:sp>
        <p:nvSpPr>
          <p:cNvPr id="9" name="表格占位符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14375" y="2209806"/>
            <a:ext cx="7715250" cy="2593109"/>
          </a:xfrm>
        </p:spPr>
        <p:txBody>
          <a:bodyPr rtlCol="0"/>
          <a:lstStyle/>
          <a:p>
            <a:pPr rtl="0"/>
            <a:r>
              <a:rPr lang="zh-CN" altLang="en-US" noProof="0"/>
              <a:t>单击图标添加表格</a:t>
            </a:r>
          </a:p>
        </p:txBody>
      </p:sp>
      <p:grpSp>
        <p:nvGrpSpPr>
          <p:cNvPr id="7" name="组 8">
            <a:extLst>
              <a:ext uri="{FF2B5EF4-FFF2-40B4-BE49-F238E27FC236}">
                <a16:creationId xmlns:a16="http://schemas.microsoft.com/office/drawing/2014/main" id="{FF654C3C-7763-4178-8553-6DF10C2A6EB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8" name="任意多边形(F) 9">
              <a:extLst>
                <a:ext uri="{FF2B5EF4-FFF2-40B4-BE49-F238E27FC236}">
                  <a16:creationId xmlns:a16="http://schemas.microsoft.com/office/drawing/2014/main" id="{9E97018D-7502-4F78-8461-93A70CF76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(F) 10">
              <a:extLst>
                <a:ext uri="{FF2B5EF4-FFF2-40B4-BE49-F238E27FC236}">
                  <a16:creationId xmlns:a16="http://schemas.microsoft.com/office/drawing/2014/main" id="{7C4114FD-2438-4942-B25A-3DBA6C553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 11">
              <a:extLst>
                <a:ext uri="{FF2B5EF4-FFF2-40B4-BE49-F238E27FC236}">
                  <a16:creationId xmlns:a16="http://schemas.microsoft.com/office/drawing/2014/main" id="{363BAD70-68F0-458E-8504-775FF7462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1">
            <a:extLst>
              <a:ext uri="{FF2B5EF4-FFF2-40B4-BE49-F238E27FC236}">
                <a16:creationId xmlns:a16="http://schemas.microsoft.com/office/drawing/2014/main" id="{A1595A9B-06D0-446D-AFB2-2E76BB7D1FCF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2CDB93B-0CD8-49FA-8FA1-B514F559EF5C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7" y="2476506"/>
            <a:ext cx="534924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524963" y="548300"/>
            <a:ext cx="11920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zh-CN" altLang="en-US" sz="200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560" userDrawn="1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团队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日期占位符 1">
            <a:extLst>
              <a:ext uri="{FF2B5EF4-FFF2-40B4-BE49-F238E27FC236}">
                <a16:creationId xmlns:a16="http://schemas.microsoft.com/office/drawing/2014/main" id="{C647E1EB-8D12-43F6-9C6E-B1E76BD6574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FB74298-690E-4F37-8915-424A0EA11287}" type="datetime5">
              <a:rPr lang="zh-CN" altLang="en-US" smtClean="0"/>
              <a:t>2024/11/6</a:t>
            </a:fld>
            <a:endParaRPr lang="zh-CN" altLang="en-US" dirty="0"/>
          </a:p>
        </p:txBody>
      </p:sp>
      <p:grpSp>
        <p:nvGrpSpPr>
          <p:cNvPr id="33" name="组 8">
            <a:extLst>
              <a:ext uri="{FF2B5EF4-FFF2-40B4-BE49-F238E27FC236}">
                <a16:creationId xmlns:a16="http://schemas.microsoft.com/office/drawing/2014/main" id="{79D94968-E939-4A79-BAAE-90F8C01EB7E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34" name="任意多边形(F) 9">
              <a:extLst>
                <a:ext uri="{FF2B5EF4-FFF2-40B4-BE49-F238E27FC236}">
                  <a16:creationId xmlns:a16="http://schemas.microsoft.com/office/drawing/2014/main" id="{330E9FF0-8ED0-4358-AB76-60AC33D39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任意多边形(F) 10">
              <a:extLst>
                <a:ext uri="{FF2B5EF4-FFF2-40B4-BE49-F238E27FC236}">
                  <a16:creationId xmlns:a16="http://schemas.microsoft.com/office/drawing/2014/main" id="{0C6DDBC4-02C6-4510-A45F-3B2001D85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 11">
              <a:extLst>
                <a:ext uri="{FF2B5EF4-FFF2-40B4-BE49-F238E27FC236}">
                  <a16:creationId xmlns:a16="http://schemas.microsoft.com/office/drawing/2014/main" id="{6B22312E-F867-4CD8-9D09-ECF7E71FE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8" name="图片占位符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5701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61" name="标题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56492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cxnSp>
        <p:nvCxnSpPr>
          <p:cNvPr id="62" name="直接连接符​​(S)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39108"/>
            <a:ext cx="16002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图片占位符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43710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72" name="文本占位符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4375" y="5393169"/>
            <a:ext cx="16002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3" name="文本占位符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4375" y="4986754"/>
            <a:ext cx="16002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74" name="文本占位符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7283" y="5393169"/>
            <a:ext cx="1596118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5" name="文本占位符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47283" y="4986754"/>
            <a:ext cx="1596118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76" name="文本占位符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75292" y="5393169"/>
            <a:ext cx="1596934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7" name="文本占位符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5292" y="4986754"/>
            <a:ext cx="1596934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78" name="文本占位符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32691" y="5393169"/>
            <a:ext cx="1596934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9" name="文本占位符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32691" y="4986754"/>
            <a:ext cx="1596934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66" name="图片占位符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771719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69" name="图片占位符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834018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728" userDrawn="1">
          <p15:clr>
            <a:srgbClr val="FBAE40"/>
          </p15:clr>
        </p15:guide>
        <p15:guide id="4" pos="3006" userDrawn="1">
          <p15:clr>
            <a:srgbClr val="FBAE40"/>
          </p15:clr>
        </p15:guide>
        <p15:guide id="5" pos="1458" userDrawn="1">
          <p15:clr>
            <a:srgbClr val="FBAE40"/>
          </p15:clr>
        </p15:guide>
        <p15:guide id="6" pos="2736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4014" userDrawn="1">
          <p15:clr>
            <a:srgbClr val="FBAE40"/>
          </p15:clr>
        </p15:guide>
        <p15:guide id="11" pos="4302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日程表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1">
            <a:extLst>
              <a:ext uri="{FF2B5EF4-FFF2-40B4-BE49-F238E27FC236}">
                <a16:creationId xmlns:a16="http://schemas.microsoft.com/office/drawing/2014/main" id="{B97F3A12-799D-455A-A239-8D59085C93D0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D1ADF1D-247E-4E8B-A9B1-F58E5E95F002}" type="datetime5">
              <a:rPr lang="zh-CN" altLang="en-US" smtClean="0"/>
              <a:t>2024/11/6</a:t>
            </a:fld>
            <a:endParaRPr lang="zh-CN" altLang="en-US" dirty="0"/>
          </a:p>
        </p:txBody>
      </p:sp>
      <p:cxnSp>
        <p:nvCxnSpPr>
          <p:cNvPr id="21" name="直接连接符​​(S)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784469" y="2213783"/>
            <a:ext cx="16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4635374" y="2213783"/>
            <a:ext cx="8327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​​(S)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6559217" y="3904712"/>
            <a:ext cx="16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​​(S)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2708317" y="3895941"/>
            <a:ext cx="16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标题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 </a:t>
            </a:r>
          </a:p>
        </p:txBody>
      </p:sp>
      <p:sp>
        <p:nvSpPr>
          <p:cNvPr id="96" name="文本占位符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2716" y="2934856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97" name="文本占位符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2716" y="2568695"/>
            <a:ext cx="16002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102" name="文本占位符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23349" y="5087328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103" name="文本占位符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23349" y="4701917"/>
            <a:ext cx="16002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b="1" spc="0" baseline="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zh-CN" altLang="en-US" noProof="0"/>
              <a:t>单击以编辑 </a:t>
            </a:r>
          </a:p>
        </p:txBody>
      </p:sp>
      <p:sp>
        <p:nvSpPr>
          <p:cNvPr id="106" name="文本占位符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51283" y="5087328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107" name="文本占位符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51283" y="4701917"/>
            <a:ext cx="16002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b="1" spc="0" baseline="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zh-CN" altLang="en-US" noProof="0"/>
              <a:t>单击以编辑 </a:t>
            </a:r>
          </a:p>
        </p:txBody>
      </p:sp>
      <p:sp>
        <p:nvSpPr>
          <p:cNvPr id="108" name="文本占位符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28607" y="2934856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109" name="文本占位符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28607" y="2568695"/>
            <a:ext cx="16002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725767" y="3968780"/>
            <a:ext cx="7706608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长方形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723247" y="3883242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7" name="长方形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2648697" y="3892019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7" name="长方形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4574145" y="3883242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长方形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6499598" y="3892019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日期占位符 1">
            <a:extLst>
              <a:ext uri="{FF2B5EF4-FFF2-40B4-BE49-F238E27FC236}">
                <a16:creationId xmlns:a16="http://schemas.microsoft.com/office/drawing/2014/main" id="{5ECB866D-1176-4DD4-B1AE-725B596AEEC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76BB8B0-9DA3-4A45-BCF7-BC5F50366D23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cxnSp>
        <p:nvCxnSpPr>
          <p:cNvPr id="33" name="直接连接符​​(S)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3019" y="2300984"/>
            <a:ext cx="3620384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1" i="0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72025" y="2300984"/>
            <a:ext cx="3573622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1" i="0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27" name="内容占位符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019" y="2799146"/>
            <a:ext cx="3620384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8" name="内容占位符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72029" y="2799146"/>
            <a:ext cx="356718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15" name="直接连接符​​(S)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4772025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组 8">
            <a:extLst>
              <a:ext uri="{FF2B5EF4-FFF2-40B4-BE49-F238E27FC236}">
                <a16:creationId xmlns:a16="http://schemas.microsoft.com/office/drawing/2014/main" id="{1A3C9206-675A-4AC8-94B0-A0808E1AAA7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17" name="任意多边形(F) 9">
              <a:extLst>
                <a:ext uri="{FF2B5EF4-FFF2-40B4-BE49-F238E27FC236}">
                  <a16:creationId xmlns:a16="http://schemas.microsoft.com/office/drawing/2014/main" id="{6394B670-383A-4BAD-BBC2-32171250A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" name="任意多边形(F) 10">
              <a:extLst>
                <a:ext uri="{FF2B5EF4-FFF2-40B4-BE49-F238E27FC236}">
                  <a16:creationId xmlns:a16="http://schemas.microsoft.com/office/drawing/2014/main" id="{618A85E9-909F-4B55-B40A-844EDA388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任意多边形 11">
              <a:extLst>
                <a:ext uri="{FF2B5EF4-FFF2-40B4-BE49-F238E27FC236}">
                  <a16:creationId xmlns:a16="http://schemas.microsoft.com/office/drawing/2014/main" id="{52A7A9CA-B1E9-4561-BE1F-692D05888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728" userDrawn="1">
          <p15:clr>
            <a:srgbClr val="FBAE40"/>
          </p15:clr>
        </p15:guide>
        <p15:guide id="4" pos="4302" userDrawn="1">
          <p15:clr>
            <a:srgbClr val="FBAE40"/>
          </p15:clr>
        </p15:guide>
        <p15:guide id="5" pos="1458" userDrawn="1">
          <p15:clr>
            <a:srgbClr val="FBAE40"/>
          </p15:clr>
        </p15:guide>
        <p15:guide id="6" pos="3006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440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pos="4014" userDrawn="1">
          <p15:clr>
            <a:srgbClr val="FBAE40"/>
          </p15:clr>
        </p15:guide>
        <p15:guide id="11" pos="27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日期占位符 1">
            <a:extLst>
              <a:ext uri="{FF2B5EF4-FFF2-40B4-BE49-F238E27FC236}">
                <a16:creationId xmlns:a16="http://schemas.microsoft.com/office/drawing/2014/main" id="{D1228DF4-5AC2-4707-9BA3-5954DB582D48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C91D5D49-54FC-4717-A45C-39A4142CA5C5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cxnSp>
        <p:nvCxnSpPr>
          <p:cNvPr id="33" name="直接连接符​​(S)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5" y="2300156"/>
            <a:ext cx="2277358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="1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zh-CN" altLang="en-US" noProof="0" dirty="0"/>
              <a:t>单击以编辑 </a:t>
            </a:r>
          </a:p>
        </p:txBody>
      </p:sp>
      <p:sp>
        <p:nvSpPr>
          <p:cNvPr id="27" name="内容占位符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375" y="2799146"/>
            <a:ext cx="227735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0" name="文本占位符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427029" y="2300156"/>
            <a:ext cx="2277358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="1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zh-CN" altLang="en-US" noProof="0" dirty="0"/>
              <a:t>单击以编辑 </a:t>
            </a:r>
          </a:p>
        </p:txBody>
      </p:sp>
      <p:sp>
        <p:nvSpPr>
          <p:cNvPr id="21" name="内容占位符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427031" y="2799146"/>
            <a:ext cx="228797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40265" y="2300156"/>
            <a:ext cx="2277358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="1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zh-CN" altLang="en-US" noProof="0" dirty="0"/>
              <a:t>单击以编辑 </a:t>
            </a:r>
          </a:p>
        </p:txBody>
      </p:sp>
      <p:sp>
        <p:nvSpPr>
          <p:cNvPr id="24" name="内容占位符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40265" y="2799146"/>
            <a:ext cx="227735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3427029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​​(S)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6140263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组 8">
            <a:extLst>
              <a:ext uri="{FF2B5EF4-FFF2-40B4-BE49-F238E27FC236}">
                <a16:creationId xmlns:a16="http://schemas.microsoft.com/office/drawing/2014/main" id="{5B398374-CDC7-43CC-AD51-6B0B6F8E809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25" name="任意多边形(F) 9">
              <a:extLst>
                <a:ext uri="{FF2B5EF4-FFF2-40B4-BE49-F238E27FC236}">
                  <a16:creationId xmlns:a16="http://schemas.microsoft.com/office/drawing/2014/main" id="{ACD6682D-CEFD-4EEA-8FDD-9FF6DB1C7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" name="任意多边形(F) 10">
              <a:extLst>
                <a:ext uri="{FF2B5EF4-FFF2-40B4-BE49-F238E27FC236}">
                  <a16:creationId xmlns:a16="http://schemas.microsoft.com/office/drawing/2014/main" id="{A57143C7-9F96-4177-A56B-E5A2B84B5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" name="任意多边形 11">
              <a:extLst>
                <a:ext uri="{FF2B5EF4-FFF2-40B4-BE49-F238E27FC236}">
                  <a16:creationId xmlns:a16="http://schemas.microsoft.com/office/drawing/2014/main" id="{C8D99584-127E-446E-B7C0-01748E66E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89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440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pos="3600" userDrawn="1">
          <p15:clr>
            <a:srgbClr val="FBAE40"/>
          </p15:clr>
        </p15:guide>
        <p15:guide id="11" pos="216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摘要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日期占位符 1">
            <a:extLst>
              <a:ext uri="{FF2B5EF4-FFF2-40B4-BE49-F238E27FC236}">
                <a16:creationId xmlns:a16="http://schemas.microsoft.com/office/drawing/2014/main" id="{3AEC2215-6A87-4062-BE25-93D7E4BB1508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24525A6-10CF-484C-8AF9-0A00FBE7E179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7" y="288788"/>
            <a:ext cx="6899753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7" y="2656904"/>
            <a:ext cx="3629025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4377" y="2286009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5241" y="3841846"/>
            <a:ext cx="3629025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241" y="3470943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4377" y="5017901"/>
            <a:ext cx="3629025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4377" y="4647006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9735" y="2656904"/>
            <a:ext cx="3629025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6" name="文本占位符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9735" y="2286009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99735" y="3841846"/>
            <a:ext cx="3629025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8" name="文本占位符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9735" y="3470943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grpSp>
        <p:nvGrpSpPr>
          <p:cNvPr id="35" name="组 8">
            <a:extLst>
              <a:ext uri="{FF2B5EF4-FFF2-40B4-BE49-F238E27FC236}">
                <a16:creationId xmlns:a16="http://schemas.microsoft.com/office/drawing/2014/main" id="{8C1F6FDC-00AE-4417-AF76-384D40B9A9A8}"/>
              </a:ext>
            </a:extLst>
          </p:cNvPr>
          <p:cNvGrpSpPr>
            <a:grpSpLocks/>
          </p:cNvGrpSpPr>
          <p:nvPr userDrawn="1"/>
        </p:nvGrpSpPr>
        <p:grpSpPr bwMode="auto">
          <a:xfrm rot="5400000" flipV="1">
            <a:off x="6476050" y="41998"/>
            <a:ext cx="2709948" cy="2625953"/>
            <a:chOff x="0" y="12289"/>
            <a:chExt cx="3550" cy="3551"/>
          </a:xfrm>
        </p:grpSpPr>
        <p:sp>
          <p:nvSpPr>
            <p:cNvPr id="36" name="任意多边形(F) 9">
              <a:extLst>
                <a:ext uri="{FF2B5EF4-FFF2-40B4-BE49-F238E27FC236}">
                  <a16:creationId xmlns:a16="http://schemas.microsoft.com/office/drawing/2014/main" id="{9F55D973-02AC-4EA2-97FE-B9F0C609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(F) 10">
              <a:extLst>
                <a:ext uri="{FF2B5EF4-FFF2-40B4-BE49-F238E27FC236}">
                  <a16:creationId xmlns:a16="http://schemas.microsoft.com/office/drawing/2014/main" id="{F2FA2998-3A91-480C-977D-59B0BF0C3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 11">
              <a:extLst>
                <a:ext uri="{FF2B5EF4-FFF2-40B4-BE49-F238E27FC236}">
                  <a16:creationId xmlns:a16="http://schemas.microsoft.com/office/drawing/2014/main" id="{C5F4F4E8-C72E-46B0-99FD-EBC6AF2D6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cxnSp>
        <p:nvCxnSpPr>
          <p:cNvPr id="40" name="直接连接符​​(S) 32">
            <a:extLst>
              <a:ext uri="{FF2B5EF4-FFF2-40B4-BE49-F238E27FC236}">
                <a16:creationId xmlns:a16="http://schemas.microsoft.com/office/drawing/2014/main" id="{CB82211B-52F9-48C5-9206-195ED2D4F163}"/>
              </a:ext>
            </a:extLst>
          </p:cNvPr>
          <p:cNvCxnSpPr>
            <a:cxnSpLocks/>
          </p:cNvCxnSpPr>
          <p:nvPr userDrawn="1"/>
        </p:nvCxnSpPr>
        <p:spPr>
          <a:xfrm>
            <a:off x="714375" y="1159515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728" userDrawn="1">
          <p15:clr>
            <a:srgbClr val="FBAE40"/>
          </p15:clr>
        </p15:guide>
        <p15:guide id="4" pos="4302" userDrawn="1">
          <p15:clr>
            <a:srgbClr val="FBAE40"/>
          </p15:clr>
        </p15:guide>
        <p15:guide id="5" pos="1458" userDrawn="1">
          <p15:clr>
            <a:srgbClr val="FBAE40"/>
          </p15:clr>
        </p15:guide>
        <p15:guide id="6" pos="3006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440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pos="4014" userDrawn="1">
          <p15:clr>
            <a:srgbClr val="FBAE40"/>
          </p15:clr>
        </p15:guide>
        <p15:guide id="11" pos="27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谢谢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0" y="5102072"/>
            <a:ext cx="3686175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7" name="副标题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0645" y="3591101"/>
            <a:ext cx="3677533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45" y="2173667"/>
            <a:ext cx="3677533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27" name="直接连接符​​(S)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4571998" y="3233703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图片占位符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127942"/>
            <a:ext cx="3820039" cy="573005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grpSp>
        <p:nvGrpSpPr>
          <p:cNvPr id="12" name="组 8">
            <a:extLst>
              <a:ext uri="{FF2B5EF4-FFF2-40B4-BE49-F238E27FC236}">
                <a16:creationId xmlns:a16="http://schemas.microsoft.com/office/drawing/2014/main" id="{8C5C8DF6-B335-4111-88BE-614570BCE5E9}"/>
              </a:ext>
            </a:extLst>
          </p:cNvPr>
          <p:cNvGrpSpPr>
            <a:grpSpLocks/>
          </p:cNvGrpSpPr>
          <p:nvPr userDrawn="1"/>
        </p:nvGrpSpPr>
        <p:grpSpPr bwMode="auto">
          <a:xfrm rot="5400000" flipV="1">
            <a:off x="6476050" y="41998"/>
            <a:ext cx="2709948" cy="2625953"/>
            <a:chOff x="0" y="12289"/>
            <a:chExt cx="3550" cy="3551"/>
          </a:xfrm>
        </p:grpSpPr>
        <p:sp>
          <p:nvSpPr>
            <p:cNvPr id="13" name="任意多边形(F) 9">
              <a:extLst>
                <a:ext uri="{FF2B5EF4-FFF2-40B4-BE49-F238E27FC236}">
                  <a16:creationId xmlns:a16="http://schemas.microsoft.com/office/drawing/2014/main" id="{6E94A549-FB8A-4EA4-A99A-42CA4CCDF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任意多边形(F) 10">
              <a:extLst>
                <a:ext uri="{FF2B5EF4-FFF2-40B4-BE49-F238E27FC236}">
                  <a16:creationId xmlns:a16="http://schemas.microsoft.com/office/drawing/2014/main" id="{D53D047E-7D30-4EC9-8797-1B9C41C86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任意多边形 11">
              <a:extLst>
                <a:ext uri="{FF2B5EF4-FFF2-40B4-BE49-F238E27FC236}">
                  <a16:creationId xmlns:a16="http://schemas.microsoft.com/office/drawing/2014/main" id="{5929352F-B11A-45AF-BB6D-2C8683B27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8" name="Picture 2">
            <a:extLst>
              <a:ext uri="{FF2B5EF4-FFF2-40B4-BE49-F238E27FC236}">
                <a16:creationId xmlns:a16="http://schemas.microsoft.com/office/drawing/2014/main" id="{41940EA7-E16B-4D7C-884A-95021CD3ED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rgbClr val="4495A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0" y="80112"/>
            <a:ext cx="2266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193E7B-2A23-489C-8E96-FA626AAC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C686-2063-4EA9-BCFB-29E6F94CB208}" type="datetime5">
              <a:rPr lang="zh-CN" altLang="en-US" noProof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2024/11/6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C2B062-0A0D-4278-A950-9594B287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82EB50-0BEC-41CA-AC3F-B5500B2F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964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62" y="1825625"/>
            <a:ext cx="77866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12" name="标题占位符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7" y="365129"/>
            <a:ext cx="78009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0" name="日期占位符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44092" y="6332229"/>
            <a:ext cx="98488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303C686-2063-4EA9-BCFB-29E6F94CB208}" type="datetime5">
              <a:rPr lang="zh-CN" altLang="en-US" noProof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2024/11/6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1" name="页脚占位符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1092" y="6332229"/>
            <a:ext cx="1122998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b="1" dirty="0"/>
          </a:p>
        </p:txBody>
      </p:sp>
      <p:sp>
        <p:nvSpPr>
          <p:cNvPr id="32" name="幻灯片编号占位符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8663" y="6332229"/>
            <a:ext cx="3924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94A09A9-5501-47C1-A89A-A340965A2BE2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4" r:id="rId2"/>
    <p:sldLayoutId id="2147483671" r:id="rId3"/>
    <p:sldLayoutId id="2147483673" r:id="rId4"/>
    <p:sldLayoutId id="2147483684" r:id="rId5"/>
    <p:sldLayoutId id="2147483675" r:id="rId6"/>
    <p:sldLayoutId id="2147483676" r:id="rId7"/>
    <p:sldLayoutId id="2147483677" r:id="rId8"/>
    <p:sldLayoutId id="2147483685" r:id="rId9"/>
    <p:sldLayoutId id="2147483688" r:id="rId10"/>
    <p:sldLayoutId id="2147483692" r:id="rId11"/>
    <p:sldLayoutId id="2147483682" r:id="rId12"/>
    <p:sldLayoutId id="2147483695" r:id="rId13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8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558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450" userDrawn="1">
          <p15:clr>
            <a:srgbClr val="547EBF"/>
          </p15:clr>
        </p15:guide>
        <p15:guide id="8" pos="2790" userDrawn="1">
          <p15:clr>
            <a:srgbClr val="547EBF"/>
          </p15:clr>
        </p15:guide>
        <p15:guide id="9" pos="1584" userDrawn="1">
          <p15:clr>
            <a:srgbClr val="547EBF"/>
          </p15:clr>
        </p15:guide>
        <p15:guide id="10" pos="1386" userDrawn="1">
          <p15:clr>
            <a:srgbClr val="547EBF"/>
          </p15:clr>
        </p15:guide>
        <p15:guide id="11" pos="4176" userDrawn="1">
          <p15:clr>
            <a:srgbClr val="547EBF"/>
          </p15:clr>
        </p15:guide>
        <p15:guide id="12" pos="4374" userDrawn="1">
          <p15:clr>
            <a:srgbClr val="547EBF"/>
          </p15:clr>
        </p15:guide>
        <p15:guide id="13" pos="3726" userDrawn="1">
          <p15:clr>
            <a:srgbClr val="9FCC3B"/>
          </p15:clr>
        </p15:guide>
        <p15:guide id="14" pos="3906" userDrawn="1">
          <p15:clr>
            <a:srgbClr val="9FCC3B"/>
          </p15:clr>
        </p15:guide>
        <p15:guide id="15" pos="2034" userDrawn="1">
          <p15:clr>
            <a:srgbClr val="9FCC3B"/>
          </p15:clr>
        </p15:guide>
        <p15:guide id="16" pos="1854" userDrawn="1">
          <p15:clr>
            <a:srgbClr val="9FCC3B"/>
          </p15:clr>
        </p15:guide>
        <p15:guide id="17" pos="29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4125" y="796954"/>
            <a:ext cx="7035750" cy="1012842"/>
          </a:xfrm>
        </p:spPr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汇编语言与接口技术</a:t>
            </a: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D8FDA9AE-23B3-4993-835D-79FB936C48B4}"/>
              </a:ext>
            </a:extLst>
          </p:cNvPr>
          <p:cNvSpPr txBox="1">
            <a:spLocks/>
          </p:cNvSpPr>
          <p:nvPr/>
        </p:nvSpPr>
        <p:spPr>
          <a:xfrm>
            <a:off x="1126710" y="2061281"/>
            <a:ext cx="6890579" cy="61086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altLang="zh-CN" sz="2800" dirty="0">
                <a:solidFill>
                  <a:srgbClr val="4495A2"/>
                </a:solidFill>
              </a:rPr>
              <a:t>—— </a:t>
            </a:r>
            <a:r>
              <a:rPr lang="zh-CN" altLang="en-US" sz="2800" dirty="0">
                <a:solidFill>
                  <a:srgbClr val="4495A2"/>
                </a:solidFill>
              </a:rPr>
              <a:t>实验二 分支循环结构程序练习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9AD45187-E2D5-47BA-96B1-81458D51D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472353"/>
              </p:ext>
            </p:extLst>
          </p:nvPr>
        </p:nvGraphicFramePr>
        <p:xfrm>
          <a:off x="4248973" y="3629597"/>
          <a:ext cx="466955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9232">
                  <a:extLst>
                    <a:ext uri="{9D8B030D-6E8A-4147-A177-3AD203B41FA5}">
                      <a16:colId xmlns:a16="http://schemas.microsoft.com/office/drawing/2014/main" val="210663870"/>
                    </a:ext>
                  </a:extLst>
                </a:gridCol>
                <a:gridCol w="3460327">
                  <a:extLst>
                    <a:ext uri="{9D8B030D-6E8A-4147-A177-3AD203B41FA5}">
                      <a16:colId xmlns:a16="http://schemas.microsoft.com/office/drawing/2014/main" val="2037245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主讲教师：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舒高峰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55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电子邮箱：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gaofeng.shu@henu.edu.cn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22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联系电话：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13161693313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539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实验目的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A623D5AE-E804-4D2F-B0DB-D3E49C52B5C4}"/>
              </a:ext>
            </a:extLst>
          </p:cNvPr>
          <p:cNvSpPr txBox="1">
            <a:spLocks/>
          </p:cNvSpPr>
          <p:nvPr/>
        </p:nvSpPr>
        <p:spPr>
          <a:xfrm>
            <a:off x="1132569" y="1278012"/>
            <a:ext cx="7735858" cy="2722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通过编制包含分支、循环结构的程序，练习汇编语言综合编程方法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7BA654"/>
                </a:solidFill>
              </a:rPr>
              <a:t>掌握</a:t>
            </a:r>
            <a:r>
              <a:rPr lang="zh-CN" altLang="en-US" b="1" dirty="0"/>
              <a:t>分支</a:t>
            </a:r>
            <a:r>
              <a:rPr lang="zh-CN" altLang="en-US" dirty="0"/>
              <a:t>程序、</a:t>
            </a:r>
            <a:r>
              <a:rPr lang="zh-CN" altLang="en-US" b="1" dirty="0"/>
              <a:t>循环</a:t>
            </a:r>
            <a:r>
              <a:rPr lang="zh-CN" altLang="en-US" dirty="0"/>
              <a:t>程序的编写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7BA654"/>
                </a:solidFill>
              </a:rPr>
              <a:t>熟练掌握</a:t>
            </a:r>
            <a:r>
              <a:rPr lang="zh-CN" altLang="en-US" b="1" dirty="0"/>
              <a:t>字符串输入输出</a:t>
            </a:r>
            <a:r>
              <a:rPr lang="zh-CN" altLang="en-US" dirty="0"/>
              <a:t>、</a:t>
            </a:r>
            <a:r>
              <a:rPr lang="zh-CN" altLang="en-US" b="1" dirty="0"/>
              <a:t>字符输入输出</a:t>
            </a:r>
            <a:r>
              <a:rPr lang="zh-CN" altLang="en-US" dirty="0"/>
              <a:t>等方法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7BA654"/>
                </a:solidFill>
              </a:rPr>
              <a:t>掌握</a:t>
            </a:r>
            <a:r>
              <a:rPr lang="zh-CN" altLang="en-US" dirty="0"/>
              <a:t>在 </a:t>
            </a:r>
            <a:r>
              <a:rPr lang="en-US" altLang="zh-CN" dirty="0"/>
              <a:t>Debug </a:t>
            </a:r>
            <a:r>
              <a:rPr lang="zh-CN" altLang="en-US" dirty="0"/>
              <a:t>状态下</a:t>
            </a:r>
            <a:r>
              <a:rPr lang="zh-CN" altLang="en-US" b="1" dirty="0"/>
              <a:t>调试程序</a:t>
            </a:r>
            <a:r>
              <a:rPr lang="zh-CN" altLang="en-US" dirty="0"/>
              <a:t>的方法</a:t>
            </a:r>
          </a:p>
        </p:txBody>
      </p:sp>
    </p:spTree>
    <p:extLst>
      <p:ext uri="{BB962C8B-B14F-4D97-AF65-F5344CB8AC3E}">
        <p14:creationId xmlns:p14="http://schemas.microsoft.com/office/powerpoint/2010/main" val="137069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实验内容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132569" y="1195366"/>
            <a:ext cx="7516130" cy="44942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练习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1: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试编写程序，完成以下功能。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程序执行时，显示提示信息“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Please input a string(length&lt;9): ”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，由用户输入一个长度小于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9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的字符串；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然后显示提示信息“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Please input the index of the char to display: ”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，请用户指定该串中的某个字符的位置号，程序控制用户输入的位置号必须是合法的，例如实际输入字符串长度为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5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个字符，位置号只能是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0-4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之间的数值；若位置号不合法，则程序退出。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程序将用户指定位置的字符显示出来。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598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输出样例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直接连接符​​(S) 32">
            <a:extLst>
              <a:ext uri="{FF2B5EF4-FFF2-40B4-BE49-F238E27FC236}">
                <a16:creationId xmlns:a16="http://schemas.microsoft.com/office/drawing/2014/main" id="{44FA863A-BCC7-480F-9582-D068990344C3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占位符 3">
            <a:extLst>
              <a:ext uri="{FF2B5EF4-FFF2-40B4-BE49-F238E27FC236}">
                <a16:creationId xmlns:a16="http://schemas.microsoft.com/office/drawing/2014/main" id="{AAEAF377-295A-4D37-975B-EF01F2B826C3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程序输出样例</a:t>
            </a:r>
            <a:r>
              <a:rPr lang="en-US" altLang="zh-CN" b="1" dirty="0"/>
              <a:t>1</a:t>
            </a:r>
            <a:r>
              <a:rPr lang="zh-CN" altLang="en-US" b="1" dirty="0"/>
              <a:t>：</a:t>
            </a:r>
          </a:p>
        </p:txBody>
      </p:sp>
      <p:cxnSp>
        <p:nvCxnSpPr>
          <p:cNvPr id="9" name="直接连接符​​(S) 32">
            <a:extLst>
              <a:ext uri="{FF2B5EF4-FFF2-40B4-BE49-F238E27FC236}">
                <a16:creationId xmlns:a16="http://schemas.microsoft.com/office/drawing/2014/main" id="{352DF347-13C6-4182-9E11-C14E4730B253}"/>
              </a:ext>
            </a:extLst>
          </p:cNvPr>
          <p:cNvCxnSpPr>
            <a:cxnSpLocks/>
          </p:cNvCxnSpPr>
          <p:nvPr/>
        </p:nvCxnSpPr>
        <p:spPr>
          <a:xfrm>
            <a:off x="691536" y="4302640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6783FEE8-9EA8-4886-848C-4780965E764E}"/>
              </a:ext>
            </a:extLst>
          </p:cNvPr>
          <p:cNvSpPr txBox="1">
            <a:spLocks/>
          </p:cNvSpPr>
          <p:nvPr/>
        </p:nvSpPr>
        <p:spPr>
          <a:xfrm>
            <a:off x="692035" y="3777469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程序输出样例</a:t>
            </a:r>
            <a:r>
              <a:rPr lang="en-US" altLang="zh-CN" b="1" dirty="0"/>
              <a:t>2</a:t>
            </a:r>
            <a:r>
              <a:rPr lang="zh-CN" altLang="en-US" b="1" dirty="0"/>
              <a:t>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91EA9AB-9436-2C63-3594-29263C3B1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569" y="1858584"/>
            <a:ext cx="6495238" cy="102857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33A55FE-D60D-8331-F91A-538CDDDA0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569" y="4518996"/>
            <a:ext cx="6495238" cy="1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9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流程图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A1C410B-3FEC-47E2-9E17-65078398DCCE}"/>
              </a:ext>
            </a:extLst>
          </p:cNvPr>
          <p:cNvGrpSpPr/>
          <p:nvPr/>
        </p:nvGrpSpPr>
        <p:grpSpPr>
          <a:xfrm>
            <a:off x="1847452" y="1087952"/>
            <a:ext cx="4308872" cy="5323427"/>
            <a:chOff x="1847452" y="1087952"/>
            <a:chExt cx="4308872" cy="5323427"/>
          </a:xfrm>
        </p:grpSpPr>
        <p:sp>
          <p:nvSpPr>
            <p:cNvPr id="15" name="AutoShape 4">
              <a:extLst>
                <a:ext uri="{FF2B5EF4-FFF2-40B4-BE49-F238E27FC236}">
                  <a16:creationId xmlns:a16="http://schemas.microsoft.com/office/drawing/2014/main" id="{42016EA2-F2E5-4EAE-B6A2-98E909D11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68" y="1087952"/>
              <a:ext cx="1008063" cy="442674"/>
            </a:xfrm>
            <a:prstGeom prst="flowChartAlternateProcess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  始</a:t>
              </a:r>
            </a:p>
          </p:txBody>
        </p:sp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D554C0AE-BDE3-45C5-AD52-23F9C7435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168" y="1929421"/>
              <a:ext cx="1871663" cy="400110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输入字符串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B57F1F7C-8E2E-44B9-A34A-0712C1F07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224" y="5169802"/>
              <a:ext cx="1987550" cy="400110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显示相应的字符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18" name="AutoShape 7">
              <a:extLst>
                <a:ext uri="{FF2B5EF4-FFF2-40B4-BE49-F238E27FC236}">
                  <a16:creationId xmlns:a16="http://schemas.microsoft.com/office/drawing/2014/main" id="{0EFDC122-F5CA-4C7A-8409-D9FA514AE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7674" y="3835007"/>
              <a:ext cx="3168650" cy="936000"/>
            </a:xfrm>
            <a:prstGeom prst="flowChartDecision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序号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字符串长度？</a:t>
              </a:r>
            </a:p>
          </p:txBody>
        </p:sp>
        <p:sp>
          <p:nvSpPr>
            <p:cNvPr id="19" name="AutoShape 8">
              <a:extLst>
                <a:ext uri="{FF2B5EF4-FFF2-40B4-BE49-F238E27FC236}">
                  <a16:creationId xmlns:a16="http://schemas.microsoft.com/office/drawing/2014/main" id="{42A06E47-3F55-484F-A46A-1C78FD119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318" y="5968705"/>
              <a:ext cx="995363" cy="442674"/>
            </a:xfrm>
            <a:prstGeom prst="flowChartAlternateProcess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  束</a:t>
              </a:r>
            </a:p>
          </p:txBody>
        </p:sp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1E93F80A-7CC8-4174-9433-EF06B02A5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296" y="3896114"/>
              <a:ext cx="3513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993300"/>
                </a:buClr>
                <a:buFont typeface="Wingdings" panose="05000000000000000000" pitchFamily="2" charset="2"/>
                <a:buChar char="ü"/>
                <a:defRPr sz="2400" b="1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333300"/>
                </a:buClr>
                <a:buSzPct val="80000"/>
                <a:buFont typeface="Wingdings" panose="05000000000000000000" pitchFamily="2" charset="2"/>
                <a:buChar char="n"/>
                <a:defRPr sz="2200" b="1">
                  <a:solidFill>
                    <a:srgbClr val="6600CC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4DAF8959-AE2C-49CE-A4A6-25DFB0F66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318" y="4721286"/>
              <a:ext cx="4026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993300"/>
                </a:buClr>
                <a:buFont typeface="Wingdings" panose="05000000000000000000" pitchFamily="2" charset="2"/>
                <a:buChar char="ü"/>
                <a:defRPr sz="2400" b="1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333300"/>
                </a:buClr>
                <a:buSzPct val="80000"/>
                <a:buFont typeface="Wingdings" panose="05000000000000000000" pitchFamily="2" charset="2"/>
                <a:buChar char="n"/>
                <a:defRPr sz="2200" b="1">
                  <a:solidFill>
                    <a:srgbClr val="6600CC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</a:p>
          </p:txBody>
        </p:sp>
        <p:sp>
          <p:nvSpPr>
            <p:cNvPr id="29" name="Rectangle 5">
              <a:extLst>
                <a:ext uri="{FF2B5EF4-FFF2-40B4-BE49-F238E27FC236}">
                  <a16:creationId xmlns:a16="http://schemas.microsoft.com/office/drawing/2014/main" id="{AC401B33-D505-4718-9C34-C934D61AD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168" y="2728326"/>
              <a:ext cx="1871663" cy="707886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输入要显示字符的序号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AF3C7314-7144-4BE6-B025-CC023317D4CB}"/>
                </a:ext>
              </a:extLst>
            </p:cNvPr>
            <p:cNvCxnSpPr>
              <a:stCxn id="15" idx="2"/>
              <a:endCxn id="16" idx="0"/>
            </p:cNvCxnSpPr>
            <p:nvPr/>
          </p:nvCxnSpPr>
          <p:spPr bwMode="auto">
            <a:xfrm>
              <a:off x="4572000" y="1530626"/>
              <a:ext cx="0" cy="398795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2C6A45D0-3FBA-4B9A-8105-593A9BF69AF3}"/>
                </a:ext>
              </a:extLst>
            </p:cNvPr>
            <p:cNvCxnSpPr>
              <a:stCxn id="16" idx="2"/>
              <a:endCxn id="29" idx="0"/>
            </p:cNvCxnSpPr>
            <p:nvPr/>
          </p:nvCxnSpPr>
          <p:spPr bwMode="auto">
            <a:xfrm>
              <a:off x="4572000" y="2329531"/>
              <a:ext cx="0" cy="398795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FAC7AB4-563B-4808-B39D-94D444CDC355}"/>
                </a:ext>
              </a:extLst>
            </p:cNvPr>
            <p:cNvCxnSpPr>
              <a:stCxn id="29" idx="2"/>
              <a:endCxn id="18" idx="0"/>
            </p:cNvCxnSpPr>
            <p:nvPr/>
          </p:nvCxnSpPr>
          <p:spPr bwMode="auto">
            <a:xfrm flipH="1">
              <a:off x="4571999" y="3436212"/>
              <a:ext cx="1" cy="398795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1D403253-0807-4B8E-8663-FE178802B20B}"/>
                </a:ext>
              </a:extLst>
            </p:cNvPr>
            <p:cNvCxnSpPr>
              <a:stCxn id="18" idx="2"/>
              <a:endCxn id="17" idx="0"/>
            </p:cNvCxnSpPr>
            <p:nvPr/>
          </p:nvCxnSpPr>
          <p:spPr bwMode="auto">
            <a:xfrm>
              <a:off x="4571999" y="4771007"/>
              <a:ext cx="0" cy="398795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63DB90BB-CDB9-40B3-939D-B6F653D877A4}"/>
                </a:ext>
              </a:extLst>
            </p:cNvPr>
            <p:cNvCxnSpPr>
              <a:cxnSpLocks/>
              <a:stCxn id="17" idx="2"/>
              <a:endCxn id="19" idx="0"/>
            </p:cNvCxnSpPr>
            <p:nvPr/>
          </p:nvCxnSpPr>
          <p:spPr bwMode="auto">
            <a:xfrm>
              <a:off x="4571999" y="5569912"/>
              <a:ext cx="1" cy="398793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234FF952-0DA4-4303-A17B-E5407EFDBECC}"/>
                </a:ext>
              </a:extLst>
            </p:cNvPr>
            <p:cNvCxnSpPr>
              <a:cxnSpLocks/>
              <a:stCxn id="18" idx="1"/>
              <a:endCxn id="2" idx="0"/>
            </p:cNvCxnSpPr>
            <p:nvPr/>
          </p:nvCxnSpPr>
          <p:spPr bwMode="auto">
            <a:xfrm rot="10800000" flipV="1">
              <a:off x="1847452" y="4303006"/>
              <a:ext cx="1140222" cy="866795"/>
            </a:xfrm>
            <a:prstGeom prst="bentConnector2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sp>
        <p:nvSpPr>
          <p:cNvPr id="44" name="圆角矩形标注 3">
            <a:extLst>
              <a:ext uri="{FF2B5EF4-FFF2-40B4-BE49-F238E27FC236}">
                <a16:creationId xmlns:a16="http://schemas.microsoft.com/office/drawing/2014/main" id="{2155CFCB-C365-4515-8524-8DDD819098EA}"/>
              </a:ext>
            </a:extLst>
          </p:cNvPr>
          <p:cNvSpPr/>
          <p:nvPr/>
        </p:nvSpPr>
        <p:spPr>
          <a:xfrm>
            <a:off x="6771647" y="1177403"/>
            <a:ext cx="1871651" cy="1152128"/>
          </a:xfrm>
          <a:prstGeom prst="wedgeRoundRectCallout">
            <a:avLst>
              <a:gd name="adj1" fmla="val -128739"/>
              <a:gd name="adj2" fmla="val -3913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数据段需定义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个字符串和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个字符串缓冲区</a:t>
            </a:r>
          </a:p>
        </p:txBody>
      </p:sp>
      <p:sp>
        <p:nvSpPr>
          <p:cNvPr id="45" name="圆角矩形标注 6">
            <a:extLst>
              <a:ext uri="{FF2B5EF4-FFF2-40B4-BE49-F238E27FC236}">
                <a16:creationId xmlns:a16="http://schemas.microsoft.com/office/drawing/2014/main" id="{A39F961E-0D2F-42F5-80F0-36317AF40EE5}"/>
              </a:ext>
            </a:extLst>
          </p:cNvPr>
          <p:cNvSpPr/>
          <p:nvPr/>
        </p:nvSpPr>
        <p:spPr>
          <a:xfrm>
            <a:off x="251501" y="2021474"/>
            <a:ext cx="1977255" cy="1152128"/>
          </a:xfrm>
          <a:prstGeom prst="wedgeRoundRectCallout">
            <a:avLst>
              <a:gd name="adj1" fmla="val 117103"/>
              <a:gd name="adj2" fmla="val -3750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输入字符串或者单字符之前需要输出</a:t>
            </a:r>
            <a:r>
              <a:rPr lang="zh-CN" altLang="en-US" b="1" dirty="0">
                <a:solidFill>
                  <a:srgbClr val="7BA65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提示语句</a:t>
            </a:r>
          </a:p>
        </p:txBody>
      </p:sp>
      <p:sp>
        <p:nvSpPr>
          <p:cNvPr id="46" name="圆角矩形标注 7">
            <a:extLst>
              <a:ext uri="{FF2B5EF4-FFF2-40B4-BE49-F238E27FC236}">
                <a16:creationId xmlns:a16="http://schemas.microsoft.com/office/drawing/2014/main" id="{741F2640-F222-46EE-B492-8AA8127044DB}"/>
              </a:ext>
            </a:extLst>
          </p:cNvPr>
          <p:cNvSpPr/>
          <p:nvPr/>
        </p:nvSpPr>
        <p:spPr>
          <a:xfrm>
            <a:off x="6771647" y="2945987"/>
            <a:ext cx="1871655" cy="1152128"/>
          </a:xfrm>
          <a:prstGeom prst="wedgeRoundRectCallout">
            <a:avLst>
              <a:gd name="adj1" fmla="val -109927"/>
              <a:gd name="adj2" fmla="val -3432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输入为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ASCII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码，寻址时需要转换为数字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6D629AFE-F3E0-7D8D-0394-93D3302C0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1" y="5169802"/>
            <a:ext cx="2297902" cy="400110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rPr>
              <a:t>显示输入非法信息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819366CA-BBC7-CFCD-EC17-EF13010C734F}"/>
              </a:ext>
            </a:extLst>
          </p:cNvPr>
          <p:cNvCxnSpPr>
            <a:stCxn id="2" idx="2"/>
            <a:endCxn id="19" idx="0"/>
          </p:cNvCxnSpPr>
          <p:nvPr/>
        </p:nvCxnSpPr>
        <p:spPr bwMode="auto">
          <a:xfrm rot="16200000" flipH="1">
            <a:off x="3010330" y="4407034"/>
            <a:ext cx="398793" cy="2724548"/>
          </a:xfrm>
          <a:prstGeom prst="bentConnector3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E5C79BA-762C-D6BC-874B-571D2E3950C4}"/>
              </a:ext>
            </a:extLst>
          </p:cNvPr>
          <p:cNvSpPr txBox="1"/>
          <p:nvPr/>
        </p:nvSpPr>
        <p:spPr>
          <a:xfrm>
            <a:off x="5507831" y="2297245"/>
            <a:ext cx="391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STRING </a:t>
            </a:r>
            <a:r>
              <a:rPr lang="en-US" altLang="zh-CN" sz="18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DB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zh-CN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?,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8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DUP</a:t>
            </a:r>
            <a:r>
              <a:rPr lang="en-US" altLang="zh-CN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(?)</a:t>
            </a:r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3700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伪代码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251500" y="1143332"/>
            <a:ext cx="8587700" cy="5219368"/>
          </a:xfrm>
          <a:prstGeom prst="rect">
            <a:avLst/>
          </a:prstGeom>
        </p:spPr>
        <p:txBody>
          <a:bodyPr vert="horz" lIns="0" tIns="0" rIns="0" bIns="0" numCol="2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数据段定义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代码段：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START:</a:t>
            </a:r>
            <a:r>
              <a:rPr lang="zh-CN" altLang="en-US" sz="2000" dirty="0">
                <a:latin typeface="Consolas" panose="020B0609020204030204" pitchFamily="49" charset="0"/>
              </a:rPr>
              <a:t>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……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显示提示信息：请输入字符串 </a:t>
            </a:r>
            <a:r>
              <a:rPr lang="en-US" altLang="zh-CN" sz="2000" dirty="0">
                <a:latin typeface="Consolas" panose="020B0609020204030204" pitchFamily="49" charset="0"/>
              </a:rPr>
              <a:t>(09 </a:t>
            </a:r>
            <a:r>
              <a:rPr lang="zh-CN" altLang="en-US" sz="2000" dirty="0">
                <a:latin typeface="Consolas" panose="020B0609020204030204" pitchFamily="49" charset="0"/>
              </a:rPr>
              <a:t>功能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输入字符串 </a:t>
            </a:r>
            <a:r>
              <a:rPr lang="en-US" altLang="zh-CN" sz="2000" dirty="0">
                <a:latin typeface="Consolas" panose="020B0609020204030204" pitchFamily="49" charset="0"/>
              </a:rPr>
              <a:t>(10 </a:t>
            </a:r>
            <a:r>
              <a:rPr lang="zh-CN" altLang="en-US" sz="2000" dirty="0">
                <a:latin typeface="Consolas" panose="020B0609020204030204" pitchFamily="49" charset="0"/>
              </a:rPr>
              <a:t>功能或 </a:t>
            </a:r>
            <a:r>
              <a:rPr lang="en-US" altLang="zh-CN" sz="2000" b="1" dirty="0">
                <a:solidFill>
                  <a:srgbClr val="7BA654"/>
                </a:solidFill>
                <a:latin typeface="Consolas" panose="020B0609020204030204" pitchFamily="49" charset="0"/>
              </a:rPr>
              <a:t>01 </a:t>
            </a:r>
            <a:r>
              <a:rPr lang="zh-CN" altLang="en-US" sz="2000" b="1" dirty="0">
                <a:solidFill>
                  <a:srgbClr val="7BA654"/>
                </a:solidFill>
                <a:latin typeface="Consolas" panose="020B0609020204030204" pitchFamily="49" charset="0"/>
              </a:rPr>
              <a:t>功能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显示提示信息：显示的字符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输入单个字符 </a:t>
            </a:r>
            <a:r>
              <a:rPr lang="en-US" altLang="zh-CN" sz="2000" dirty="0">
                <a:latin typeface="Consolas" panose="020B0609020204030204" pitchFamily="49" charset="0"/>
              </a:rPr>
              <a:t>(01 </a:t>
            </a:r>
            <a:r>
              <a:rPr lang="zh-CN" altLang="en-US" sz="2000" dirty="0">
                <a:latin typeface="Consolas" panose="020B0609020204030204" pitchFamily="49" charset="0"/>
              </a:rPr>
              <a:t>功能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SUB AL,</a:t>
            </a:r>
            <a:r>
              <a:rPr lang="zh-CN" altLang="en-US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</a:rPr>
              <a:t>30H</a:t>
            </a: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CMP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判断是否大于字符串长度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JC ERROR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计算对应字符的地址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MOV DL, [BX]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显示单个字符 </a:t>
            </a:r>
            <a:r>
              <a:rPr lang="en-US" altLang="zh-CN" sz="2000" dirty="0">
                <a:latin typeface="Consolas" panose="020B0609020204030204" pitchFamily="49" charset="0"/>
              </a:rPr>
              <a:t>(02 </a:t>
            </a:r>
            <a:r>
              <a:rPr lang="zh-CN" altLang="en-US" sz="2000" dirty="0">
                <a:latin typeface="Consolas" panose="020B0609020204030204" pitchFamily="49" charset="0"/>
              </a:rPr>
              <a:t>功能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……</a:t>
            </a:r>
          </a:p>
          <a:p>
            <a:pPr lvl="1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ERROR: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显示错误信息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1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EXIT</a:t>
            </a:r>
            <a:r>
              <a:rPr lang="zh-CN" altLang="en-US" sz="2000" dirty="0">
                <a:latin typeface="Consolas" panose="020B0609020204030204" pitchFamily="49" charset="0"/>
              </a:rPr>
              <a:t>：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程序结束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587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实验内容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132569" y="1195366"/>
            <a:ext cx="7516130" cy="49514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练习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2: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试使用分支结构和循环结构程序完善上面的程序功能。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采用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 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号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DOS 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功能调用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，接收用户输入的字符串，并在程序中对字符串进行长度检查，若长度大于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，则要求用户重新输入；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用户在指定位置号时，进行判断，若输入非法（位置号大于实际字符串长度），则提示用户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重新输入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；若输入位置号合法，则显示字符串中该位置号对应的字符。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统计用户输入的字符串中特定字符的数目并显示。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62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输出样例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直接连接符​​(S) 32">
            <a:extLst>
              <a:ext uri="{FF2B5EF4-FFF2-40B4-BE49-F238E27FC236}">
                <a16:creationId xmlns:a16="http://schemas.microsoft.com/office/drawing/2014/main" id="{44FA863A-BCC7-480F-9582-D068990344C3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占位符 3">
            <a:extLst>
              <a:ext uri="{FF2B5EF4-FFF2-40B4-BE49-F238E27FC236}">
                <a16:creationId xmlns:a16="http://schemas.microsoft.com/office/drawing/2014/main" id="{AAEAF377-295A-4D37-975B-EF01F2B826C3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程序输出样例</a:t>
            </a:r>
            <a:r>
              <a:rPr lang="en-US" altLang="zh-CN" b="1" dirty="0"/>
              <a:t>1</a:t>
            </a:r>
            <a:r>
              <a:rPr lang="zh-CN" altLang="en-US" b="1" dirty="0"/>
              <a:t>：</a:t>
            </a:r>
          </a:p>
        </p:txBody>
      </p:sp>
      <p:cxnSp>
        <p:nvCxnSpPr>
          <p:cNvPr id="9" name="直接连接符​​(S) 32">
            <a:extLst>
              <a:ext uri="{FF2B5EF4-FFF2-40B4-BE49-F238E27FC236}">
                <a16:creationId xmlns:a16="http://schemas.microsoft.com/office/drawing/2014/main" id="{352DF347-13C6-4182-9E11-C14E4730B253}"/>
              </a:ext>
            </a:extLst>
          </p:cNvPr>
          <p:cNvCxnSpPr>
            <a:cxnSpLocks/>
          </p:cNvCxnSpPr>
          <p:nvPr/>
        </p:nvCxnSpPr>
        <p:spPr>
          <a:xfrm>
            <a:off x="691536" y="3980621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6783FEE8-9EA8-4886-848C-4780965E764E}"/>
              </a:ext>
            </a:extLst>
          </p:cNvPr>
          <p:cNvSpPr txBox="1">
            <a:spLocks/>
          </p:cNvSpPr>
          <p:nvPr/>
        </p:nvSpPr>
        <p:spPr>
          <a:xfrm>
            <a:off x="692035" y="3455450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程序输出样例</a:t>
            </a:r>
            <a:r>
              <a:rPr lang="en-US" altLang="zh-CN" b="1" dirty="0"/>
              <a:t>2</a:t>
            </a:r>
            <a:r>
              <a:rPr lang="zh-CN" altLang="en-US" b="1" dirty="0"/>
              <a:t>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34DC21-6F60-35D6-919F-17932CE06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569" y="1777691"/>
            <a:ext cx="6495238" cy="15619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6B81D68-FABA-8D69-A4DB-4BA4AE25D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569" y="4152913"/>
            <a:ext cx="6495238" cy="2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70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流程图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42016EA2-F2E5-4EAE-B6A2-98E909D11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68" y="192508"/>
            <a:ext cx="1008063" cy="442674"/>
          </a:xfrm>
          <a:prstGeom prst="flowChartAlternateProcess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  始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D554C0AE-BDE3-45C5-AD52-23F9C7435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168" y="903127"/>
            <a:ext cx="1871663" cy="400110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输入字符串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B57F1F7C-8E2E-44B9-A34A-0712C1F07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224" y="4713347"/>
            <a:ext cx="1987550" cy="400110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rPr>
              <a:t>显示相应的字符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0EFDC122-F5CA-4C7A-8409-D9FA514AE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4" y="3706022"/>
            <a:ext cx="3168650" cy="785929"/>
          </a:xfrm>
          <a:prstGeom prst="flowChartDecision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字符串长度？</a:t>
            </a:r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42A06E47-3F55-484F-A46A-1C78FD119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4318" y="6526130"/>
            <a:ext cx="995363" cy="278723"/>
          </a:xfrm>
          <a:prstGeom prst="flowChartAlternateProcess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  束</a:t>
            </a: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1E93F80A-7CC8-4174-9433-EF06B02A5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296" y="4176679"/>
            <a:ext cx="3513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4DAF8959-AE2C-49CE-A4A6-25DFB0F66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4318" y="4377712"/>
            <a:ext cx="402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AC401B33-D505-4718-9C34-C934D61A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168" y="2728326"/>
            <a:ext cx="1871663" cy="707886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输入要显示字符的序号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F3C7314-7144-4BE6-B025-CC023317D4CB}"/>
              </a:ext>
            </a:extLst>
          </p:cNvPr>
          <p:cNvCxnSpPr>
            <a:stCxn id="15" idx="2"/>
            <a:endCxn id="16" idx="0"/>
          </p:cNvCxnSpPr>
          <p:nvPr/>
        </p:nvCxnSpPr>
        <p:spPr bwMode="auto">
          <a:xfrm>
            <a:off x="4572000" y="635182"/>
            <a:ext cx="0" cy="267945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C6A45D0-3FBA-4B9A-8105-593A9BF69AF3}"/>
              </a:ext>
            </a:extLst>
          </p:cNvPr>
          <p:cNvCxnSpPr>
            <a:cxnSpLocks/>
            <a:stCxn id="16" idx="2"/>
            <a:endCxn id="4" idx="0"/>
          </p:cNvCxnSpPr>
          <p:nvPr/>
        </p:nvCxnSpPr>
        <p:spPr bwMode="auto">
          <a:xfrm flipH="1">
            <a:off x="4571999" y="1303237"/>
            <a:ext cx="1" cy="205120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FAC7AB4-563B-4808-B39D-94D444CDC355}"/>
              </a:ext>
            </a:extLst>
          </p:cNvPr>
          <p:cNvCxnSpPr>
            <a:stCxn id="29" idx="2"/>
            <a:endCxn id="18" idx="0"/>
          </p:cNvCxnSpPr>
          <p:nvPr/>
        </p:nvCxnSpPr>
        <p:spPr bwMode="auto">
          <a:xfrm flipH="1">
            <a:off x="4571999" y="3436212"/>
            <a:ext cx="1" cy="269810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D403253-0807-4B8E-8663-FE178802B20B}"/>
              </a:ext>
            </a:extLst>
          </p:cNvPr>
          <p:cNvCxnSpPr>
            <a:stCxn id="18" idx="2"/>
            <a:endCxn id="17" idx="0"/>
          </p:cNvCxnSpPr>
          <p:nvPr/>
        </p:nvCxnSpPr>
        <p:spPr bwMode="auto">
          <a:xfrm>
            <a:off x="4571999" y="4491951"/>
            <a:ext cx="0" cy="221396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3DB90BB-CDB9-40B3-939D-B6F653D877A4}"/>
              </a:ext>
            </a:extLst>
          </p:cNvPr>
          <p:cNvCxnSpPr>
            <a:cxnSpLocks/>
            <a:stCxn id="17" idx="2"/>
            <a:endCxn id="62" idx="0"/>
          </p:cNvCxnSpPr>
          <p:nvPr/>
        </p:nvCxnSpPr>
        <p:spPr bwMode="auto">
          <a:xfrm>
            <a:off x="4571999" y="5113457"/>
            <a:ext cx="0" cy="193561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234FF952-0DA4-4303-A17B-E5407EFDBECC}"/>
              </a:ext>
            </a:extLst>
          </p:cNvPr>
          <p:cNvCxnSpPr>
            <a:cxnSpLocks/>
            <a:stCxn id="18" idx="1"/>
            <a:endCxn id="2" idx="2"/>
          </p:cNvCxnSpPr>
          <p:nvPr/>
        </p:nvCxnSpPr>
        <p:spPr bwMode="auto">
          <a:xfrm rot="10800000">
            <a:off x="2272174" y="3722107"/>
            <a:ext cx="715500" cy="376881"/>
          </a:xfrm>
          <a:prstGeom prst="bentConnector2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44" name="圆角矩形标注 3">
            <a:extLst>
              <a:ext uri="{FF2B5EF4-FFF2-40B4-BE49-F238E27FC236}">
                <a16:creationId xmlns:a16="http://schemas.microsoft.com/office/drawing/2014/main" id="{2155CFCB-C365-4515-8524-8DDD819098EA}"/>
              </a:ext>
            </a:extLst>
          </p:cNvPr>
          <p:cNvSpPr/>
          <p:nvPr/>
        </p:nvSpPr>
        <p:spPr>
          <a:xfrm>
            <a:off x="6771647" y="52791"/>
            <a:ext cx="2255443" cy="828639"/>
          </a:xfrm>
          <a:prstGeom prst="wedgeRoundRectCallout">
            <a:avLst>
              <a:gd name="adj1" fmla="val -122892"/>
              <a:gd name="adj2" fmla="val -517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数据段需定义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个字符串和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个字符串缓冲区</a:t>
            </a:r>
          </a:p>
        </p:txBody>
      </p:sp>
      <p:sp>
        <p:nvSpPr>
          <p:cNvPr id="45" name="圆角矩形标注 6">
            <a:extLst>
              <a:ext uri="{FF2B5EF4-FFF2-40B4-BE49-F238E27FC236}">
                <a16:creationId xmlns:a16="http://schemas.microsoft.com/office/drawing/2014/main" id="{A39F961E-0D2F-42F5-80F0-36317AF40EE5}"/>
              </a:ext>
            </a:extLst>
          </p:cNvPr>
          <p:cNvSpPr/>
          <p:nvPr/>
        </p:nvSpPr>
        <p:spPr>
          <a:xfrm>
            <a:off x="251501" y="1021147"/>
            <a:ext cx="1977255" cy="866795"/>
          </a:xfrm>
          <a:prstGeom prst="wedgeRoundRectCallout">
            <a:avLst>
              <a:gd name="adj1" fmla="val 117103"/>
              <a:gd name="adj2" fmla="val -3750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连续输入单字符之前需要输出</a:t>
            </a:r>
            <a:r>
              <a:rPr lang="zh-CN" altLang="en-US" b="1" dirty="0">
                <a:solidFill>
                  <a:srgbClr val="7BA65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提示语句</a:t>
            </a:r>
          </a:p>
        </p:txBody>
      </p:sp>
      <p:sp>
        <p:nvSpPr>
          <p:cNvPr id="46" name="圆角矩形标注 7">
            <a:extLst>
              <a:ext uri="{FF2B5EF4-FFF2-40B4-BE49-F238E27FC236}">
                <a16:creationId xmlns:a16="http://schemas.microsoft.com/office/drawing/2014/main" id="{741F2640-F222-46EE-B492-8AA8127044DB}"/>
              </a:ext>
            </a:extLst>
          </p:cNvPr>
          <p:cNvSpPr/>
          <p:nvPr/>
        </p:nvSpPr>
        <p:spPr>
          <a:xfrm>
            <a:off x="6666350" y="2717505"/>
            <a:ext cx="1871655" cy="1152128"/>
          </a:xfrm>
          <a:prstGeom prst="wedgeRoundRectCallout">
            <a:avLst>
              <a:gd name="adj1" fmla="val -109927"/>
              <a:gd name="adj2" fmla="val -3432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输入为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ASCII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码，寻址时需要转换为数字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6D629AFE-F3E0-7D8D-0394-93D3302C0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223" y="3321996"/>
            <a:ext cx="2297902" cy="400110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rPr>
              <a:t>显示输入非法信息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B82D1CE9-A111-713A-72F4-264717B2B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564" y="1508357"/>
            <a:ext cx="2206870" cy="888943"/>
          </a:xfrm>
          <a:prstGeom prst="flowChartDecision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字符串长度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&gt;9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996AB99-3621-D923-DB7E-BE811036B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5344" y="1308302"/>
            <a:ext cx="1962012" cy="400110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rPr>
              <a:t>显示字符串太长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9E8D606D-CA5F-BC15-BF93-135B7DB00B23}"/>
              </a:ext>
            </a:extLst>
          </p:cNvPr>
          <p:cNvCxnSpPr>
            <a:stCxn id="4" idx="3"/>
            <a:endCxn id="21" idx="2"/>
          </p:cNvCxnSpPr>
          <p:nvPr/>
        </p:nvCxnSpPr>
        <p:spPr bwMode="auto">
          <a:xfrm flipV="1">
            <a:off x="5675434" y="1708412"/>
            <a:ext cx="990916" cy="244417"/>
          </a:xfrm>
          <a:prstGeom prst="bentConnector2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B61AF715-A608-0A83-9DBC-623C6B1A9AB2}"/>
              </a:ext>
            </a:extLst>
          </p:cNvPr>
          <p:cNvCxnSpPr>
            <a:stCxn id="21" idx="0"/>
            <a:endCxn id="16" idx="0"/>
          </p:cNvCxnSpPr>
          <p:nvPr/>
        </p:nvCxnSpPr>
        <p:spPr bwMode="auto">
          <a:xfrm rot="16200000" flipV="1">
            <a:off x="5416588" y="58540"/>
            <a:ext cx="405175" cy="2094350"/>
          </a:xfrm>
          <a:prstGeom prst="bentConnector3">
            <a:avLst>
              <a:gd name="adj1" fmla="val 141230"/>
            </a:avLst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0D19278-971F-FBEE-1A35-537014E2DCF0}"/>
              </a:ext>
            </a:extLst>
          </p:cNvPr>
          <p:cNvCxnSpPr>
            <a:stCxn id="4" idx="2"/>
            <a:endCxn id="29" idx="0"/>
          </p:cNvCxnSpPr>
          <p:nvPr/>
        </p:nvCxnSpPr>
        <p:spPr bwMode="auto">
          <a:xfrm>
            <a:off x="4571999" y="2397300"/>
            <a:ext cx="1" cy="331026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51" name="Rectangle 14">
            <a:extLst>
              <a:ext uri="{FF2B5EF4-FFF2-40B4-BE49-F238E27FC236}">
                <a16:creationId xmlns:a16="http://schemas.microsoft.com/office/drawing/2014/main" id="{70C14505-7329-36E4-28F8-CAE5184D6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197" y="1952171"/>
            <a:ext cx="3513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52" name="Rectangle 15">
            <a:extLst>
              <a:ext uri="{FF2B5EF4-FFF2-40B4-BE49-F238E27FC236}">
                <a16:creationId xmlns:a16="http://schemas.microsoft.com/office/drawing/2014/main" id="{4A55C666-87EE-2903-FFF9-2D459E64E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9897" y="2362758"/>
            <a:ext cx="402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2A314EBD-D4C8-F414-EC9B-19960ED2650D}"/>
              </a:ext>
            </a:extLst>
          </p:cNvPr>
          <p:cNvCxnSpPr>
            <a:stCxn id="2" idx="0"/>
            <a:endCxn id="29" idx="0"/>
          </p:cNvCxnSpPr>
          <p:nvPr/>
        </p:nvCxnSpPr>
        <p:spPr bwMode="auto">
          <a:xfrm rot="5400000" flipH="1" flipV="1">
            <a:off x="3125252" y="1875248"/>
            <a:ext cx="593670" cy="2299826"/>
          </a:xfrm>
          <a:prstGeom prst="bentConnector3">
            <a:avLst>
              <a:gd name="adj1" fmla="val 138506"/>
            </a:avLst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62" name="Rectangle 5">
            <a:extLst>
              <a:ext uri="{FF2B5EF4-FFF2-40B4-BE49-F238E27FC236}">
                <a16:creationId xmlns:a16="http://schemas.microsoft.com/office/drawing/2014/main" id="{71B66F02-C56C-97D2-8BB4-97CDA9C54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375" y="5307018"/>
            <a:ext cx="2233248" cy="400110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输入要统计的字符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64" name="Rectangle 5">
            <a:extLst>
              <a:ext uri="{FF2B5EF4-FFF2-40B4-BE49-F238E27FC236}">
                <a16:creationId xmlns:a16="http://schemas.microsoft.com/office/drawing/2014/main" id="{FAC28C9D-C0A6-03CC-7C16-2BA2FBE67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002" y="5938968"/>
            <a:ext cx="2583994" cy="400110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统计并显示字符个数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89939D0F-60C2-DB75-798B-1610AC4935BD}"/>
              </a:ext>
            </a:extLst>
          </p:cNvPr>
          <p:cNvCxnSpPr>
            <a:stCxn id="62" idx="2"/>
            <a:endCxn id="64" idx="0"/>
          </p:cNvCxnSpPr>
          <p:nvPr/>
        </p:nvCxnSpPr>
        <p:spPr bwMode="auto">
          <a:xfrm>
            <a:off x="4571999" y="5707128"/>
            <a:ext cx="0" cy="231840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E10DD90E-0798-76DF-5B4E-416964D7D423}"/>
              </a:ext>
            </a:extLst>
          </p:cNvPr>
          <p:cNvCxnSpPr>
            <a:stCxn id="64" idx="2"/>
            <a:endCxn id="19" idx="0"/>
          </p:cNvCxnSpPr>
          <p:nvPr/>
        </p:nvCxnSpPr>
        <p:spPr bwMode="auto">
          <a:xfrm>
            <a:off x="4571999" y="6339078"/>
            <a:ext cx="1" cy="187052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90098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伪代码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251500" y="1143332"/>
            <a:ext cx="8587700" cy="5219368"/>
          </a:xfrm>
          <a:prstGeom prst="rect">
            <a:avLst/>
          </a:prstGeom>
        </p:spPr>
        <p:txBody>
          <a:bodyPr vert="horz" lIns="0" tIns="0" rIns="0" bIns="0" numCol="2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数据段定义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代码段：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START:</a:t>
            </a:r>
            <a:r>
              <a:rPr lang="zh-CN" altLang="en-US" sz="2000" dirty="0">
                <a:latin typeface="Consolas" panose="020B0609020204030204" pitchFamily="49" charset="0"/>
              </a:rPr>
              <a:t>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……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显示提示信息：请输入字符串 </a:t>
            </a:r>
            <a:r>
              <a:rPr lang="en-US" altLang="zh-CN" sz="2000" dirty="0">
                <a:latin typeface="Consolas" panose="020B0609020204030204" pitchFamily="49" charset="0"/>
              </a:rPr>
              <a:t>(09 </a:t>
            </a:r>
            <a:r>
              <a:rPr lang="zh-CN" altLang="en-US" sz="2000" dirty="0">
                <a:latin typeface="Consolas" panose="020B0609020204030204" pitchFamily="49" charset="0"/>
              </a:rPr>
              <a:t>功能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输入字符串 </a:t>
            </a:r>
            <a:r>
              <a:rPr lang="en-US" altLang="zh-CN" sz="2000" dirty="0">
                <a:latin typeface="Consolas" panose="020B0609020204030204" pitchFamily="49" charset="0"/>
              </a:rPr>
              <a:t>(10 </a:t>
            </a:r>
            <a:r>
              <a:rPr lang="zh-CN" altLang="en-US" sz="2000" dirty="0">
                <a:latin typeface="Consolas" panose="020B0609020204030204" pitchFamily="49" charset="0"/>
              </a:rPr>
              <a:t>功能或 </a:t>
            </a:r>
            <a:r>
              <a:rPr lang="en-US" altLang="zh-CN" sz="2000" b="1" dirty="0">
                <a:solidFill>
                  <a:srgbClr val="7BA654"/>
                </a:solidFill>
                <a:latin typeface="Consolas" panose="020B0609020204030204" pitchFamily="49" charset="0"/>
              </a:rPr>
              <a:t>01 </a:t>
            </a:r>
            <a:r>
              <a:rPr lang="zh-CN" altLang="en-US" sz="2000" b="1" dirty="0">
                <a:solidFill>
                  <a:srgbClr val="7BA654"/>
                </a:solidFill>
                <a:latin typeface="Consolas" panose="020B0609020204030204" pitchFamily="49" charset="0"/>
              </a:rPr>
              <a:t>功能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显示提示信息：显示的字符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输入单个字符 </a:t>
            </a:r>
            <a:r>
              <a:rPr lang="en-US" altLang="zh-CN" sz="2000" dirty="0">
                <a:latin typeface="Consolas" panose="020B0609020204030204" pitchFamily="49" charset="0"/>
              </a:rPr>
              <a:t>(01 </a:t>
            </a:r>
            <a:r>
              <a:rPr lang="zh-CN" altLang="en-US" sz="2000" dirty="0">
                <a:latin typeface="Consolas" panose="020B0609020204030204" pitchFamily="49" charset="0"/>
              </a:rPr>
              <a:t>功能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SUB AL,</a:t>
            </a:r>
            <a:r>
              <a:rPr lang="zh-CN" altLang="en-US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</a:rPr>
              <a:t>30H</a:t>
            </a: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CMP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判断是否大于字符串长度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JC ERROR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计算对应字符的地址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MOV DL, [BX]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显示单个字符 </a:t>
            </a:r>
            <a:r>
              <a:rPr lang="en-US" altLang="zh-CN" sz="2000" dirty="0">
                <a:latin typeface="Consolas" panose="020B0609020204030204" pitchFamily="49" charset="0"/>
              </a:rPr>
              <a:t>(02 </a:t>
            </a:r>
            <a:r>
              <a:rPr lang="zh-CN" altLang="en-US" sz="2000" dirty="0">
                <a:latin typeface="Consolas" panose="020B0609020204030204" pitchFamily="49" charset="0"/>
              </a:rPr>
              <a:t>功能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lvl="4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……</a:t>
            </a:r>
          </a:p>
          <a:p>
            <a:pPr lvl="1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ERROR:</a:t>
            </a:r>
          </a:p>
          <a:p>
            <a:pPr marL="1485842" lvl="2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Consolas" panose="020B0609020204030204" pitchFamily="49" charset="0"/>
              </a:rPr>
              <a:t>显示错误信息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1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EXIT</a:t>
            </a:r>
            <a:r>
              <a:rPr lang="zh-CN" altLang="en-US" sz="2000" dirty="0">
                <a:latin typeface="Consolas" panose="020B0609020204030204" pitchFamily="49" charset="0"/>
              </a:rPr>
              <a:t>：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程序结束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458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336505"/>
            <a:ext cx="3677533" cy="610863"/>
          </a:xfrm>
        </p:spPr>
        <p:txBody>
          <a:bodyPr rtlCol="0"/>
          <a:lstStyle/>
          <a:p>
            <a:pPr rtl="0"/>
            <a:r>
              <a:rPr lang="en-US" altLang="zh-CN" dirty="0"/>
              <a:t>Q&amp;A</a:t>
            </a:r>
            <a:endParaRPr lang="zh-CN" altLang="en-US" dirty="0"/>
          </a:p>
        </p:txBody>
      </p:sp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5A0EA0D3-1502-4624-B339-9BB7DC218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27091"/>
              </p:ext>
            </p:extLst>
          </p:nvPr>
        </p:nvGraphicFramePr>
        <p:xfrm>
          <a:off x="4474441" y="3648767"/>
          <a:ext cx="466955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9232">
                  <a:extLst>
                    <a:ext uri="{9D8B030D-6E8A-4147-A177-3AD203B41FA5}">
                      <a16:colId xmlns:a16="http://schemas.microsoft.com/office/drawing/2014/main" val="210663870"/>
                    </a:ext>
                  </a:extLst>
                </a:gridCol>
                <a:gridCol w="3460327">
                  <a:extLst>
                    <a:ext uri="{9D8B030D-6E8A-4147-A177-3AD203B41FA5}">
                      <a16:colId xmlns:a16="http://schemas.microsoft.com/office/drawing/2014/main" val="2037245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主讲教师：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舒高峰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55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电子邮箱：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gaofeng.shu@henu.edu.cn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22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联系电话：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13161693313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53968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3E0A6D0-A87B-444E-933E-864A04504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1" t="14722" r="19725" b="39167"/>
          <a:stretch/>
        </p:blipFill>
        <p:spPr bwMode="auto">
          <a:xfrm>
            <a:off x="376237" y="2181917"/>
            <a:ext cx="3210804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7028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 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28575" algn="ctr">
          <a:solidFill>
            <a:srgbClr val="2A2EFC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 wrap="square" anchor="ctr">
        <a:spAutoFit/>
      </a:bodyPr>
      <a:lstStyle>
        <a:defPPr algn="ctr">
          <a:spcBef>
            <a:spcPct val="0"/>
          </a:spcBef>
          <a:spcAft>
            <a:spcPct val="0"/>
          </a:spcAft>
          <a:defRPr sz="20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 bwMode="auto">
        <a:noFill/>
        <a:ln w="28575" algn="ctr">
          <a:solidFill>
            <a:srgbClr val="2A2EFC"/>
          </a:solidFill>
          <a:miter lim="800000"/>
          <a:headEnd type="none" w="med" len="med"/>
          <a:tailEnd type="triangle" w="med" len="med"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Office_49129312_TF78853419_Win32.potx" id="{FEA4CB16-C2D0-46F5-9641-B9A026203A1A}" vid="{5C498265-2782-41B8-A880-232BDCBBAE6E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EC1AB0-9704-404D-B6D3-819D938AC55B}">
  <ds:schemaRefs>
    <ds:schemaRef ds:uri="71af3243-3dd4-4a8d-8c0d-dd76da1f02a5"/>
    <ds:schemaRef ds:uri="http://schemas.microsoft.com/office/infopath/2007/PartnerControls"/>
    <ds:schemaRef ds:uri="http://www.w3.org/XML/1998/namespace"/>
    <ds:schemaRef ds:uri="http://purl.org/dc/terms/"/>
    <ds:schemaRef ds:uri="16c05727-aa75-4e4a-9b5f-8a80a1165891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几何图形年度演示文稿</Template>
  <TotalTime>8217</TotalTime>
  <Words>702</Words>
  <Application>Microsoft Office PowerPoint</Application>
  <PresentationFormat>全屏显示(4:3)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Microsoft YaHei UI</vt:lpstr>
      <vt:lpstr>微软雅黑</vt:lpstr>
      <vt:lpstr>Arial</vt:lpstr>
      <vt:lpstr>Consolas</vt:lpstr>
      <vt:lpstr>Courier New</vt:lpstr>
      <vt:lpstr>Times New Roman</vt:lpstr>
      <vt:lpstr>Wingdings</vt:lpstr>
      <vt:lpstr>主题 1</vt:lpstr>
      <vt:lpstr>汇编语言与接口技术</vt:lpstr>
      <vt:lpstr>实验目的</vt:lpstr>
      <vt:lpstr>实验内容</vt:lpstr>
      <vt:lpstr>输出样例</vt:lpstr>
      <vt:lpstr>流程图</vt:lpstr>
      <vt:lpstr>伪代码</vt:lpstr>
      <vt:lpstr>实验内容</vt:lpstr>
      <vt:lpstr>输出样例</vt:lpstr>
      <vt:lpstr>流程图</vt:lpstr>
      <vt:lpstr>伪代码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年度审核</dc:title>
  <dc:creator>Shu Gavin</dc:creator>
  <cp:lastModifiedBy>Gaofeng Shu</cp:lastModifiedBy>
  <cp:revision>644</cp:revision>
  <dcterms:created xsi:type="dcterms:W3CDTF">2021-08-26T12:49:00Z</dcterms:created>
  <dcterms:modified xsi:type="dcterms:W3CDTF">2024-11-06T10:30:27Z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