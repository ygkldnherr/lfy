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350" r:id="rId5"/>
    <p:sldId id="531" r:id="rId6"/>
    <p:sldId id="533" r:id="rId7"/>
    <p:sldId id="537" r:id="rId8"/>
    <p:sldId id="540" r:id="rId9"/>
    <p:sldId id="538" r:id="rId10"/>
    <p:sldId id="539" r:id="rId11"/>
    <p:sldId id="376" r:id="rId12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  <p:cmAuthor id="4" name="Shu Gavin" initials="SG" lastIdx="1" clrIdx="3">
    <p:extLst>
      <p:ext uri="{19B8F6BF-5375-455C-9EA6-DF929625EA0E}">
        <p15:presenceInfo xmlns:p15="http://schemas.microsoft.com/office/powerpoint/2012/main" userId="4a08d0a9c143c9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A654"/>
    <a:srgbClr val="2A2EFC"/>
    <a:srgbClr val="B0D8DE"/>
    <a:srgbClr val="FF6600"/>
    <a:srgbClr val="E5EDDD"/>
    <a:srgbClr val="A9D4DB"/>
    <a:srgbClr val="7CA655"/>
    <a:srgbClr val="DDEEF1"/>
    <a:srgbClr val="4495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14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3070"/>
    </p:cViewPr>
  </p:sorterViewPr>
  <p:notesViewPr>
    <p:cSldViewPr snapToGrid="0" showGuides="1">
      <p:cViewPr varScale="1">
        <p:scale>
          <a:sx n="96" d="100"/>
          <a:sy n="96" d="100"/>
        </p:scale>
        <p:origin x="28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AF33185-96C5-40F1-AF05-4E87E69D6235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smtClean="0"/>
              <a:pPr/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B62A3-876D-4AE7-92FC-7D715007F8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AA22C1-D23F-4E95-A23F-136BBD4E416C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627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0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95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8755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74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39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189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209A11-7F86-431F-912B-610647EA1C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1DF1DE0-D9F3-4E20-9572-F488B7E02BD5}" type="datetime5">
              <a:rPr lang="zh-CN" altLang="en-US" smtClean="0"/>
              <a:t>2024/11/21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07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801" y="1088968"/>
            <a:ext cx="7030376" cy="1704244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1844110"/>
            <a:ext cx="5630788" cy="5013890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3413" y="3528585"/>
            <a:ext cx="4118678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4343413" y="3166971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32C69-3D6C-4A0A-82A5-5A51E1B224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6982880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749799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9897" y="2286009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70761" y="2789842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9897" y="4273620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9895" y="3265954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69895" y="3769787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6391CC-FD99-450E-91E0-5212718826BC}" type="datetime5">
              <a:rPr lang="zh-CN" altLang="en-US" smtClean="0"/>
              <a:t>2024/11/21</a:t>
            </a:fld>
            <a:endParaRPr lang="zh-CN" altLang="en-US" dirty="0"/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29" name="组 8">
            <a:extLst>
              <a:ext uri="{FF2B5EF4-FFF2-40B4-BE49-F238E27FC236}">
                <a16:creationId xmlns:a16="http://schemas.microsoft.com/office/drawing/2014/main" id="{3696B84C-13CD-4FC5-8948-CE254B706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0" name="任意多边形(F) 9">
              <a:extLst>
                <a:ext uri="{FF2B5EF4-FFF2-40B4-BE49-F238E27FC236}">
                  <a16:creationId xmlns:a16="http://schemas.microsoft.com/office/drawing/2014/main" id="{B46A553D-C016-46E0-9C70-BD733010E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(F) 10">
              <a:extLst>
                <a:ext uri="{FF2B5EF4-FFF2-40B4-BE49-F238E27FC236}">
                  <a16:creationId xmlns:a16="http://schemas.microsoft.com/office/drawing/2014/main" id="{7D82B289-71A7-4BEB-9CF8-A66E8460B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11">
              <a:extLst>
                <a:ext uri="{FF2B5EF4-FFF2-40B4-BE49-F238E27FC236}">
                  <a16:creationId xmlns:a16="http://schemas.microsoft.com/office/drawing/2014/main" id="{EC9D530F-C9DA-41BE-BB5C-6BC9E2950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371596"/>
            <a:ext cx="4572000" cy="5508947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单击图标添加图片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7" name="直接连接符​​(S)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035" y="1371596"/>
            <a:ext cx="3429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24" name="直接连接符​​(S) 20">
            <a:extLst>
              <a:ext uri="{FF2B5EF4-FFF2-40B4-BE49-F238E27FC236}">
                <a16:creationId xmlns:a16="http://schemas.microsoft.com/office/drawing/2014/main" id="{1C33D278-C9B4-43D1-91E6-FBBAE44E06E6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日期占位符 1">
            <a:extLst>
              <a:ext uri="{FF2B5EF4-FFF2-40B4-BE49-F238E27FC236}">
                <a16:creationId xmlns:a16="http://schemas.microsoft.com/office/drawing/2014/main" id="{2CC5C624-8420-4E91-BF40-58AEFB63F46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FDD3B7-618C-4C65-8DF8-B2A07C6895F2}" type="datetime5">
              <a:rPr lang="zh-CN" altLang="en-US" smtClean="0"/>
              <a:t>2024/11/21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6" pos="261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表占位符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14376" y="1939108"/>
            <a:ext cx="7764608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单击图标添加图表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33E9911B-11E6-435F-BD39-ECE556CFD8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39977DC1-C12A-442B-98DD-9E007381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(F) 10">
              <a:extLst>
                <a:ext uri="{FF2B5EF4-FFF2-40B4-BE49-F238E27FC236}">
                  <a16:creationId xmlns:a16="http://schemas.microsoft.com/office/drawing/2014/main" id="{65609B2D-C92B-4137-A673-7CD23A448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11">
              <a:extLst>
                <a:ext uri="{FF2B5EF4-FFF2-40B4-BE49-F238E27FC236}">
                  <a16:creationId xmlns:a16="http://schemas.microsoft.com/office/drawing/2014/main" id="{BE8AE377-17DA-409C-9FA0-1390A4360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863CD07C-C73D-41F2-A03B-28C2E3EA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2" name="直接连接符​​(S) 16">
            <a:extLst>
              <a:ext uri="{FF2B5EF4-FFF2-40B4-BE49-F238E27FC236}">
                <a16:creationId xmlns:a16="http://schemas.microsoft.com/office/drawing/2014/main" id="{106D1B7E-9A21-4C5D-8A44-066B6B6A66CC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​​(S) 20">
            <a:extLst>
              <a:ext uri="{FF2B5EF4-FFF2-40B4-BE49-F238E27FC236}">
                <a16:creationId xmlns:a16="http://schemas.microsoft.com/office/drawing/2014/main" id="{327F2DD1-E51E-4CB6-ACF5-ED7C49C60CB5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">
            <a:extLst>
              <a:ext uri="{FF2B5EF4-FFF2-40B4-BE49-F238E27FC236}">
                <a16:creationId xmlns:a16="http://schemas.microsoft.com/office/drawing/2014/main" id="{3DBEA8B4-9F74-46F9-A1E1-C69F04644E75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D204038-36F5-4D5C-9342-448BC76326C2}" type="datetime5">
              <a:rPr lang="zh-CN" altLang="en-US" smtClean="0"/>
              <a:t>2024/11/21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EE0F078-228F-4C21-9130-4AAF298B58C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336DD3-195A-4BDA-BB5F-107A80012942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14375" y="2209806"/>
            <a:ext cx="7715250" cy="2593109"/>
          </a:xfrm>
        </p:spPr>
        <p:txBody>
          <a:bodyPr rtlCol="0"/>
          <a:lstStyle/>
          <a:p>
            <a:pPr rtl="0"/>
            <a:r>
              <a:rPr lang="zh-CN" altLang="en-US" noProof="0"/>
              <a:t>单击图标添加表格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FF654C3C-7763-4178-8553-6DF10C2A6E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9E97018D-7502-4F78-8461-93A70CF76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(F) 10">
              <a:extLst>
                <a:ext uri="{FF2B5EF4-FFF2-40B4-BE49-F238E27FC236}">
                  <a16:creationId xmlns:a16="http://schemas.microsoft.com/office/drawing/2014/main" id="{7C4114FD-2438-4942-B25A-3DBA6C553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1">
              <a:extLst>
                <a:ext uri="{FF2B5EF4-FFF2-40B4-BE49-F238E27FC236}">
                  <a16:creationId xmlns:a16="http://schemas.microsoft.com/office/drawing/2014/main" id="{363BAD70-68F0-458E-8504-775FF7462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1">
            <a:extLst>
              <a:ext uri="{FF2B5EF4-FFF2-40B4-BE49-F238E27FC236}">
                <a16:creationId xmlns:a16="http://schemas.microsoft.com/office/drawing/2014/main" id="{A1595A9B-06D0-446D-AFB2-2E76BB7D1FCF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CDB93B-0CD8-49FA-8FA1-B514F559EF5C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476506"/>
            <a:ext cx="534924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524963" y="548300"/>
            <a:ext cx="11920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00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560" userDrawn="1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日期占位符 1">
            <a:extLst>
              <a:ext uri="{FF2B5EF4-FFF2-40B4-BE49-F238E27FC236}">
                <a16:creationId xmlns:a16="http://schemas.microsoft.com/office/drawing/2014/main" id="{C647E1EB-8D12-43F6-9C6E-B1E76BD6574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B74298-690E-4F37-8915-424A0EA11287}" type="datetime5">
              <a:rPr lang="zh-CN" altLang="en-US" smtClean="0"/>
              <a:t>2024/11/21</a:t>
            </a:fld>
            <a:endParaRPr lang="zh-CN" altLang="en-US" dirty="0"/>
          </a:p>
        </p:txBody>
      </p:sp>
      <p:grpSp>
        <p:nvGrpSpPr>
          <p:cNvPr id="33" name="组 8">
            <a:extLst>
              <a:ext uri="{FF2B5EF4-FFF2-40B4-BE49-F238E27FC236}">
                <a16:creationId xmlns:a16="http://schemas.microsoft.com/office/drawing/2014/main" id="{79D94968-E939-4A79-BAAE-90F8C01EB7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4" name="任意多边形(F) 9">
              <a:extLst>
                <a:ext uri="{FF2B5EF4-FFF2-40B4-BE49-F238E27FC236}">
                  <a16:creationId xmlns:a16="http://schemas.microsoft.com/office/drawing/2014/main" id="{330E9FF0-8ED0-4358-AB76-60AC33D39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(F) 10">
              <a:extLst>
                <a:ext uri="{FF2B5EF4-FFF2-40B4-BE49-F238E27FC236}">
                  <a16:creationId xmlns:a16="http://schemas.microsoft.com/office/drawing/2014/main" id="{0C6DDBC4-02C6-4510-A45F-3B2001D85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11">
              <a:extLst>
                <a:ext uri="{FF2B5EF4-FFF2-40B4-BE49-F238E27FC236}">
                  <a16:creationId xmlns:a16="http://schemas.microsoft.com/office/drawing/2014/main" id="{6B22312E-F867-4CD8-9D09-ECF7E71FE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8" name="图片占位符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5701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56492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62" name="直接连接符​​(S)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图片占位符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43710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72" name="文本占位符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4375" y="5393169"/>
            <a:ext cx="16002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3" name="文本占位符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4375" y="4986754"/>
            <a:ext cx="16002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4" name="文本占位符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7283" y="5393169"/>
            <a:ext cx="1596118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5" name="文本占位符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7283" y="4986754"/>
            <a:ext cx="1596118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6" name="文本占位符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75292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7" name="文本占位符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5292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8" name="文本占位符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32691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9" name="文本占位符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32691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66" name="图片占位符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71719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9" name="图片占位符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018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3006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2736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4302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1">
            <a:extLst>
              <a:ext uri="{FF2B5EF4-FFF2-40B4-BE49-F238E27FC236}">
                <a16:creationId xmlns:a16="http://schemas.microsoft.com/office/drawing/2014/main" id="{B97F3A12-799D-455A-A239-8D59085C93D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D1ADF1D-247E-4E8B-A9B1-F58E5E95F002}" type="datetime5">
              <a:rPr lang="zh-CN" altLang="en-US" smtClean="0"/>
              <a:t>2024/11/21</a:t>
            </a:fld>
            <a:endParaRPr lang="zh-CN" altLang="en-US" dirty="0"/>
          </a:p>
        </p:txBody>
      </p: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784469" y="2213783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4635374" y="2213783"/>
            <a:ext cx="8327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6559217" y="3904712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2708317" y="3895941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标题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6" name="文本占位符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2716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97" name="文本占位符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2716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102" name="文本占位符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3349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3" name="文本占位符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3349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6" name="文本占位符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51283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7" name="文本占位符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51283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8" name="文本占位符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28607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9" name="文本占位符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28607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725767" y="3968780"/>
            <a:ext cx="7706608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长方形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723247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长方形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2648697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长方形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4574145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长方形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6499598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1">
            <a:extLst>
              <a:ext uri="{FF2B5EF4-FFF2-40B4-BE49-F238E27FC236}">
                <a16:creationId xmlns:a16="http://schemas.microsoft.com/office/drawing/2014/main" id="{5ECB866D-1176-4DD4-B1AE-725B596AEEC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76BB8B0-9DA3-4A45-BCF7-BC5F50366D23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019" y="2300984"/>
            <a:ext cx="3620384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72025" y="2300984"/>
            <a:ext cx="3573622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019" y="2799146"/>
            <a:ext cx="3620384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72029" y="2799146"/>
            <a:ext cx="356718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477202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 8">
            <a:extLst>
              <a:ext uri="{FF2B5EF4-FFF2-40B4-BE49-F238E27FC236}">
                <a16:creationId xmlns:a16="http://schemas.microsoft.com/office/drawing/2014/main" id="{1A3C9206-675A-4AC8-94B0-A0808E1AAA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17" name="任意多边形(F) 9">
              <a:extLst>
                <a:ext uri="{FF2B5EF4-FFF2-40B4-BE49-F238E27FC236}">
                  <a16:creationId xmlns:a16="http://schemas.microsoft.com/office/drawing/2014/main" id="{6394B670-383A-4BAD-BBC2-32171250A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(F) 10">
              <a:extLst>
                <a:ext uri="{FF2B5EF4-FFF2-40B4-BE49-F238E27FC236}">
                  <a16:creationId xmlns:a16="http://schemas.microsoft.com/office/drawing/2014/main" id="{618A85E9-909F-4B55-B40A-844EDA38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11">
              <a:extLst>
                <a:ext uri="{FF2B5EF4-FFF2-40B4-BE49-F238E27FC236}">
                  <a16:creationId xmlns:a16="http://schemas.microsoft.com/office/drawing/2014/main" id="{52A7A9CA-B1E9-4561-BE1F-692D0588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1">
            <a:extLst>
              <a:ext uri="{FF2B5EF4-FFF2-40B4-BE49-F238E27FC236}">
                <a16:creationId xmlns:a16="http://schemas.microsoft.com/office/drawing/2014/main" id="{D1228DF4-5AC2-4707-9BA3-5954DB582D4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91D5D49-54FC-4717-A45C-39A4142CA5C5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37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427029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1" name="内容占位符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427031" y="2799146"/>
            <a:ext cx="228797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4026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26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3427029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6140263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组 8">
            <a:extLst>
              <a:ext uri="{FF2B5EF4-FFF2-40B4-BE49-F238E27FC236}">
                <a16:creationId xmlns:a16="http://schemas.microsoft.com/office/drawing/2014/main" id="{5B398374-CDC7-43CC-AD51-6B0B6F8E80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25" name="任意多边形(F) 9">
              <a:extLst>
                <a:ext uri="{FF2B5EF4-FFF2-40B4-BE49-F238E27FC236}">
                  <a16:creationId xmlns:a16="http://schemas.microsoft.com/office/drawing/2014/main" id="{ACD6682D-CEFD-4EEA-8FDD-9FF6DB1C7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(F) 10">
              <a:extLst>
                <a:ext uri="{FF2B5EF4-FFF2-40B4-BE49-F238E27FC236}">
                  <a16:creationId xmlns:a16="http://schemas.microsoft.com/office/drawing/2014/main" id="{A57143C7-9F96-4177-A56B-E5A2B84B5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11">
              <a:extLst>
                <a:ext uri="{FF2B5EF4-FFF2-40B4-BE49-F238E27FC236}">
                  <a16:creationId xmlns:a16="http://schemas.microsoft.com/office/drawing/2014/main" id="{C8D99584-127E-446E-B7C0-01748E66E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89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3600" userDrawn="1">
          <p15:clr>
            <a:srgbClr val="FBAE40"/>
          </p15:clr>
        </p15:guide>
        <p15:guide id="11" pos="216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日期占位符 1">
            <a:extLst>
              <a:ext uri="{FF2B5EF4-FFF2-40B4-BE49-F238E27FC236}">
                <a16:creationId xmlns:a16="http://schemas.microsoft.com/office/drawing/2014/main" id="{3AEC2215-6A87-4062-BE25-93D7E4BB150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4525A6-10CF-484C-8AF9-0A00FBE7E179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88788"/>
            <a:ext cx="689975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7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377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5241" y="3841846"/>
            <a:ext cx="3629025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241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4377" y="5017901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377" y="4647006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9735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9735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9735" y="3841846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9735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cxnSp>
        <p:nvCxnSpPr>
          <p:cNvPr id="40" name="直接连接符​​(S) 32">
            <a:extLst>
              <a:ext uri="{FF2B5EF4-FFF2-40B4-BE49-F238E27FC236}">
                <a16:creationId xmlns:a16="http://schemas.microsoft.com/office/drawing/2014/main" id="{CB82211B-52F9-48C5-9206-195ED2D4F163}"/>
              </a:ext>
            </a:extLst>
          </p:cNvPr>
          <p:cNvCxnSpPr>
            <a:cxnSpLocks/>
          </p:cNvCxnSpPr>
          <p:nvPr userDrawn="1"/>
        </p:nvCxnSpPr>
        <p:spPr>
          <a:xfrm>
            <a:off x="714375" y="1159515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5102072"/>
            <a:ext cx="3686175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0645" y="3591101"/>
            <a:ext cx="3677533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45" y="2173667"/>
            <a:ext cx="367753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27" name="直接连接符​​(S)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4571998" y="3233703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图片占位符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27942"/>
            <a:ext cx="3820039" cy="573005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grpSp>
        <p:nvGrpSpPr>
          <p:cNvPr id="12" name="组 8">
            <a:extLst>
              <a:ext uri="{FF2B5EF4-FFF2-40B4-BE49-F238E27FC236}">
                <a16:creationId xmlns:a16="http://schemas.microsoft.com/office/drawing/2014/main" id="{8C5C8DF6-B335-4111-88BE-614570BCE5E9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13" name="任意多边形(F) 9">
              <a:extLst>
                <a:ext uri="{FF2B5EF4-FFF2-40B4-BE49-F238E27FC236}">
                  <a16:creationId xmlns:a16="http://schemas.microsoft.com/office/drawing/2014/main" id="{6E94A549-FB8A-4EA4-A99A-42CA4CCDF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(F) 10">
              <a:extLst>
                <a:ext uri="{FF2B5EF4-FFF2-40B4-BE49-F238E27FC236}">
                  <a16:creationId xmlns:a16="http://schemas.microsoft.com/office/drawing/2014/main" id="{D53D047E-7D30-4EC9-8797-1B9C41C86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1">
              <a:extLst>
                <a:ext uri="{FF2B5EF4-FFF2-40B4-BE49-F238E27FC236}">
                  <a16:creationId xmlns:a16="http://schemas.microsoft.com/office/drawing/2014/main" id="{5929352F-B11A-45AF-BB6D-2C8683B27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41940EA7-E16B-4D7C-884A-95021CD3ED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193E7B-2A23-489C-8E96-FA626AAC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2024/11/21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C2B062-0A0D-4278-A950-9594B287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2EB50-0BEC-41CA-AC3F-B5500B2F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64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2" y="1825625"/>
            <a:ext cx="7786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7" y="365129"/>
            <a:ext cx="78009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44092" y="6332229"/>
            <a:ext cx="98488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2024/11/21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页脚占位符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1092" y="6332229"/>
            <a:ext cx="1122998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b="1" dirty="0"/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8663" y="6332229"/>
            <a:ext cx="3924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4" r:id="rId2"/>
    <p:sldLayoutId id="2147483671" r:id="rId3"/>
    <p:sldLayoutId id="2147483673" r:id="rId4"/>
    <p:sldLayoutId id="2147483684" r:id="rId5"/>
    <p:sldLayoutId id="2147483675" r:id="rId6"/>
    <p:sldLayoutId id="2147483676" r:id="rId7"/>
    <p:sldLayoutId id="2147483677" r:id="rId8"/>
    <p:sldLayoutId id="2147483685" r:id="rId9"/>
    <p:sldLayoutId id="2147483688" r:id="rId10"/>
    <p:sldLayoutId id="2147483692" r:id="rId11"/>
    <p:sldLayoutId id="2147483682" r:id="rId12"/>
    <p:sldLayoutId id="2147483695" r:id="rId13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8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558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450" userDrawn="1">
          <p15:clr>
            <a:srgbClr val="547EBF"/>
          </p15:clr>
        </p15:guide>
        <p15:guide id="8" pos="2790" userDrawn="1">
          <p15:clr>
            <a:srgbClr val="547EBF"/>
          </p15:clr>
        </p15:guide>
        <p15:guide id="9" pos="1584" userDrawn="1">
          <p15:clr>
            <a:srgbClr val="547EBF"/>
          </p15:clr>
        </p15:guide>
        <p15:guide id="10" pos="1386" userDrawn="1">
          <p15:clr>
            <a:srgbClr val="547EBF"/>
          </p15:clr>
        </p15:guide>
        <p15:guide id="11" pos="4176" userDrawn="1">
          <p15:clr>
            <a:srgbClr val="547EBF"/>
          </p15:clr>
        </p15:guide>
        <p15:guide id="12" pos="4374" userDrawn="1">
          <p15:clr>
            <a:srgbClr val="547EBF"/>
          </p15:clr>
        </p15:guide>
        <p15:guide id="13" pos="3726" userDrawn="1">
          <p15:clr>
            <a:srgbClr val="9FCC3B"/>
          </p15:clr>
        </p15:guide>
        <p15:guide id="14" pos="3906" userDrawn="1">
          <p15:clr>
            <a:srgbClr val="9FCC3B"/>
          </p15:clr>
        </p15:guide>
        <p15:guide id="15" pos="2034" userDrawn="1">
          <p15:clr>
            <a:srgbClr val="9FCC3B"/>
          </p15:clr>
        </p15:guide>
        <p15:guide id="16" pos="1854" userDrawn="1">
          <p15:clr>
            <a:srgbClr val="9FCC3B"/>
          </p15:clr>
        </p15:guide>
        <p15:guide id="17" pos="2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125" y="796954"/>
            <a:ext cx="7035750" cy="1012842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汇编语言与接口技术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D8FDA9AE-23B3-4993-835D-79FB936C48B4}"/>
              </a:ext>
            </a:extLst>
          </p:cNvPr>
          <p:cNvSpPr txBox="1">
            <a:spLocks/>
          </p:cNvSpPr>
          <p:nvPr/>
        </p:nvSpPr>
        <p:spPr>
          <a:xfrm>
            <a:off x="1126710" y="2061281"/>
            <a:ext cx="6890579" cy="6108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altLang="zh-CN" sz="2800" dirty="0">
                <a:solidFill>
                  <a:srgbClr val="4495A2"/>
                </a:solidFill>
              </a:rPr>
              <a:t>—— </a:t>
            </a:r>
            <a:r>
              <a:rPr lang="zh-CN" altLang="en-US" sz="2800" dirty="0">
                <a:solidFill>
                  <a:srgbClr val="4495A2"/>
                </a:solidFill>
              </a:rPr>
              <a:t>实验三 综合程序练习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AD45187-E2D5-47BA-96B1-81458D51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72353"/>
              </p:ext>
            </p:extLst>
          </p:nvPr>
        </p:nvGraphicFramePr>
        <p:xfrm>
          <a:off x="4248973" y="362959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实验目的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占位符 3">
            <a:extLst>
              <a:ext uri="{FF2B5EF4-FFF2-40B4-BE49-F238E27FC236}">
                <a16:creationId xmlns:a16="http://schemas.microsoft.com/office/drawing/2014/main" id="{A623D5AE-E804-4D2F-B0DB-D3E49C52B5C4}"/>
              </a:ext>
            </a:extLst>
          </p:cNvPr>
          <p:cNvSpPr txBox="1">
            <a:spLocks/>
          </p:cNvSpPr>
          <p:nvPr/>
        </p:nvSpPr>
        <p:spPr>
          <a:xfrm>
            <a:off x="1132569" y="1278012"/>
            <a:ext cx="7735858" cy="2722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练习编写包含分支、循环、子程序结构的程序，练习汇编语言综合编程方法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7BA654"/>
                </a:solidFill>
              </a:rPr>
              <a:t>掌握</a:t>
            </a:r>
            <a:r>
              <a:rPr lang="zh-CN" altLang="en-US" dirty="0"/>
              <a:t>在 </a:t>
            </a:r>
            <a:r>
              <a:rPr lang="en-US" altLang="zh-CN" dirty="0"/>
              <a:t>Debug </a:t>
            </a:r>
            <a:r>
              <a:rPr lang="zh-CN" altLang="en-US" dirty="0"/>
              <a:t>状态下</a:t>
            </a:r>
            <a:r>
              <a:rPr lang="zh-CN" altLang="en-US" b="1" dirty="0"/>
              <a:t>调试程序</a:t>
            </a:r>
            <a:r>
              <a:rPr lang="zh-CN" altLang="en-US" dirty="0"/>
              <a:t>的方法</a:t>
            </a:r>
          </a:p>
        </p:txBody>
      </p:sp>
    </p:spTree>
    <p:extLst>
      <p:ext uri="{BB962C8B-B14F-4D97-AF65-F5344CB8AC3E}">
        <p14:creationId xmlns:p14="http://schemas.microsoft.com/office/powerpoint/2010/main" val="137069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A19F5E5-FDC5-4BDE-BB02-A1DC35D351DE}"/>
              </a:ext>
            </a:extLst>
          </p:cNvPr>
          <p:cNvSpPr/>
          <p:nvPr/>
        </p:nvSpPr>
        <p:spPr>
          <a:xfrm>
            <a:off x="5803386" y="4977995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1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195366"/>
            <a:ext cx="7516130" cy="11795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已知无符号字数组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LIST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的第一个字数据为其元素个数，其后数据按大小关系排序保存。试将某无符号字数据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插入数组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LIST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的正确位置，并修改元素个数。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CB3D036F-7680-4A44-BF70-F0866E3B60DC}"/>
              </a:ext>
            </a:extLst>
          </p:cNvPr>
          <p:cNvSpPr txBox="1">
            <a:spLocks/>
          </p:cNvSpPr>
          <p:nvPr/>
        </p:nvSpPr>
        <p:spPr>
          <a:xfrm>
            <a:off x="2296445" y="2331355"/>
            <a:ext cx="5725431" cy="11795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</a:t>
            </a:r>
            <a:r>
              <a:rPr lang="pt-BR" altLang="zh-CN" sz="20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SEGMENT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457177" lvl="1" indent="0">
              <a:spcBef>
                <a:spcPts val="0"/>
              </a:spcBef>
              <a:buNone/>
            </a:pP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LIST </a:t>
            </a:r>
            <a:r>
              <a:rPr lang="pt-BR" altLang="zh-CN" sz="20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DW</a:t>
            </a: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pt-BR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200H</a:t>
            </a:r>
            <a:r>
              <a:rPr lang="pt-BR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300H</a:t>
            </a:r>
            <a:r>
              <a:rPr lang="pt-BR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400H</a:t>
            </a:r>
            <a:r>
              <a:rPr lang="pt-BR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500H</a:t>
            </a:r>
            <a:r>
              <a:rPr lang="pt-BR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600H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457177" lvl="1" indent="0">
              <a:spcBef>
                <a:spcPts val="0"/>
              </a:spcBef>
              <a:buNone/>
            </a:pP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pt-BR" altLang="zh-CN" sz="20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DW</a:t>
            </a: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360H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pt-BR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</a:t>
            </a:r>
            <a:r>
              <a:rPr lang="pt-BR" altLang="zh-CN" sz="20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ENDS</a:t>
            </a:r>
            <a:endParaRPr lang="pt-BR" altLang="zh-CN" sz="2000" dirty="0">
              <a:effectLst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245DB2-DCC3-4924-BE4F-E739F7190893}"/>
              </a:ext>
            </a:extLst>
          </p:cNvPr>
          <p:cNvSpPr/>
          <p:nvPr/>
        </p:nvSpPr>
        <p:spPr>
          <a:xfrm>
            <a:off x="3034059" y="360328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901213-D4D4-47E8-BB1D-9BEB23A08C1A}"/>
              </a:ext>
            </a:extLst>
          </p:cNvPr>
          <p:cNvSpPr/>
          <p:nvPr/>
        </p:nvSpPr>
        <p:spPr>
          <a:xfrm>
            <a:off x="3957168" y="360328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8EC20-997C-4926-90FE-5923F736EC28}"/>
              </a:ext>
            </a:extLst>
          </p:cNvPr>
          <p:cNvSpPr/>
          <p:nvPr/>
        </p:nvSpPr>
        <p:spPr>
          <a:xfrm>
            <a:off x="4880277" y="360328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E105E9-0424-4EFA-8F2A-9044E7A132DF}"/>
              </a:ext>
            </a:extLst>
          </p:cNvPr>
          <p:cNvSpPr/>
          <p:nvPr/>
        </p:nvSpPr>
        <p:spPr>
          <a:xfrm>
            <a:off x="5803386" y="360328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C2BF77-87F3-465B-A56D-37F8A442425B}"/>
              </a:ext>
            </a:extLst>
          </p:cNvPr>
          <p:cNvSpPr/>
          <p:nvPr/>
        </p:nvSpPr>
        <p:spPr>
          <a:xfrm>
            <a:off x="7649604" y="3603286"/>
            <a:ext cx="744544" cy="2926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360H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CA0915-C5B2-4FF6-B81F-9DB54D630992}"/>
              </a:ext>
            </a:extLst>
          </p:cNvPr>
          <p:cNvSpPr/>
          <p:nvPr/>
        </p:nvSpPr>
        <p:spPr>
          <a:xfrm>
            <a:off x="3034059" y="4282554"/>
            <a:ext cx="744544" cy="2926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360H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9C5F876-C4E4-4104-B058-474CCA9985BA}"/>
              </a:ext>
            </a:extLst>
          </p:cNvPr>
          <p:cNvCxnSpPr>
            <a:stCxn id="2" idx="2"/>
            <a:endCxn id="16" idx="0"/>
          </p:cNvCxnSpPr>
          <p:nvPr/>
        </p:nvCxnSpPr>
        <p:spPr bwMode="auto">
          <a:xfrm>
            <a:off x="3406331" y="3895935"/>
            <a:ext cx="0" cy="386619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triangle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5E6D22A-5867-41FC-A53D-556BA2E8CE6F}"/>
              </a:ext>
            </a:extLst>
          </p:cNvPr>
          <p:cNvSpPr/>
          <p:nvPr/>
        </p:nvSpPr>
        <p:spPr>
          <a:xfrm>
            <a:off x="6726495" y="360328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F9E766E9-196A-485A-803B-6BAFF393207B}"/>
              </a:ext>
            </a:extLst>
          </p:cNvPr>
          <p:cNvSpPr txBox="1">
            <a:spLocks/>
          </p:cNvSpPr>
          <p:nvPr/>
        </p:nvSpPr>
        <p:spPr>
          <a:xfrm>
            <a:off x="449278" y="3846071"/>
            <a:ext cx="1847167" cy="386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从前向后比较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785D89-066C-4C90-94CF-3F241E9A2699}"/>
              </a:ext>
            </a:extLst>
          </p:cNvPr>
          <p:cNvSpPr/>
          <p:nvPr/>
        </p:nvSpPr>
        <p:spPr>
          <a:xfrm>
            <a:off x="3034059" y="497799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481DFF2-DB4F-4331-94DE-DB527E5B48B4}"/>
              </a:ext>
            </a:extLst>
          </p:cNvPr>
          <p:cNvSpPr/>
          <p:nvPr/>
        </p:nvSpPr>
        <p:spPr>
          <a:xfrm>
            <a:off x="3957168" y="497799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5E9B8C-165D-4BB7-A2EF-0CE9A54E71E9}"/>
              </a:ext>
            </a:extLst>
          </p:cNvPr>
          <p:cNvSpPr/>
          <p:nvPr/>
        </p:nvSpPr>
        <p:spPr>
          <a:xfrm>
            <a:off x="4880277" y="497799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04108A-C3A8-4E58-ACB9-8DEF247B486F}"/>
              </a:ext>
            </a:extLst>
          </p:cNvPr>
          <p:cNvSpPr/>
          <p:nvPr/>
        </p:nvSpPr>
        <p:spPr>
          <a:xfrm>
            <a:off x="7649604" y="4977996"/>
            <a:ext cx="744544" cy="2926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360H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B401CF-3ED1-452C-AC96-7406CEAF6677}"/>
              </a:ext>
            </a:extLst>
          </p:cNvPr>
          <p:cNvSpPr/>
          <p:nvPr/>
        </p:nvSpPr>
        <p:spPr>
          <a:xfrm>
            <a:off x="6726495" y="5657264"/>
            <a:ext cx="744544" cy="2926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360H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3C0F6A3-2DE9-4B1C-AA2F-750CFA013711}"/>
              </a:ext>
            </a:extLst>
          </p:cNvPr>
          <p:cNvCxnSpPr>
            <a:cxnSpLocks/>
            <a:endCxn id="29" idx="0"/>
          </p:cNvCxnSpPr>
          <p:nvPr/>
        </p:nvCxnSpPr>
        <p:spPr bwMode="auto">
          <a:xfrm>
            <a:off x="7098767" y="5270645"/>
            <a:ext cx="0" cy="386619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triangle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D125DEED-BD88-4C13-A448-3B37C59ABC08}"/>
              </a:ext>
            </a:extLst>
          </p:cNvPr>
          <p:cNvSpPr/>
          <p:nvPr/>
        </p:nvSpPr>
        <p:spPr>
          <a:xfrm>
            <a:off x="6726495" y="497799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32" name="文本占位符 3">
            <a:extLst>
              <a:ext uri="{FF2B5EF4-FFF2-40B4-BE49-F238E27FC236}">
                <a16:creationId xmlns:a16="http://schemas.microsoft.com/office/drawing/2014/main" id="{B452F593-CEFA-455D-8035-704102502E48}"/>
              </a:ext>
            </a:extLst>
          </p:cNvPr>
          <p:cNvSpPr txBox="1">
            <a:spLocks/>
          </p:cNvSpPr>
          <p:nvPr/>
        </p:nvSpPr>
        <p:spPr>
          <a:xfrm>
            <a:off x="449278" y="5220781"/>
            <a:ext cx="1847167" cy="386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从后向前比较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131963-56D1-43A8-9007-1E77F79E017B}"/>
              </a:ext>
            </a:extLst>
          </p:cNvPr>
          <p:cNvSpPr/>
          <p:nvPr/>
        </p:nvSpPr>
        <p:spPr>
          <a:xfrm>
            <a:off x="6726495" y="4977995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B3DA1D-AAD9-4D00-A32F-7772D68D6DFE}"/>
              </a:ext>
            </a:extLst>
          </p:cNvPr>
          <p:cNvSpPr/>
          <p:nvPr/>
        </p:nvSpPr>
        <p:spPr>
          <a:xfrm>
            <a:off x="5803386" y="4977996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CDF60FB-8505-4E61-9036-72835C116E91}"/>
              </a:ext>
            </a:extLst>
          </p:cNvPr>
          <p:cNvSpPr/>
          <p:nvPr/>
        </p:nvSpPr>
        <p:spPr>
          <a:xfrm>
            <a:off x="4880277" y="4977994"/>
            <a:ext cx="744544" cy="292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400H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256CD-C1E4-A85A-13F0-36FD343DCD67}"/>
              </a:ext>
            </a:extLst>
          </p:cNvPr>
          <p:cNvSpPr txBox="1">
            <a:spLocks/>
          </p:cNvSpPr>
          <p:nvPr/>
        </p:nvSpPr>
        <p:spPr>
          <a:xfrm>
            <a:off x="1132569" y="5994019"/>
            <a:ext cx="7516130" cy="796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注意是</a:t>
            </a:r>
            <a:r>
              <a:rPr lang="zh-CN" altLang="en-US" sz="20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字数据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。循环程序、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XCHG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（两操作数可以一个为存储单元，另一个为寄存器）、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INC（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操作数可以是存储单元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）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59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0.10104 -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6 L 0.10069 3.703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04 -3.33333E-6 L 0.20191 -3.33333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69 3.7037E-6 L 0.20156 3.7037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91 -3.33333E-6 L 0.20191 -0.0995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97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7.40741E-7 L 4.44444E-6 0.0988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.09884 L 0.10138 0.0988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38 0.09884 L 0.10138 0.00069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907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0.00052 0.09884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9884 L 0.10121 0.099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21 0.0993 L 0.10069 0.00069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493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7.40741E-7 L 0.00017 0.0993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993 L 0.10156 0.09977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56 0.09977 L 0.10069 0.0004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22222E-6 L 0.10104 -2.22222E-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-0.10139 -0.00047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69" y="-23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7.40741E-7 L -0.10174 7.40741E-7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22222E-6 L 0.10087 -3.7037E-6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39 -0.00047 L -0.20174 0.00023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7" y="23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74 7.40741E-7 L -0.20191 7.40741E-7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22222E-6 L 0.10104 -7.40741E-7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174 0.00023 L -0.3033 0.00023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23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191 -3.33333E-6 L -0.30295 -0.00023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33 0.00023 L -0.20191 -0.09907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-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2" grpId="0" animBg="1"/>
      <p:bldP spid="12" grpId="1" animBg="1"/>
      <p:bldP spid="12" grpId="2" animBg="1"/>
      <p:bldP spid="15" grpId="0" animBg="1"/>
      <p:bldP spid="16" grpId="0" animBg="1"/>
      <p:bldP spid="16" grpId="1" animBg="1"/>
      <p:bldP spid="16" grpId="2" animBg="1"/>
      <p:bldP spid="13" grpId="0" animBg="1"/>
      <p:bldP spid="13" grpId="1" animBg="1"/>
      <p:bldP spid="13" grpId="2" animBg="1"/>
      <p:bldP spid="28" grpId="0" animBg="1"/>
      <p:bldP spid="29" grpId="0" animBg="1"/>
      <p:bldP spid="29" grpId="1" animBg="1"/>
      <p:bldP spid="29" grpId="2" animBg="1"/>
      <p:bldP spid="29" grpId="3" animBg="1"/>
      <p:bldP spid="33" grpId="0" animBg="1"/>
      <p:bldP spid="27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2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51918" y="1195366"/>
            <a:ext cx="4060308" cy="49768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从键盘接收若干个一位十进制数值（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0~9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），并以十进制数据形式显示其和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2" name="文本占位符 3">
            <a:extLst>
              <a:ext uri="{FF2B5EF4-FFF2-40B4-BE49-F238E27FC236}">
                <a16:creationId xmlns:a16="http://schemas.microsoft.com/office/drawing/2014/main" id="{6190ADDB-A634-4F8B-89B5-8060C030B420}"/>
              </a:ext>
            </a:extLst>
          </p:cNvPr>
          <p:cNvSpPr txBox="1">
            <a:spLocks/>
          </p:cNvSpPr>
          <p:nvPr/>
        </p:nvSpPr>
        <p:spPr>
          <a:xfrm>
            <a:off x="7453666" y="3299151"/>
            <a:ext cx="1573424" cy="769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显示提示信息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输入单个字符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显示回车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F8EC543-CF53-41C7-B461-DF9A3CC0D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4" y="3402940"/>
            <a:ext cx="3752381" cy="2095238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DB648D6-2B02-F453-51AA-D009068564AD}"/>
              </a:ext>
            </a:extLst>
          </p:cNvPr>
          <p:cNvGrpSpPr/>
          <p:nvPr/>
        </p:nvGrpSpPr>
        <p:grpSpPr>
          <a:xfrm>
            <a:off x="4397180" y="633412"/>
            <a:ext cx="3645703" cy="6026937"/>
            <a:chOff x="2636296" y="1087952"/>
            <a:chExt cx="3645703" cy="6026937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2DC7EC45-53AC-B627-4862-07A330B03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68" y="1087952"/>
              <a:ext cx="1008063" cy="442674"/>
            </a:xfrm>
            <a:prstGeom prst="flowChartAlternateProcess">
              <a:avLst/>
            </a:prstGeom>
            <a:solidFill>
              <a:srgbClr val="FFFFFF"/>
            </a:solidFill>
            <a:ln w="28575" algn="ctr">
              <a:solidFill>
                <a:srgbClr val="2A2EFC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  始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F99CD3-CC55-D075-7009-AEB2350C2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1775533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初始化</a:t>
              </a:r>
              <a:r>
                <a:rPr lang="zh-CN" altLang="en-US" sz="2000" b="1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输入值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和</a:t>
              </a:r>
              <a:r>
                <a:rPr lang="zh-CN" altLang="en-US" sz="2000" b="1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</a:t>
              </a:r>
              <a:endParaRPr lang="en-US" altLang="zh-CN" sz="20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57FC67-7EED-70A3-671E-5829D04E4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4" y="5741535"/>
              <a:ext cx="1987550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显示提示信息和累加值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4C2B6565-F21E-1BCC-D2CB-5014BADA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999" y="4799154"/>
              <a:ext cx="3420000" cy="612000"/>
            </a:xfrm>
            <a:prstGeom prst="flowChartDecision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输入值≠回车？</a:t>
              </a: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2259EC69-D5B3-22F1-9AE7-28801C603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6672215"/>
              <a:ext cx="995363" cy="442674"/>
            </a:xfrm>
            <a:prstGeom prst="flowChartAlternateProcess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  束</a:t>
              </a: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897BDDA3-FCF7-E923-07E3-A21FEDEA9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296" y="4705044"/>
              <a:ext cx="3513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5FBF21CF-1F02-4844-DFCD-B60F273AF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5350061"/>
              <a:ext cx="4026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44BC2E6C-AEDE-0A35-C408-E82E06B00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2728326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输入值</a:t>
              </a:r>
              <a:r>
                <a:rPr lang="en-US" altLang="zh-CN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+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并 </a:t>
              </a:r>
              <a:r>
                <a:rPr lang="en-US" altLang="zh-CN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BCD 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调整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803812F-5F42-89C8-35F4-24BFD03EA9AB}"/>
                </a:ext>
              </a:extLst>
            </p:cNvPr>
            <p:cNvCxnSpPr>
              <a:stCxn id="5" idx="2"/>
              <a:endCxn id="6" idx="0"/>
            </p:cNvCxnSpPr>
            <p:nvPr/>
          </p:nvCxnSpPr>
          <p:spPr bwMode="auto">
            <a:xfrm>
              <a:off x="4572000" y="1530626"/>
              <a:ext cx="0" cy="244907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5DCEB48-59E3-E2EA-53EB-B9E226622CE0}"/>
                </a:ext>
              </a:extLst>
            </p:cNvPr>
            <p:cNvCxnSpPr>
              <a:stCxn id="6" idx="2"/>
              <a:endCxn id="15" idx="0"/>
            </p:cNvCxnSpPr>
            <p:nvPr/>
          </p:nvCxnSpPr>
          <p:spPr bwMode="auto">
            <a:xfrm>
              <a:off x="4572000" y="2483419"/>
              <a:ext cx="0" cy="244907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F927E2D-A646-CAB9-7F9C-EBEA138A5511}"/>
                </a:ext>
              </a:extLst>
            </p:cNvPr>
            <p:cNvCxnSpPr>
              <a:cxnSpLocks/>
              <a:stCxn id="15" idx="2"/>
              <a:endCxn id="22" idx="0"/>
            </p:cNvCxnSpPr>
            <p:nvPr/>
          </p:nvCxnSpPr>
          <p:spPr bwMode="auto">
            <a:xfrm>
              <a:off x="4572000" y="3436212"/>
              <a:ext cx="0" cy="32467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9C91E45-840F-BABD-79EC-2BF56D80D2EF}"/>
                </a:ext>
              </a:extLst>
            </p:cNvPr>
            <p:cNvCxnSpPr>
              <a:stCxn id="9" idx="2"/>
              <a:endCxn id="7" idx="0"/>
            </p:cNvCxnSpPr>
            <p:nvPr/>
          </p:nvCxnSpPr>
          <p:spPr bwMode="auto">
            <a:xfrm>
              <a:off x="4571999" y="5411154"/>
              <a:ext cx="0" cy="330381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22BD3B0-FD0F-7066-866F-87F399817568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 bwMode="auto">
            <a:xfrm>
              <a:off x="4571999" y="6449421"/>
              <a:ext cx="1" cy="222794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1" name="连接符: 肘形 20">
              <a:extLst>
                <a:ext uri="{FF2B5EF4-FFF2-40B4-BE49-F238E27FC236}">
                  <a16:creationId xmlns:a16="http://schemas.microsoft.com/office/drawing/2014/main" id="{39036359-5B84-EC0A-6AA2-BFCAF482EC6E}"/>
                </a:ext>
              </a:extLst>
            </p:cNvPr>
            <p:cNvCxnSpPr>
              <a:cxnSpLocks/>
              <a:stCxn id="9" idx="1"/>
              <a:endCxn id="15" idx="0"/>
            </p:cNvCxnSpPr>
            <p:nvPr/>
          </p:nvCxnSpPr>
          <p:spPr bwMode="auto">
            <a:xfrm rot="10800000" flipH="1">
              <a:off x="2861998" y="2728326"/>
              <a:ext cx="1710001" cy="2376828"/>
            </a:xfrm>
            <a:prstGeom prst="bentConnector4">
              <a:avLst>
                <a:gd name="adj1" fmla="val -13368"/>
                <a:gd name="adj2" fmla="val 105588"/>
              </a:avLst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C23B6876-E129-7C84-EA10-7C3CDF54B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3760887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调用子程序获取输入值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E3EBD1D1-8724-FFBD-686B-7AC443DEFB77}"/>
                </a:ext>
              </a:extLst>
            </p:cNvPr>
            <p:cNvCxnSpPr>
              <a:cxnSpLocks/>
              <a:stCxn id="22" idx="2"/>
              <a:endCxn id="9" idx="0"/>
            </p:cNvCxnSpPr>
            <p:nvPr/>
          </p:nvCxnSpPr>
          <p:spPr bwMode="auto">
            <a:xfrm flipH="1">
              <a:off x="4571999" y="4468773"/>
              <a:ext cx="1" cy="330381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4180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2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51584" y="1195366"/>
            <a:ext cx="4098739" cy="51771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从键盘接收若干个一位十进制数值（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0~9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），并以十进制数据形式显示其和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要求：</a:t>
            </a:r>
            <a:r>
              <a:rPr lang="zh-CN" altLang="en-US" b="1" dirty="0">
                <a:solidFill>
                  <a:srgbClr val="7BA654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用子程序获取输入值</a:t>
            </a:r>
            <a:endParaRPr lang="en-US" altLang="zh-CN" b="1" dirty="0">
              <a:solidFill>
                <a:srgbClr val="7BA654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主要指令：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DAA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AAA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DIV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提示：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142966" lvl="1" indent="-4572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若用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AAA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指令，需要注意累加前将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AH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的值清零；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142966" lvl="1" indent="-4572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若用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DAA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指令，需要将累加和拆分成两个半字节；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142966" lvl="1" indent="-4572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若用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指令，注意除法和堆栈的使用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58B9579-913B-4D09-AB81-885FB3CF5975}"/>
              </a:ext>
            </a:extLst>
          </p:cNvPr>
          <p:cNvGrpSpPr/>
          <p:nvPr/>
        </p:nvGrpSpPr>
        <p:grpSpPr>
          <a:xfrm>
            <a:off x="4397180" y="633412"/>
            <a:ext cx="3645703" cy="6026937"/>
            <a:chOff x="2636296" y="1087952"/>
            <a:chExt cx="3645703" cy="6026937"/>
          </a:xfrm>
        </p:grpSpPr>
        <p:sp>
          <p:nvSpPr>
            <p:cNvPr id="35" name="AutoShape 4">
              <a:extLst>
                <a:ext uri="{FF2B5EF4-FFF2-40B4-BE49-F238E27FC236}">
                  <a16:creationId xmlns:a16="http://schemas.microsoft.com/office/drawing/2014/main" id="{EE91821B-52AA-4FDA-BFE3-DB28ECDC7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68" y="1087952"/>
              <a:ext cx="1008063" cy="442674"/>
            </a:xfrm>
            <a:prstGeom prst="flowChartAlternateProcess">
              <a:avLst/>
            </a:prstGeom>
            <a:solidFill>
              <a:srgbClr val="FFFFFF"/>
            </a:solidFill>
            <a:ln w="28575" algn="ctr">
              <a:solidFill>
                <a:srgbClr val="2A2EFC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  始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220BEA67-0EB8-48F8-879C-64B2FFA1F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1775533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初始化</a:t>
              </a:r>
              <a:r>
                <a:rPr lang="zh-CN" altLang="en-US" sz="2000" b="1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输入值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和</a:t>
              </a:r>
              <a:r>
                <a:rPr lang="zh-CN" altLang="en-US" sz="2000" b="1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</a:t>
              </a:r>
              <a:endParaRPr lang="en-US" altLang="zh-CN" sz="20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B3E90361-79E6-4A4B-BADE-3716EA633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224" y="5741535"/>
              <a:ext cx="1987550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显示提示信息和累加值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39" name="AutoShape 7">
              <a:extLst>
                <a:ext uri="{FF2B5EF4-FFF2-40B4-BE49-F238E27FC236}">
                  <a16:creationId xmlns:a16="http://schemas.microsoft.com/office/drawing/2014/main" id="{4DD5C1F5-32B5-484E-B219-F5C17DED7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999" y="4799154"/>
              <a:ext cx="3420000" cy="612000"/>
            </a:xfrm>
            <a:prstGeom prst="flowChartDecision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输入值≠回车？</a:t>
              </a:r>
            </a:p>
          </p:txBody>
        </p:sp>
        <p:sp>
          <p:nvSpPr>
            <p:cNvPr id="40" name="AutoShape 8">
              <a:extLst>
                <a:ext uri="{FF2B5EF4-FFF2-40B4-BE49-F238E27FC236}">
                  <a16:creationId xmlns:a16="http://schemas.microsoft.com/office/drawing/2014/main" id="{A5833BEA-F751-4F07-9D6C-D5EDC6ECF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6672215"/>
              <a:ext cx="995363" cy="442674"/>
            </a:xfrm>
            <a:prstGeom prst="flowChartAlternateProcess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  束</a:t>
              </a:r>
            </a:p>
          </p:txBody>
        </p:sp>
        <p:sp>
          <p:nvSpPr>
            <p:cNvPr id="42" name="Rectangle 14">
              <a:extLst>
                <a:ext uri="{FF2B5EF4-FFF2-40B4-BE49-F238E27FC236}">
                  <a16:creationId xmlns:a16="http://schemas.microsoft.com/office/drawing/2014/main" id="{5F6CF169-0C92-4691-A35A-B51484F1A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296" y="4705044"/>
              <a:ext cx="3513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71FB8918-000B-4DD6-9AF5-FA276922A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318" y="5350061"/>
              <a:ext cx="4026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DBBFB129-6B85-45AB-A4B6-6A24EB59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2728326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输入值</a:t>
              </a:r>
              <a:r>
                <a:rPr lang="en-US" altLang="zh-CN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+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并 </a:t>
              </a:r>
              <a:r>
                <a:rPr lang="en-US" altLang="zh-CN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BCD 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调整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C444ED38-BBA6-4600-B169-D18B63541C5D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 bwMode="auto">
            <a:xfrm>
              <a:off x="4572000" y="1530626"/>
              <a:ext cx="0" cy="244907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D09961F-3272-4133-A394-9B22C9F7EA0D}"/>
                </a:ext>
              </a:extLst>
            </p:cNvPr>
            <p:cNvCxnSpPr>
              <a:stCxn id="36" idx="2"/>
              <a:endCxn id="44" idx="0"/>
            </p:cNvCxnSpPr>
            <p:nvPr/>
          </p:nvCxnSpPr>
          <p:spPr bwMode="auto">
            <a:xfrm>
              <a:off x="4572000" y="2483419"/>
              <a:ext cx="0" cy="244907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A67C11C-F17D-44D7-BFEA-97CC28A8E070}"/>
                </a:ext>
              </a:extLst>
            </p:cNvPr>
            <p:cNvCxnSpPr>
              <a:cxnSpLocks/>
              <a:stCxn id="44" idx="2"/>
              <a:endCxn id="53" idx="0"/>
            </p:cNvCxnSpPr>
            <p:nvPr/>
          </p:nvCxnSpPr>
          <p:spPr bwMode="auto">
            <a:xfrm>
              <a:off x="4572000" y="3436212"/>
              <a:ext cx="0" cy="32467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9BED561-0FB2-45BF-BD4E-4C53E2D9F119}"/>
                </a:ext>
              </a:extLst>
            </p:cNvPr>
            <p:cNvCxnSpPr>
              <a:stCxn id="39" idx="2"/>
              <a:endCxn id="38" idx="0"/>
            </p:cNvCxnSpPr>
            <p:nvPr/>
          </p:nvCxnSpPr>
          <p:spPr bwMode="auto">
            <a:xfrm>
              <a:off x="4571999" y="5411154"/>
              <a:ext cx="0" cy="330381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B391BC4-D4E1-4188-BF43-9B7D12958384}"/>
                </a:ext>
              </a:extLst>
            </p:cNvPr>
            <p:cNvCxnSpPr>
              <a:cxnSpLocks/>
              <a:stCxn id="38" idx="2"/>
              <a:endCxn id="40" idx="0"/>
            </p:cNvCxnSpPr>
            <p:nvPr/>
          </p:nvCxnSpPr>
          <p:spPr bwMode="auto">
            <a:xfrm>
              <a:off x="4571999" y="6449421"/>
              <a:ext cx="1" cy="222794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7C0DB9E3-279F-454D-A080-12A8683909EF}"/>
                </a:ext>
              </a:extLst>
            </p:cNvPr>
            <p:cNvCxnSpPr>
              <a:cxnSpLocks/>
              <a:stCxn id="39" idx="1"/>
              <a:endCxn id="44" idx="0"/>
            </p:cNvCxnSpPr>
            <p:nvPr/>
          </p:nvCxnSpPr>
          <p:spPr bwMode="auto">
            <a:xfrm rot="10800000" flipH="1">
              <a:off x="2861998" y="2728326"/>
              <a:ext cx="1710001" cy="2376828"/>
            </a:xfrm>
            <a:prstGeom prst="bentConnector4">
              <a:avLst>
                <a:gd name="adj1" fmla="val -13368"/>
                <a:gd name="adj2" fmla="val 105588"/>
              </a:avLst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2699B2FA-0C28-4494-92F6-5348B0D36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168" y="3760887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7BA654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调用子程序</a:t>
              </a: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获取输入值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EA573BC3-7FF9-459A-94B2-EAEB33A0AD39}"/>
                </a:ext>
              </a:extLst>
            </p:cNvPr>
            <p:cNvCxnSpPr>
              <a:cxnSpLocks/>
              <a:stCxn id="53" idx="2"/>
              <a:endCxn id="39" idx="0"/>
            </p:cNvCxnSpPr>
            <p:nvPr/>
          </p:nvCxnSpPr>
          <p:spPr bwMode="auto">
            <a:xfrm flipH="1">
              <a:off x="4571999" y="4468773"/>
              <a:ext cx="1" cy="330381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72" name="文本占位符 3">
            <a:extLst>
              <a:ext uri="{FF2B5EF4-FFF2-40B4-BE49-F238E27FC236}">
                <a16:creationId xmlns:a16="http://schemas.microsoft.com/office/drawing/2014/main" id="{6190ADDB-A634-4F8B-89B5-8060C030B420}"/>
              </a:ext>
            </a:extLst>
          </p:cNvPr>
          <p:cNvSpPr txBox="1">
            <a:spLocks/>
          </p:cNvSpPr>
          <p:nvPr/>
        </p:nvSpPr>
        <p:spPr>
          <a:xfrm>
            <a:off x="7453666" y="3299151"/>
            <a:ext cx="1573424" cy="769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显示提示信息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输入单个字符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显示回车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88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3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251501" y="1195366"/>
            <a:ext cx="2787003" cy="49768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从键盘接收若干个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位的十进制数值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(0~65535)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，并以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二进制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十进制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十六进制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三种数制形式显示其和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8B43885-FA44-4968-88BC-DCDB3EFF0F0F}"/>
              </a:ext>
            </a:extLst>
          </p:cNvPr>
          <p:cNvGrpSpPr/>
          <p:nvPr/>
        </p:nvGrpSpPr>
        <p:grpSpPr>
          <a:xfrm>
            <a:off x="3216125" y="110524"/>
            <a:ext cx="3614304" cy="6623650"/>
            <a:chOff x="4238463" y="177567"/>
            <a:chExt cx="3614304" cy="6623650"/>
          </a:xfrm>
        </p:grpSpPr>
        <p:sp>
          <p:nvSpPr>
            <p:cNvPr id="35" name="AutoShape 4">
              <a:extLst>
                <a:ext uri="{FF2B5EF4-FFF2-40B4-BE49-F238E27FC236}">
                  <a16:creationId xmlns:a16="http://schemas.microsoft.com/office/drawing/2014/main" id="{EE91821B-52AA-4FDA-BFE3-DB28ECDC7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736" y="177567"/>
              <a:ext cx="1008063" cy="442674"/>
            </a:xfrm>
            <a:prstGeom prst="flowChartAlternateProcess">
              <a:avLst/>
            </a:prstGeom>
            <a:solidFill>
              <a:srgbClr val="FFFFFF"/>
            </a:solidFill>
            <a:ln w="28575" algn="ctr">
              <a:solidFill>
                <a:srgbClr val="2A2EFC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  始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220BEA67-0EB8-48F8-879C-64B2FFA1F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936" y="922474"/>
              <a:ext cx="1871663" cy="400110"/>
            </a:xfrm>
            <a:prstGeom prst="rect">
              <a:avLst/>
            </a:prstGeom>
            <a:solidFill>
              <a:schemeClr val="tx1"/>
            </a:solidFill>
            <a:ln w="28575" algn="ctr">
              <a:solidFill>
                <a:srgbClr val="2A2EFC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初始化</a:t>
              </a:r>
              <a:r>
                <a:rPr lang="zh-CN" altLang="en-US" sz="2000" b="1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</a:t>
              </a:r>
              <a:endParaRPr lang="en-US" altLang="zh-CN" sz="20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B3E90361-79E6-4A4B-BADE-3716EA633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497" y="4251512"/>
              <a:ext cx="2564542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以二进制显示累加值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39" name="AutoShape 7">
              <a:extLst>
                <a:ext uri="{FF2B5EF4-FFF2-40B4-BE49-F238E27FC236}">
                  <a16:creationId xmlns:a16="http://schemas.microsoft.com/office/drawing/2014/main" id="{4DD5C1F5-32B5-484E-B219-F5C17DED7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767" y="3337279"/>
              <a:ext cx="3420000" cy="612000"/>
            </a:xfrm>
            <a:prstGeom prst="flowChartDecision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输入值≠回车？</a:t>
              </a:r>
            </a:p>
          </p:txBody>
        </p:sp>
        <p:sp>
          <p:nvSpPr>
            <p:cNvPr id="40" name="AutoShape 8">
              <a:extLst>
                <a:ext uri="{FF2B5EF4-FFF2-40B4-BE49-F238E27FC236}">
                  <a16:creationId xmlns:a16="http://schemas.microsoft.com/office/drawing/2014/main" id="{A5833BEA-F751-4F07-9D6C-D5EDC6ECF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5086" y="6358543"/>
              <a:ext cx="995363" cy="442674"/>
            </a:xfrm>
            <a:prstGeom prst="flowChartAlternateProcess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  束</a:t>
              </a:r>
            </a:p>
          </p:txBody>
        </p:sp>
        <p:sp>
          <p:nvSpPr>
            <p:cNvPr id="42" name="Rectangle 14">
              <a:extLst>
                <a:ext uri="{FF2B5EF4-FFF2-40B4-BE49-F238E27FC236}">
                  <a16:creationId xmlns:a16="http://schemas.microsoft.com/office/drawing/2014/main" id="{5F6CF169-0C92-4691-A35A-B51484F1A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463" y="3228945"/>
              <a:ext cx="3513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</p:txBody>
        </p:sp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71FB8918-000B-4DD6-9AF5-FA276922A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092" y="3873058"/>
              <a:ext cx="4026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chemeClr val="folHlink"/>
                </a:buClr>
                <a:buFont typeface="Wingdings" panose="05000000000000000000" pitchFamily="2" charset="2"/>
                <a:buChar char="Ø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993300"/>
                </a:buClr>
                <a:buFont typeface="Wingdings" panose="05000000000000000000" pitchFamily="2" charset="2"/>
                <a:buChar char="ü"/>
                <a:defRPr sz="2400" b="1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333300"/>
                </a:buClr>
                <a:buSzPct val="80000"/>
                <a:buFont typeface="Wingdings" panose="05000000000000000000" pitchFamily="2" charset="2"/>
                <a:buChar char="n"/>
                <a:defRPr sz="2200" b="1">
                  <a:solidFill>
                    <a:srgbClr val="6600CC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DBBFB129-6B85-45AB-A4B6-6A24EB59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936" y="1624817"/>
              <a:ext cx="1871663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累加值输入值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C444ED38-BBA6-4600-B169-D18B63541C5D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 bwMode="auto">
            <a:xfrm>
              <a:off x="6142768" y="620241"/>
              <a:ext cx="0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D09961F-3272-4133-A394-9B22C9F7EA0D}"/>
                </a:ext>
              </a:extLst>
            </p:cNvPr>
            <p:cNvCxnSpPr>
              <a:stCxn id="36" idx="2"/>
              <a:endCxn id="44" idx="0"/>
            </p:cNvCxnSpPr>
            <p:nvPr/>
          </p:nvCxnSpPr>
          <p:spPr bwMode="auto">
            <a:xfrm>
              <a:off x="6142768" y="1322584"/>
              <a:ext cx="0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A67C11C-F17D-44D7-BFEA-97CC28A8E070}"/>
                </a:ext>
              </a:extLst>
            </p:cNvPr>
            <p:cNvCxnSpPr>
              <a:cxnSpLocks/>
              <a:stCxn id="44" idx="2"/>
              <a:endCxn id="53" idx="0"/>
            </p:cNvCxnSpPr>
            <p:nvPr/>
          </p:nvCxnSpPr>
          <p:spPr bwMode="auto">
            <a:xfrm>
              <a:off x="6142768" y="2024927"/>
              <a:ext cx="0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9BED561-0FB2-45BF-BD4E-4C53E2D9F119}"/>
                </a:ext>
              </a:extLst>
            </p:cNvPr>
            <p:cNvCxnSpPr>
              <a:stCxn id="39" idx="2"/>
              <a:endCxn id="38" idx="0"/>
            </p:cNvCxnSpPr>
            <p:nvPr/>
          </p:nvCxnSpPr>
          <p:spPr bwMode="auto">
            <a:xfrm>
              <a:off x="6142767" y="3949279"/>
              <a:ext cx="1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B391BC4-D4E1-4188-BF43-9B7D12958384}"/>
                </a:ext>
              </a:extLst>
            </p:cNvPr>
            <p:cNvCxnSpPr>
              <a:cxnSpLocks/>
              <a:stCxn id="38" idx="2"/>
              <a:endCxn id="51" idx="0"/>
            </p:cNvCxnSpPr>
            <p:nvPr/>
          </p:nvCxnSpPr>
          <p:spPr bwMode="auto">
            <a:xfrm>
              <a:off x="6142768" y="4651622"/>
              <a:ext cx="0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7C0DB9E3-279F-454D-A080-12A8683909EF}"/>
                </a:ext>
              </a:extLst>
            </p:cNvPr>
            <p:cNvCxnSpPr>
              <a:cxnSpLocks/>
              <a:stCxn id="39" idx="1"/>
              <a:endCxn id="44" idx="0"/>
            </p:cNvCxnSpPr>
            <p:nvPr/>
          </p:nvCxnSpPr>
          <p:spPr bwMode="auto">
            <a:xfrm rot="10800000" flipH="1">
              <a:off x="4432766" y="1624817"/>
              <a:ext cx="1710001" cy="2018462"/>
            </a:xfrm>
            <a:prstGeom prst="bentConnector4">
              <a:avLst>
                <a:gd name="adj1" fmla="val -13368"/>
                <a:gd name="adj2" fmla="val 111325"/>
              </a:avLst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2699B2FA-0C28-4494-92F6-5348B0D36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936" y="2327160"/>
              <a:ext cx="1871663" cy="707886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调用子程序获取输入值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EA573BC3-7FF9-459A-94B2-EAEB33A0AD39}"/>
                </a:ext>
              </a:extLst>
            </p:cNvPr>
            <p:cNvCxnSpPr>
              <a:cxnSpLocks/>
              <a:stCxn id="53" idx="2"/>
              <a:endCxn id="39" idx="0"/>
            </p:cNvCxnSpPr>
            <p:nvPr/>
          </p:nvCxnSpPr>
          <p:spPr bwMode="auto">
            <a:xfrm flipH="1">
              <a:off x="6142767" y="3035046"/>
              <a:ext cx="1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51" name="Rectangle 6">
              <a:extLst>
                <a:ext uri="{FF2B5EF4-FFF2-40B4-BE49-F238E27FC236}">
                  <a16:creationId xmlns:a16="http://schemas.microsoft.com/office/drawing/2014/main" id="{718D6756-5222-46F8-923B-A23165735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497" y="4953855"/>
              <a:ext cx="2564542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以十进制显示累加值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52" name="Rectangle 6">
              <a:extLst>
                <a:ext uri="{FF2B5EF4-FFF2-40B4-BE49-F238E27FC236}">
                  <a16:creationId xmlns:a16="http://schemas.microsoft.com/office/drawing/2014/main" id="{0DDC6E68-8652-42D4-90AC-5C8DD8983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247" y="5656198"/>
              <a:ext cx="2853039" cy="400110"/>
            </a:xfrm>
            <a:prstGeom prst="rect">
              <a:avLst/>
            </a:prstGeom>
            <a:noFill/>
            <a:ln w="28575" algn="ctr">
              <a:solidFill>
                <a:srgbClr val="2A2EF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Consolas" panose="020B0609020204030204" pitchFamily="49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以十六进制显示累加值</a:t>
              </a:r>
              <a:endPara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7481315-813E-4517-9257-E49C14B36169}"/>
                </a:ext>
              </a:extLst>
            </p:cNvPr>
            <p:cNvCxnSpPr>
              <a:cxnSpLocks/>
              <a:stCxn id="51" idx="2"/>
              <a:endCxn id="52" idx="0"/>
            </p:cNvCxnSpPr>
            <p:nvPr/>
          </p:nvCxnSpPr>
          <p:spPr bwMode="auto">
            <a:xfrm flipH="1">
              <a:off x="6142767" y="5353965"/>
              <a:ext cx="1" cy="302233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E5A416E-1B6E-460D-9674-F1417F3A54CE}"/>
                </a:ext>
              </a:extLst>
            </p:cNvPr>
            <p:cNvCxnSpPr>
              <a:cxnSpLocks/>
              <a:stCxn id="52" idx="2"/>
              <a:endCxn id="40" idx="0"/>
            </p:cNvCxnSpPr>
            <p:nvPr/>
          </p:nvCxnSpPr>
          <p:spPr bwMode="auto">
            <a:xfrm>
              <a:off x="6142767" y="6056308"/>
              <a:ext cx="1" cy="302235"/>
            </a:xfrm>
            <a:prstGeom prst="straightConnector1">
              <a:avLst/>
            </a:prstGeom>
            <a:noFill/>
            <a:ln w="28575" algn="ctr">
              <a:solidFill>
                <a:srgbClr val="2A2EFC"/>
              </a:solidFill>
              <a:miter lim="800000"/>
              <a:headEnd type="none" w="med" len="med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60" name="文本占位符 3">
            <a:extLst>
              <a:ext uri="{FF2B5EF4-FFF2-40B4-BE49-F238E27FC236}">
                <a16:creationId xmlns:a16="http://schemas.microsoft.com/office/drawing/2014/main" id="{2B73C336-C57C-40AC-B66F-E33CD0F0DD51}"/>
              </a:ext>
            </a:extLst>
          </p:cNvPr>
          <p:cNvSpPr txBox="1">
            <a:spLocks/>
          </p:cNvSpPr>
          <p:nvPr/>
        </p:nvSpPr>
        <p:spPr>
          <a:xfrm>
            <a:off x="6893254" y="2354607"/>
            <a:ext cx="1984583" cy="518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子程序示例 </a:t>
            </a:r>
            <a:r>
              <a:rPr lang="en-US" altLang="zh-CN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3</a:t>
            </a: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输入多位十进制数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1" name="文本占位符 3">
            <a:extLst>
              <a:ext uri="{FF2B5EF4-FFF2-40B4-BE49-F238E27FC236}">
                <a16:creationId xmlns:a16="http://schemas.microsoft.com/office/drawing/2014/main" id="{143B756A-14D9-4472-845E-9252583007A1}"/>
              </a:ext>
            </a:extLst>
          </p:cNvPr>
          <p:cNvSpPr txBox="1">
            <a:spLocks/>
          </p:cNvSpPr>
          <p:nvPr/>
        </p:nvSpPr>
        <p:spPr>
          <a:xfrm>
            <a:off x="6893254" y="4125071"/>
            <a:ext cx="1984583" cy="518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子程序示例 </a:t>
            </a:r>
            <a:r>
              <a:rPr lang="en-US" altLang="zh-CN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显示二进制数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3" name="文本占位符 3">
            <a:extLst>
              <a:ext uri="{FF2B5EF4-FFF2-40B4-BE49-F238E27FC236}">
                <a16:creationId xmlns:a16="http://schemas.microsoft.com/office/drawing/2014/main" id="{E749BD9E-79F9-4184-9A07-994DD082B1D8}"/>
              </a:ext>
            </a:extLst>
          </p:cNvPr>
          <p:cNvSpPr txBox="1">
            <a:spLocks/>
          </p:cNvSpPr>
          <p:nvPr/>
        </p:nvSpPr>
        <p:spPr>
          <a:xfrm>
            <a:off x="6893254" y="4827414"/>
            <a:ext cx="1984583" cy="518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子程序示例 </a:t>
            </a:r>
            <a:r>
              <a:rPr lang="en-US" altLang="zh-CN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显示十进制数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4" name="文本占位符 3">
            <a:extLst>
              <a:ext uri="{FF2B5EF4-FFF2-40B4-BE49-F238E27FC236}">
                <a16:creationId xmlns:a16="http://schemas.microsoft.com/office/drawing/2014/main" id="{19267D74-599D-43A9-907B-4C36ACD9B4B9}"/>
              </a:ext>
            </a:extLst>
          </p:cNvPr>
          <p:cNvSpPr txBox="1">
            <a:spLocks/>
          </p:cNvSpPr>
          <p:nvPr/>
        </p:nvSpPr>
        <p:spPr>
          <a:xfrm>
            <a:off x="6893254" y="5529757"/>
            <a:ext cx="1984583" cy="518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子程序示例 </a:t>
            </a:r>
            <a:r>
              <a:rPr lang="en-US" altLang="zh-CN" sz="1600" b="1" dirty="0"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</a:p>
          <a:p>
            <a:pPr marL="141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显示十六进制数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294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3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251501" y="1195366"/>
            <a:ext cx="2787003" cy="49768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从键盘接收若干个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位的十进制数值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(0~65535)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，并以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二进制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十进制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十六进制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三种数制形式显示其和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5332F7-EEF7-4D14-B562-DAAC4EE04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18" y="1195366"/>
            <a:ext cx="4438095" cy="4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336505"/>
            <a:ext cx="3677533" cy="610863"/>
          </a:xfrm>
        </p:spPr>
        <p:txBody>
          <a:bodyPr rtlCol="0"/>
          <a:lstStyle/>
          <a:p>
            <a:pPr rtl="0"/>
            <a:r>
              <a:rPr lang="en-US" altLang="zh-CN" dirty="0"/>
              <a:t>Q&amp;A</a:t>
            </a:r>
            <a:endParaRPr lang="zh-CN" altLang="en-US" dirty="0"/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5A0EA0D3-1502-4624-B339-9BB7DC218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27091"/>
              </p:ext>
            </p:extLst>
          </p:nvPr>
        </p:nvGraphicFramePr>
        <p:xfrm>
          <a:off x="4474441" y="364876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3E0A6D0-A87B-444E-933E-864A04504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1" t="14722" r="19725" b="39167"/>
          <a:stretch/>
        </p:blipFill>
        <p:spPr bwMode="auto">
          <a:xfrm>
            <a:off x="376237" y="2181917"/>
            <a:ext cx="3210804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7028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 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8575" algn="ctr">
          <a:solidFill>
            <a:srgbClr val="2A2EFC"/>
          </a:solidFill>
          <a:miter lim="800000"/>
          <a:headEnd type="none" w="med" len="med"/>
          <a:tailEnd type="triangle" w="med" len="med"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_49129312_TF78853419_Win32.potx" id="{FEA4CB16-C2D0-46F5-9641-B9A026203A1A}" vid="{5C498265-2782-41B8-A880-232BDCBBAE6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71af3243-3dd4-4a8d-8c0d-dd76da1f02a5"/>
    <ds:schemaRef ds:uri="http://schemas.microsoft.com/office/infopath/2007/PartnerControls"/>
    <ds:schemaRef ds:uri="http://www.w3.org/XML/1998/namespace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几何图形年度演示文稿</Template>
  <TotalTime>8240</TotalTime>
  <Words>541</Words>
  <Application>Microsoft Office PowerPoint</Application>
  <PresentationFormat>全屏显示(4:3)</PresentationFormat>
  <Paragraphs>124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Microsoft YaHei UI</vt:lpstr>
      <vt:lpstr>微软雅黑</vt:lpstr>
      <vt:lpstr>Arial</vt:lpstr>
      <vt:lpstr>Consolas</vt:lpstr>
      <vt:lpstr>Courier New</vt:lpstr>
      <vt:lpstr>Wingdings</vt:lpstr>
      <vt:lpstr>主题 1</vt:lpstr>
      <vt:lpstr>汇编语言与接口技术</vt:lpstr>
      <vt:lpstr>实验目的</vt:lpstr>
      <vt:lpstr>实验内容1</vt:lpstr>
      <vt:lpstr>实验内容2</vt:lpstr>
      <vt:lpstr>实验内容2</vt:lpstr>
      <vt:lpstr>实验内容3</vt:lpstr>
      <vt:lpstr>实验内容3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年度审核</dc:title>
  <dc:creator>Shu Gavin</dc:creator>
  <cp:lastModifiedBy>Administrator</cp:lastModifiedBy>
  <cp:revision>650</cp:revision>
  <dcterms:created xsi:type="dcterms:W3CDTF">2021-08-26T12:49:00Z</dcterms:created>
  <dcterms:modified xsi:type="dcterms:W3CDTF">2024-11-20T23:59:42Z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